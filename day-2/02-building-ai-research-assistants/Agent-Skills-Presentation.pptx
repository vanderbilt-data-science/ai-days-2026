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59" r:id="rId5"/>
    <p:sldId id="260" r:id="rId6"/>
    <p:sldId id="287" r:id="rId7"/>
    <p:sldId id="261" r:id="rId8"/>
    <p:sldId id="262" r:id="rId9"/>
    <p:sldId id="263" r:id="rId10"/>
    <p:sldId id="264" r:id="rId11"/>
    <p:sldId id="285" r:id="rId12"/>
    <p:sldId id="265" r:id="rId13"/>
    <p:sldId id="266" r:id="rId14"/>
    <p:sldId id="267" r:id="rId15"/>
    <p:sldId id="268" r:id="rId16"/>
    <p:sldId id="269" r:id="rId17"/>
    <p:sldId id="270" r:id="rId18"/>
    <p:sldId id="271" r:id="rId19"/>
    <p:sldId id="284" r:id="rId20"/>
    <p:sldId id="288" r:id="rId21"/>
    <p:sldId id="286" r:id="rId22"/>
    <p:sldId id="272" r:id="rId23"/>
    <p:sldId id="273" r:id="rId24"/>
    <p:sldId id="274" r:id="rId25"/>
    <p:sldId id="275" r:id="rId26"/>
    <p:sldId id="276" r:id="rId27"/>
    <p:sldId id="277" r:id="rId28"/>
    <p:sldId id="280" r:id="rId29"/>
    <p:sldId id="278" r:id="rId30"/>
    <p:sldId id="281" r:id="rId31"/>
    <p:sldId id="279" r:id="rId32"/>
    <p:sldId id="282" r:id="rId33"/>
    <p:sldId id="283"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15"/>
    <p:restoredTop sz="67682"/>
  </p:normalViewPr>
  <p:slideViewPr>
    <p:cSldViewPr snapToGrid="0" snapToObjects="1">
      <p:cViewPr>
        <p:scale>
          <a:sx n="101" d="100"/>
          <a:sy n="101" d="100"/>
        </p:scale>
        <p:origin x="3088" y="648"/>
      </p:cViewPr>
      <p:guideLst/>
    </p:cSldViewPr>
  </p:slid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865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our hands-on session on building AI research assistants with Agent Skills. Over the next 75 minutes, we'll move beyond simply using ChatGPT and learn how to build domain-specific AI tools that can transform your research productivity. By the end of this session, you'll have built your own Agent Skill tailored to your research domain — whether that's a literature review assistant, a methodology advisor, or a data analysis helper. This is where the real productivity gains happen.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today. We start by understanding the productivity gap between using general AI tools and building domain-specific ones. Then we deep-dive into Agent Skills — what they are, how to create them, and how they work. We'll look at a real-world research skill example, then learn about MCP for connecting to external tools. The bulk of our time — 25 minutes — is the hands-on workshop where you'll build your own skill. Let's dive in.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put today's session in context by showing how AI customization has evolved. Stage 1 was using ChatGPT out of the box — easy to start, but generic. You get broad knowledge but no memory, no consistency, and you start from zero every conversation. Stage 2 was prompt engineering — crafting careful prompts to get better outputs. This helps, but you're copy-pasting the same instructions every session, and prompts are fragile. Stage 3 was Custom GPTs — OpenAI let you create persistent assistants with custom instructions. This was a real step forward: shareable, persistent. But Custom GPTs have significant limitations — they can't access your file system, can't run arbitrary tools, live inside OpenAI's walled garden, and you can't version-control them.</a:t>
            </a:r>
          </a:p>
          <a:p>
            <a:endParaRPr lang="en-US" dirty="0"/>
          </a:p>
          <a:p>
            <a:r>
              <a:rPr lang="en-US" dirty="0"/>
              <a:t>Stage 4 — and where we're going today — is Agent Skills on Claude Code. Skills are plain Markdown files - simple but specifically formatted text files that live in your file system. They follow an open standard established initially by anthropic but now an industry standard. They can be version-controlled with git. They can use any tool Claude has access to. And they can work with MCP to connect to external services. This is the real leap: from using AI to building with AI.</a:t>
            </a:r>
          </a:p>
          <a:p>
            <a:endParaRPr lang="en-US" dirty="0"/>
          </a:p>
          <a:p>
            <a:r>
              <a:rPr lang="en-US" dirty="0"/>
              <a:t>Quick audience check: "How many of you have a Google Doc or text file of prompts you copy-paste into ChatGPT?" That's Stage 2 — and it's exactly the problem skills solve.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look at why this is important - there is a gap when it comes to productivity when using AI right out of the box vs. using skills. When you use ChatGPT or Claude directly, you start from scratch every time. You re-explain your domain, your methodology, your standards. You get generic responses. But when you build an Agent Skill, you encode that domain knowledge once. The model will then have access to your field's taxonomy, your preferred methods and your quality standards. It becomes a true research partner, not just a general assistant. This is where the real productivity gains are — and that's exactly what we're building today.</a:t>
            </a:r>
          </a:p>
          <a:p>
            <a:endParaRPr lang="en-US" dirty="0"/>
          </a:p>
          <a:p>
            <a:r>
              <a:rPr lang="en-US" dirty="0"/>
              <a:t>Think of it as the difference between hiring a new research assistant every day versus working with a seasoned colleague who already knows your methods. So skills let you teach Claude once and benefit every time.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Skills are simply Markdown files with instructions that teach Claude new capabilities. They follow an open standard called Agent Skills, which means they work across multiple AI tools — not just Claude Code. The beauty is that they require no programming. You write instructions in plain English with some YAML configuration at the top. You can invoke them as slash commands like `/literature-review`, or Claude can automatically detect when a skill is relevant and load it. And they're shareable — commit them to your project repo and your whole lab can use them.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Anthropic's</a:t>
            </a:r>
            <a:r>
              <a:rPr lang="en-US" dirty="0"/>
              <a:t> guide uses a great analogy: if MCP provides the professional kitchen — tools, ingredients, and equipment — then skills provide the recipes. Together they enable users to accomplish complex tasks without figuring out every step themselves. </a:t>
            </a:r>
          </a:p>
          <a:p>
            <a:endParaRPr lang="en-US" dirty="0"/>
          </a:p>
          <a:p>
            <a:r>
              <a:rPr lang="en-US" dirty="0"/>
              <a:t>This analogy is worth spending a moment on because it really clarifies the architecture. MCP provides what Claude *can* do — the tools, the data connections, the raw capabilities. Skills provide how Claude *should* do it — the workflows, the domain knowledge, the best practices. Without skills, users connect MCP but don't know what to do next. They get inconsistent results because everyone prompts differently. With skills, pre-built workflows activate automatically. Consistent, reliable output. Lower learning curve.</a:t>
            </a:r>
          </a:p>
          <a:p>
            <a:endParaRPr lang="en-US" dirty="0"/>
          </a:p>
          <a:p>
            <a:r>
              <a:rPr lang="en-US" dirty="0"/>
              <a:t>Concrete example: you could connect Claude to PubMed via MCP — that's the kitchen. But a literature review skill tells Claude to search systematically, apply PRISMA guidelines, use your inclusion/exclusion criteria, and output structured findings — that's the recipe. Same kitchen, dramatically better meals.</a:t>
            </a:r>
          </a:p>
        </p:txBody>
      </p:sp>
    </p:spTree>
    <p:extLst>
      <p:ext uri="{BB962C8B-B14F-4D97-AF65-F5344CB8AC3E}">
        <p14:creationId xmlns:p14="http://schemas.microsoft.com/office/powerpoint/2010/main" val="2001684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 </a:t>
            </a:r>
            <a:r>
              <a:rPr lang="en-US" dirty="0" err="1"/>
              <a:t>SKILL.md</a:t>
            </a:r>
            <a:r>
              <a:rPr lang="en-US" dirty="0"/>
              <a:t> file looks like. It has two main parts. First, the YAML frontmatter between the triple-dash markers — this tells Claude the skill's name and when to use it. The description is particularly important because Claude reads it to decide when to automatically load the skill. Second, the Markdown instructions — these are the actual steps Claude follows. Notice the $ARGUMENTS placeholder — when someone invokes `/lit-review machine learning in healthcare`, that text replaces $ARGUMENTS. You're essentially writing a detailed playbook that turns Claude into a domain expert.</a:t>
            </a:r>
          </a:p>
          <a:p>
            <a:endParaRPr lang="en-US" dirty="0"/>
          </a:p>
          <a:p>
            <a:r>
              <a:rPr lang="en-US" dirty="0"/>
              <a:t>Key detail: the frontmatter is Level 1 of progressive disclosure — always in Claude's context, about 100 words. The body is Level 2 — loaded when Claude decides the skill is relevant. Keep it under 500 lines. Detailed reference material goes in separate files (Level 3), loaded on demand.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complete YAML frontmatter reference. The most important field is description — Claude reads this to decide when your skill is relevant. Think of it as the skill's elevator pitch. Under 1024 characters, no XML brackets for security. The name becomes your slash command — kebab-case, max 64 characters.</a:t>
            </a:r>
          </a:p>
          <a:p>
            <a:endParaRPr lang="en-US" dirty="0"/>
          </a:p>
          <a:p>
            <a:r>
              <a:rPr lang="en-US" dirty="0"/>
              <a:t>`disable-model-invocation` is important for skills with side effects — like deploying or sending emails — where you want to control exactly when they run. `allowed-tools` restricts what Claude can do; for instance, a read-only research skill might only allow Read, Grep, and Glob. The `context` field set to fork runs the skill in an isolated subagent — useful for complex research tasks that shouldn't interfere with your main conversation. `argument-hint` shows users what to type in the autocomplete menu.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can live at different levels. For today's workshop, you'll create personal skills stored in `~/.</a:t>
            </a:r>
            <a:r>
              <a:rPr lang="en-US" dirty="0" err="1"/>
              <a:t>claude</a:t>
            </a:r>
            <a:r>
              <a:rPr lang="en-US" dirty="0"/>
              <a:t>/skills/` — these follow you across all projects. If you want to share a skill with your lab or research group, put it in the project's `.</a:t>
            </a:r>
            <a:r>
              <a:rPr lang="en-US" dirty="0" err="1"/>
              <a:t>claude</a:t>
            </a:r>
            <a:r>
              <a:rPr lang="en-US" dirty="0"/>
              <a:t>/skills/` directory and commit it to version control. Enterprise admins can deploy skills org-wide through managed settings — that capability shipped December 2025. When skills share the same name, higher-priority locations win: enterprise overrides personal, which overrides project. This means you can have departmental defaults that individuals can customize.</a:t>
            </a:r>
          </a:p>
          <a:p>
            <a:endParaRPr lang="en-US" dirty="0"/>
          </a:p>
          <a:p>
            <a:endParaRPr lang="en-US" dirty="0"/>
          </a:p>
          <a:p>
            <a:endParaRPr lang="en-US" dirty="0"/>
          </a:p>
          <a:p>
            <a:r>
              <a:rPr lang="en-US" dirty="0"/>
              <a:t>Practical advice: start personal while you're learning. Once a skill is mature and tested, promote it to project level so your team benefits.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skill is a directory with </a:t>
            </a:r>
            <a:r>
              <a:rPr lang="en-US" dirty="0" err="1"/>
              <a:t>SKILL.md</a:t>
            </a:r>
            <a:r>
              <a:rPr lang="en-US" dirty="0"/>
              <a:t> as the entry point. But skills can include multiple supporting files. For a literature review skill, you might have a template for the output format, examples of well-done reviews, and scripts that validate citations. The key design principle is to keep </a:t>
            </a:r>
            <a:r>
              <a:rPr lang="en-US" dirty="0" err="1"/>
              <a:t>SKILL.md</a:t>
            </a:r>
            <a:r>
              <a:rPr lang="en-US" dirty="0"/>
              <a:t> under 500 lines — focused on instructions and navigation. Move detailed reference material to separate files. Reference them from </a:t>
            </a:r>
            <a:r>
              <a:rPr lang="en-US" dirty="0" err="1"/>
              <a:t>SKILL.md</a:t>
            </a:r>
            <a:r>
              <a:rPr lang="en-US" dirty="0"/>
              <a:t> so Claude knows what each file contains and loads them only when needed. This keeps your context window efficient.</a:t>
            </a:r>
          </a:p>
          <a:p>
            <a:endParaRPr lang="en-US" dirty="0"/>
          </a:p>
          <a:p>
            <a:r>
              <a:rPr lang="en-US" dirty="0"/>
              <a:t>The Anthropic guide emphasizes progressive disclosure as a core design principle. Level 1 — the metadata in your YAML frontmatter — is always loaded into Claude's context, about 100 words. Level 2 — the </a:t>
            </a:r>
            <a:r>
              <a:rPr lang="en-US" dirty="0" err="1"/>
              <a:t>SKILL.md</a:t>
            </a:r>
            <a:r>
              <a:rPr lang="en-US" dirty="0"/>
              <a:t> body — loads only when Claude decides the skill is relevant, ideally under 500 lines. Level 3 — bundled resources in scripts, references, and assets directories — loads on demand. This three-level system minimizes token usage while maintaining specialized expertise.</a:t>
            </a:r>
          </a:p>
          <a:p>
            <a:endParaRPr lang="en-US" dirty="0"/>
          </a:p>
          <a:p>
            <a:r>
              <a:rPr lang="en-US" dirty="0"/>
              <a:t>One important principle for the scripts/ directory: "Code is deterministic; language interpretation isn't." If you need reliable validation or calculations, write a script rather than asking Claude to do it in natural language.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description field in your YAML frontmatter is the most important part of your skill — it determines whether Claude loads your skill at the right time. </a:t>
            </a:r>
            <a:r>
              <a:rPr lang="en-US" dirty="0" err="1"/>
              <a:t>Anthropic's</a:t>
            </a:r>
            <a:r>
              <a:rPr lang="en-US" dirty="0"/>
              <a:t> guide gives us a clear formula: combine what the skill does, when to use it, and key capabilities. On the left, you can see good descriptions — they're specific about what they do AND include the trigger phrases users would actually say. On the right, bad descriptions — too vague, missing triggers, or too technical without user context.</a:t>
            </a:r>
          </a:p>
          <a:p>
            <a:endParaRPr lang="en-US" dirty="0"/>
          </a:p>
          <a:p>
            <a:r>
              <a:rPr lang="en-US" dirty="0"/>
              <a:t>When writing yours, include specific tasks users might mention, relevant file types, and use phrases real users would type. A common mistake is being too generic — "Helps with projects" tells Claude nothing about when to activate. Skills tend to under-trigger, so make descriptions a bit pushy — include multiple trigger phrases.</a:t>
            </a:r>
          </a:p>
          <a:p>
            <a:endParaRPr lang="en-US" dirty="0"/>
          </a:p>
          <a:p>
            <a:r>
              <a:rPr lang="en-US" dirty="0"/>
              <a:t>Debugging tip from the guide: ask Claude "When would you use the [skill name] skill?" Claude will quote the description back. If important scenarios are missing, update. For over-triggering, add negative triggers: "Do NOT use for simple data exploration."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four steps to create your first skill. Step 1: Create a directory — for personal skills, that's under `~/.</a:t>
            </a:r>
            <a:r>
              <a:rPr lang="en-US" dirty="0" err="1"/>
              <a:t>claude</a:t>
            </a:r>
            <a:r>
              <a:rPr lang="en-US" dirty="0"/>
              <a:t>/skills/`. Step 2: Write your </a:t>
            </a:r>
            <a:r>
              <a:rPr lang="en-US" dirty="0" err="1"/>
              <a:t>SKILL.md</a:t>
            </a:r>
            <a:r>
              <a:rPr lang="en-US" dirty="0"/>
              <a:t> file with the YAML frontmatter and markdown instructions we just covered. You can also use the Skill Creator to generate a draft interactively. Step 3: Test auto-invocation — ask Claude something that matches your skill's description and see if it loads automatically. Step 4: Test direct invocation with the slash command. You can pass arguments after the command name.</a:t>
            </a:r>
          </a:p>
          <a:p>
            <a:endParaRPr lang="en-US" dirty="0"/>
          </a:p>
          <a:p>
            <a:r>
              <a:rPr lang="en-US" dirty="0"/>
              <a:t>Key advice from Anthropic: don't try to test everything at once. Iterate on a single challenging task until Claude succeeds, then extract the winning approach. Skills are living documents — get something working, then refine. During our workshop, we'll go through all four of these steps together.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can contain two types of content. Reference content is knowledge — coding conventions, style guides, domain taxonomies, organizational guidelines. This runs inline alongside your conversation, so Claude applies it to whatever you're working on. For example, a skill that says "when writing API endpoints, use RESTful naming conventions" — Claude just absorbs this and follows it. Task content gives step-by-step instructions for specific workflows — literature reviews, data analysis, deployments. You typically invoke these manually with a slash command.</a:t>
            </a:r>
          </a:p>
          <a:p>
            <a:endParaRPr lang="en-US" dirty="0"/>
          </a:p>
          <a:p>
            <a:r>
              <a:rPr lang="en-US" dirty="0"/>
              <a:t>Both types are powerful, and many skills combine both: reference knowledge plus step-by-step procedures. For researchers, think of it this way: reference content encodes what your experienced grad students already know about your field; task content encodes the procedures in your lab's methods manual.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control who triggers a skill. By default, both you and Claude can invoke any skill — you type the slash command, or Claude loads it automatically when it's relevant. Set `disable-model-invocation` to true when you want to control timing — for example, a skill that commits code or sends emails shouldn't fire automatically. Set `user-invocable` to false for background knowledge that Claude should absorb but isn't a meaningful action for users to invoke — like a skill that explains how your legacy data pipeline works.</a:t>
            </a:r>
          </a:p>
          <a:p>
            <a:endParaRPr lang="en-US" dirty="0"/>
          </a:p>
          <a:p>
            <a:r>
              <a:rPr lang="en-US" dirty="0"/>
              <a:t>For research skills, the default is usually ideal — Claude detects that you're asking about literature review and loads the skill automatically. For today's workshop, stick with the default.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support dynamic values through string substitution. The most common is $ARGUMENTS, which captures everything the user types after the slash command. You can also access individual arguments by index — useful for skills that take multiple parameters, like `/migrate-component </a:t>
            </a:r>
            <a:r>
              <a:rPr lang="en-US" dirty="0" err="1"/>
              <a:t>SearchBar</a:t>
            </a:r>
            <a:r>
              <a:rPr lang="en-US" dirty="0"/>
              <a:t> React Vue`.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aren't just for research workflows — they can guide how Claude approaches virtually anything. Coding standards skills enforce naming conventions, architecture patterns, and testing requirements across your whole team. Design preference skills specify color palettes, typography rules, component library usage, and accessibility requirements — so Claude produces consistent designs. Organization guidelines skills encode branding standards, documentation templates, compliance rules, and security policies. Workflow rules skills standardize git commit messages, PR templates, and deployment checklists.</a:t>
            </a:r>
          </a:p>
          <a:p>
            <a:endParaRPr lang="en-US" dirty="0"/>
          </a:p>
          <a:p>
            <a:r>
              <a:rPr lang="en-US" dirty="0"/>
              <a:t>Think of skills as institutional knowledge that's always available to your AI assistant. Even if you're not a developer, what organizational knowledge would *you* want to encode? Meeting note formats, report structures, data governance procedures — all candidates.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what a fully-developed Agent Skill looks like. This is a real skill built for researching accessible housing options for adults with disabilities that we’re developing with the department of special education at Peabody this semester. When you invoke it with a location, Claude conducts comprehensive research across 28 sources — government agencies, nonprofits, housing authorities — and produces a structured spreadsheet with 35 fields per housing option, complete with verified data confidence ratings. It has 10 complete taxonomies ensuring consistent categorization, and a 17-item quality checklist.</a:t>
            </a:r>
          </a:p>
          <a:p>
            <a:endParaRPr lang="en-US" dirty="0"/>
          </a:p>
          <a:p>
            <a:r>
              <a:rPr lang="en-US" dirty="0"/>
              <a:t>This is the kind of domain-specific, production-quality research that used to take weeks of manual work — calling agencies, searching websites, normalizing data into spreadsheets. With this skill, Claude knows exactly what to look for, how to categorize it, and what format to output. Let's look at how it's structured.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housing skill is structured, with proper YAML frontmatter. Notice `allowed-tools: Read, Grep, </a:t>
            </a:r>
            <a:r>
              <a:rPr lang="en-US" dirty="0" err="1"/>
              <a:t>WebSearch</a:t>
            </a:r>
            <a:r>
              <a:rPr lang="en-US" dirty="0"/>
              <a:t>` — restricting Claude to read-only operations plus web search during research. The body has four sections: Parse Location, Research Process (24+ prioritized sources), Data Schema (35 fields), and Quality Checklist (17 items).</a:t>
            </a:r>
          </a:p>
          <a:p>
            <a:endParaRPr lang="en-US" dirty="0"/>
          </a:p>
          <a:p>
            <a:r>
              <a:rPr lang="en-US" dirty="0"/>
              <a:t>Notice the key design patterns. First, canonical taxonomies — every category has exact terms Claude must use, preventing the inconsistency you get when AI invents its own labels. Second, the Do This / Not That table — explicit guardrails for common mistakes. Third, data confidence ratings ensure transparency — every data point gets a High/Medium/Low/Unverified rating. Fourth, plain-language definitions make every technical term accessible.</a:t>
            </a:r>
          </a:p>
          <a:p>
            <a:endParaRPr lang="en-US" dirty="0"/>
          </a:p>
          <a:p>
            <a:r>
              <a:rPr lang="en-US" dirty="0"/>
              <a:t>Allowed tools – use /tools in </a:t>
            </a:r>
            <a:r>
              <a:rPr lang="en-US" dirty="0" err="1"/>
              <a:t>claude</a:t>
            </a:r>
            <a:r>
              <a:rPr lang="en-US" dirty="0"/>
              <a:t> code to see what tools you have access to</a:t>
            </a:r>
          </a:p>
          <a:p>
            <a:endParaRPr lang="en-US" dirty="0"/>
          </a:p>
          <a:p>
            <a:r>
              <a:rPr lang="en-US" dirty="0"/>
              <a:t>These patterns translate directly to any research domain. Your literature review skill could have canonical methodology terms, your data analysis skill could have required statistical tests, your humanities skill could standardize source categories.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The four steps: Draft your skill starting with intent — what should it do, when should it trigger, what output format? </a:t>
            </a:r>
          </a:p>
          <a:p>
            <a:r>
              <a:rPr lang="en-US" dirty="0"/>
              <a:t>Test and evaluate with realistic prompts. For complex skills, the Skill Creator runs with-skill vs. without-skill baselines and quantitative benchmarks. </a:t>
            </a:r>
          </a:p>
          <a:p>
            <a:r>
              <a:rPr lang="en-US" dirty="0"/>
              <a:t>Iterate and refine — review outputs, identify gaps, generalize rather than overfit. Explain the "why" — Claude responds better to reasoning than rigid rules. </a:t>
            </a:r>
          </a:p>
          <a:p>
            <a:r>
              <a:rPr lang="en-US" dirty="0"/>
              <a:t>Finally, optimize triggers — fine-tune your description so Claude loads the skill at the right time.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process works at any scale. For simple skills — coding conventions, report templates — drafting might be all you need. Fifteen minutes and done. For complex skills with multiple tools and MCP, the Skill Creator automates testing and optimization.</a:t>
            </a:r>
          </a:p>
          <a:p>
            <a:endParaRPr lang="en-US" dirty="0"/>
          </a:p>
        </p:txBody>
      </p:sp>
    </p:spTree>
    <p:extLst>
      <p:ext uri="{BB962C8B-B14F-4D97-AF65-F5344CB8AC3E}">
        <p14:creationId xmlns:p14="http://schemas.microsoft.com/office/powerpoint/2010/main" val="3950270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How will you know your skill is working? On the quantitative side: does the skill trigger on 90% of relevant queries (test with 10-20 prompts)? Does it complete the workflow efficiently compared to without the skill? Zero failed API calls (monitor MCP logs)? On the qualitative side: do users need to redirect Claude about next steps? Do workflows complete without correction? Are results consistent across sessions — can a new user accomplish the task on first try?</a:t>
            </a:r>
          </a:p>
          <a:p>
            <a:endParaRPr lang="en-US" dirty="0"/>
          </a:p>
          <a:p>
            <a:r>
              <a:rPr lang="en-US" dirty="0"/>
              <a:t>Important caveat from </a:t>
            </a:r>
            <a:r>
              <a:rPr lang="en-US" dirty="0" err="1"/>
              <a:t>Anthropic's</a:t>
            </a:r>
            <a:r>
              <a:rPr lang="en-US" dirty="0"/>
              <a:t> guide: these are aspirational targets — rough benchmarks rather than precise thresholds. The tooling for rigorous measurement is still evolving. But even rough benchmarking is dramatically better than vibes-only assessment.</a:t>
            </a:r>
          </a:p>
        </p:txBody>
      </p:sp>
    </p:spTree>
    <p:extLst>
      <p:ext uri="{BB962C8B-B14F-4D97-AF65-F5344CB8AC3E}">
        <p14:creationId xmlns:p14="http://schemas.microsoft.com/office/powerpoint/2010/main" val="38704107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The Skill Creator is a meta-skill — a skill for building skills, built into </a:t>
            </a:r>
            <a:r>
              <a:rPr lang="en-US" dirty="0" err="1"/>
              <a:t>Claude.ai</a:t>
            </a:r>
            <a:r>
              <a:rPr lang="en-US" dirty="0"/>
              <a:t> and Claude Code. It spawns parallel test runs comparing with-skill vs. without-skill baselines and grades outputs against assertions you define. It produces quantitative benchmarks — pass rates, timing, token usage with mean and standard deviation — not just vibes, actual data on skill quality.</a:t>
            </a:r>
          </a:p>
          <a:p>
            <a:endParaRPr lang="en-US" dirty="0"/>
          </a:p>
          <a:p>
            <a:r>
              <a:rPr lang="en-US" dirty="0"/>
              <a:t>The description optimizer is particularly clever: it generates 20 trigger queries — a mix of should-trigger and should-not-trigger scenarios — then iterates on your description to maximize accuracy. When should you use it? Complex skills with multiple MCP tools, multi-step workflows, or production use where you need confidence it works reliably. Anthropic says you can build and test a functional skill in a single sitting — often 15-30 minutes.</a:t>
            </a:r>
          </a:p>
          <a:p>
            <a:endParaRPr lang="en-US" dirty="0"/>
          </a:p>
          <a:p>
            <a:endParaRPr lang="en-US" dirty="0"/>
          </a:p>
        </p:txBody>
      </p:sp>
    </p:spTree>
    <p:extLst>
      <p:ext uri="{BB962C8B-B14F-4D97-AF65-F5344CB8AC3E}">
        <p14:creationId xmlns:p14="http://schemas.microsoft.com/office/powerpoint/2010/main" val="596034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concrete example of why taxonomies are so powerful. This is the Housing Control Model taxonomy from the housing skill. Without it, Claude might say "independent living" one time and "self-directed housing" another time for the same concept. With the taxonomy, it uses the exact term "Consumer-controlled" every time, with a consistent plain-language definition.</a:t>
            </a:r>
          </a:p>
          <a:p>
            <a:endParaRPr lang="en-US" dirty="0"/>
          </a:p>
          <a:p>
            <a:endParaRPr lang="en-US" dirty="0"/>
          </a:p>
          <a:p>
            <a:r>
              <a:rPr lang="en-US" dirty="0"/>
              <a:t>This gives you three critical benefits. Consistency — Claude uses exact terms, no synonym drift across outputs. Accessibility — plain-language definitions make outputs usable by non-experts. Comparability — standardized categories enable cross-record analysis.</a:t>
            </a:r>
          </a:p>
          <a:p>
            <a:endParaRPr lang="en-US" dirty="0"/>
          </a:p>
          <a:p>
            <a:endParaRPr lang="en-US" dirty="0"/>
          </a:p>
          <a:p>
            <a:r>
              <a:rPr lang="en-US" dirty="0"/>
              <a:t>Think about this for your own field. A methodology skill could define "randomized controlled trial," "quasi-experimental," "observational" with precise definitions. A data analysis skill could define "statistically significant," "clinically meaningful," "trending." This standardization is what makes AI outputs actually useful for research — because you can trust the categories are consistent and comparable.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the Model Context Protocol — MCP. If skills teach Claude what to do, MCP connects Claude to the tools it needs to actually do it. MCP is an open standard created by Anthropic that lets Claude Code connect to hundreds of external tools and data sources. Think of it as a universal adapter between AI and your existing infrastructure — a protocol like HTTP, not a specific product.</a:t>
            </a:r>
          </a:p>
          <a:p>
            <a:endParaRPr lang="en-US" dirty="0"/>
          </a:p>
          <a:p>
            <a:r>
              <a:rPr lang="en-US" dirty="0"/>
              <a:t>You can connect to issue trackers like JIRA and GitHub, query your databases directly, monitor production errors through Sentry, review pull requests, pull in design files from Figma, and even interact with communication tools like Slack. For research, think about connecting to reference databases, institutional data systems, and collaboration platforms. The key insight is that MCP + Skills together create truly powerful research assistants — the skill defines the workflow, and MCP provides the connections.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up MCP is straightforward — one command. HTTP is recommended for cloud services: `</a:t>
            </a:r>
            <a:r>
              <a:rPr lang="en-US" dirty="0" err="1"/>
              <a:t>claude</a:t>
            </a:r>
            <a:r>
              <a:rPr lang="en-US" dirty="0"/>
              <a:t> </a:t>
            </a:r>
            <a:r>
              <a:rPr lang="en-US" dirty="0" err="1"/>
              <a:t>mcp</a:t>
            </a:r>
            <a:r>
              <a:rPr lang="en-US" dirty="0"/>
              <a:t> add --transport http notion https://</a:t>
            </a:r>
            <a:r>
              <a:rPr lang="en-US" dirty="0" err="1"/>
              <a:t>mcp.notion.com</a:t>
            </a:r>
            <a:r>
              <a:rPr lang="en-US" dirty="0"/>
              <a:t>/</a:t>
            </a:r>
            <a:r>
              <a:rPr lang="en-US" dirty="0" err="1"/>
              <a:t>mcp</a:t>
            </a:r>
            <a:r>
              <a:rPr lang="en-US" dirty="0"/>
              <a:t>`. </a:t>
            </a:r>
            <a:r>
              <a:rPr lang="en-US" dirty="0" err="1"/>
              <a:t>Stdio</a:t>
            </a:r>
            <a:r>
              <a:rPr lang="en-US" dirty="0"/>
              <a:t> is for local processes that run on your machine — great for database connections or custom tools. Notice the command structure: all options like `--transport` and `--env` come before the server name, and a double-dash separates the server name from the actual command being run.</a:t>
            </a:r>
          </a:p>
          <a:p>
            <a:endParaRPr lang="en-US" dirty="0"/>
          </a:p>
          <a:p>
            <a:r>
              <a:rPr lang="en-US" dirty="0"/>
              <a:t>Once connected, you manage servers with simple commands: list, get details, or remove. Inside Claude Code, use the `/</a:t>
            </a:r>
            <a:r>
              <a:rPr lang="en-US" dirty="0" err="1"/>
              <a:t>mcp</a:t>
            </a:r>
            <a:r>
              <a:rPr lang="en-US" dirty="0"/>
              <a:t>` command to see all connected servers and authenticate with ones that need OAuth — it opens a browser flow where you log in and grant permissions.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servers can be scoped at three levels — similar to skills. Local scope is the default — private to you, current project only. Great for personal dev servers or experimental configurations. Project scope stores the config in a `.</a:t>
            </a:r>
            <a:r>
              <a:rPr lang="en-US" dirty="0" err="1"/>
              <a:t>mcp.json</a:t>
            </a:r>
            <a:r>
              <a:rPr lang="en-US" dirty="0"/>
              <a:t>` file that you commit to version control — so everyone on your team gets the same tool connections. User scope makes a server available across all your projects — perfect for utilities you use everywhere, like a personal database connection.</a:t>
            </a:r>
          </a:p>
          <a:p>
            <a:endParaRPr lang="en-US" dirty="0"/>
          </a:p>
          <a:p>
            <a:r>
              <a:rPr lang="en-US" dirty="0"/>
              <a:t>The precedence order is local overrides project overrides user, so you can always customize team defaults for your own needs. For security, Claude Code prompts for approval before using project-scoped servers from `.</a:t>
            </a:r>
            <a:r>
              <a:rPr lang="en-US" dirty="0" err="1"/>
              <a:t>mcp.json</a:t>
            </a:r>
            <a:r>
              <a:rPr lang="en-US" dirty="0"/>
              <a:t>` files.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practical MCP examples. For GitHub, one command connects Claude to your repositories. After authenticating with `/</a:t>
            </a:r>
            <a:r>
              <a:rPr lang="en-US" dirty="0" err="1"/>
              <a:t>mcp</a:t>
            </a:r>
            <a:r>
              <a:rPr lang="en-US" dirty="0"/>
              <a:t>` inside Claude Code, you can ask Claude to review pull requests, create issues, manage branches — all through natural language. For Sentry, same pattern — one command, authenticate, then ask about production errors in plain English.</a:t>
            </a:r>
          </a:p>
          <a:p>
            <a:endParaRPr lang="en-US" dirty="0"/>
          </a:p>
          <a:p>
            <a:r>
              <a:rPr lang="en-US" dirty="0"/>
              <a:t>The power here is combining MCP with skills. Imagine a skill that says "when analyzing a bug report, first check Sentry for related errors, then look at recent PRs for the relevant code, then check for existing similar issues, then suggest a fix." MCP provides all four connections. The skill orchestrates them into a coherent workflow. That's the kitchen-and-recipes pattern in action.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team collaboration, you can share MCP configurations through a `.</a:t>
            </a:r>
            <a:r>
              <a:rPr lang="en-US" dirty="0" err="1"/>
              <a:t>mcp.json</a:t>
            </a:r>
            <a:r>
              <a:rPr lang="en-US" dirty="0"/>
              <a:t>` file committed to your project's version control. This means everyone on your team automatically gets access to the same tools — GitHub for code reviews, Sentry for error monitoring, database connections for querying data. Notice the environment variable expansion with the dollar-sign syntax — this lets you keep secrets like database connection strings out of version control. Each team member sets their own environment variables locally.</a:t>
            </a:r>
          </a:p>
          <a:p>
            <a:endParaRPr lang="en-US" dirty="0"/>
          </a:p>
          <a:p>
            <a:r>
              <a:rPr lang="en-US" dirty="0"/>
              <a:t>Claude Code also prompts for approval before using project-scoped servers from `.</a:t>
            </a:r>
            <a:r>
              <a:rPr lang="en-US" dirty="0" err="1"/>
              <a:t>mcp.json</a:t>
            </a:r>
            <a:r>
              <a:rPr lang="en-US" dirty="0"/>
              <a:t>` files for security — so a malicious config can't silently connect to unknown services.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ideas to get you thinking. For sciences, a PRISMA-compliant literature review skill or a lab protocol writer. For humanities, an archival research helper or primary source analyzer. Social sciences might build an IRB application drafter or statistical methods advisor. Engineering could create code review standards or documentation generators. Education faculty might build syllabus builders or rubric creators. Administrative staff could create report formatters or policy document reviewers.</a:t>
            </a:r>
          </a:p>
          <a:p>
            <a:endParaRPr lang="en-US" dirty="0"/>
          </a:p>
          <a:p>
            <a:r>
              <a:rPr lang="en-US" dirty="0"/>
              <a:t>Pick the one that would save you the most time — that's your best first skill. What's your biggest recurring time sink where you follow a consistent process? That's your candidate. Remember, you can always refine and expand it later.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your turn! There’s two paths you could take. Path A is building from scratch — this gives you full control, and is ideal for getting started, experimenting and building relatively simple skills. Path B is using the Skill Creator — tell it what you want, and it generates a draft you can customize. Both are equally valid.</a:t>
            </a:r>
          </a:p>
          <a:p>
            <a:endParaRPr lang="en-US" dirty="0"/>
          </a:p>
          <a:p>
            <a:r>
              <a:rPr lang="en-US" dirty="0"/>
              <a:t>Over the next 25 minutes, pick a research task you do repeatedly, create the directory, write your </a:t>
            </a:r>
            <a:r>
              <a:rPr lang="en-US" dirty="0" err="1"/>
              <a:t>SKILL.md</a:t>
            </a:r>
            <a:r>
              <a:rPr lang="en-US" dirty="0"/>
              <a:t> with frontmatter and instructions, and test it. Remember the key lessons: write a specific description with trigger phrases, keep instructions under 500 lines, be specific and actionable rather than vague, and include a Do This / Not That table for common mistakes. Don't worry about perfection — skills are living documents you refine over time. I'll be walking around to help.</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recap our five key takeaways, updated with insights from </a:t>
            </a:r>
            <a:r>
              <a:rPr lang="en-US" dirty="0" err="1"/>
              <a:t>Anthropic's</a:t>
            </a:r>
            <a:r>
              <a:rPr lang="en-US" dirty="0"/>
              <a:t> comprehensive skills guide. First, skills are just Markdown folders — and the Skill Creator tool makes getting started even easier. Second, domain-specific skills vastly outperform general prompting because they encode your field's knowledge and methods. Third, the trio of effective descriptions, taxonomies, and progressive disclosure is what makes skills reliable. Fourth, MCP connects Claude to your tools, turning it into a fully integrated platform. And fifth, skills are an open standard — portable across </a:t>
            </a:r>
            <a:r>
              <a:rPr lang="en-US" dirty="0" err="1"/>
              <a:t>Claude.ai</a:t>
            </a:r>
            <a:r>
              <a:rPr lang="en-US" dirty="0"/>
              <a:t>, Claude Code, and the API, shareable via git, plugins, or programmatically. The investment in writing a good skill pays dividends every time it runs.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your starter template. Copy this and fill in the brackets. The YAML frontmatter sets up your slash command — use the formula: [What it does] + [When to use it]. The Purpose section tells Claude when to activate. Instructions are your step-by-step workflow — be as specific as possible. Step 1 is almost always "Parse the input from $ARGUMENTS." The taxonomy section is optional but incredibly powerful — define controlled vocabularies for your domain. The Do This / Not That table catches common mistakes. And the Output Format section defines exactly what the final product looks like.</a:t>
            </a:r>
          </a:p>
          <a:p>
            <a:endParaRPr lang="en-US" dirty="0"/>
          </a:p>
          <a:p>
            <a:r>
              <a:rPr lang="en-US" dirty="0"/>
              <a:t>Remember the housing skill we saw earlier? It followed this same structure but went much deeper. Start simple, then add detail as you test and refine. Let's get building!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your key resources. The Claude Code Skills documentation has everything we covered today and more. The MCP documentation covers all the connection options. The Complete Guide to Building Skills for Claude — that's </a:t>
            </a:r>
            <a:r>
              <a:rPr lang="en-US" dirty="0" err="1"/>
              <a:t>Anthropic's</a:t>
            </a:r>
            <a:r>
              <a:rPr lang="en-US" dirty="0"/>
              <a:t> comprehensive PDF — is the single best resource to read after today. And the MCP server registry on GitHub has hundreds of ready-to-use server implementations.</a:t>
            </a:r>
          </a:p>
          <a:p>
            <a:endParaRPr lang="en-US" dirty="0"/>
          </a:p>
          <a:p>
            <a:r>
              <a:rPr lang="en-US" dirty="0"/>
              <a:t>For your next steps: refine the skill you started today — add taxonomies, examples, quality checks. Share it with your lab by committing it to version control. Connect an MCP server relevant to your workflow. And try the Skill Creator for your next skill. Each skill you create makes your AI assistant more powerful and more tailored to your needs.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for participating! Remember — the shift from using AI to building with AI is where the real productivity gains are. Your first skill doesn't have to be perfect. Start small, iterate, and share what you build. I'd love to hear about the skills you create and how they transform your research workflows. Please reach out if you have questions or want to share what you've built. Happy skill building!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914400"/>
            <a:ext cx="7680960" cy="1828800"/>
          </a:xfrm>
          <a:prstGeom prst="rect">
            <a:avLst/>
          </a:prstGeom>
          <a:noFill/>
          <a:ln/>
        </p:spPr>
        <p:txBody>
          <a:bodyPr wrap="square" rtlCol="0" anchor="ctr"/>
          <a:lstStyle/>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Building AI Research Assistants</a:t>
            </a:r>
            <a:endParaRPr lang="en-US" sz="3800" dirty="0"/>
          </a:p>
          <a:p>
            <a:pPr marL="0" indent="0">
              <a:lnSpc>
                <a:spcPct val="115000"/>
              </a:lnSpc>
              <a:buNone/>
            </a:pPr>
            <a:r>
              <a:rPr lang="en-US" sz="3800" b="1" dirty="0">
                <a:solidFill>
                  <a:srgbClr val="FFFFFF"/>
                </a:solidFill>
                <a:latin typeface="Georgia" pitchFamily="34" charset="0"/>
                <a:ea typeface="Georgia" pitchFamily="34" charset="-122"/>
                <a:cs typeface="Georgia" pitchFamily="34" charset="-120"/>
              </a:rPr>
              <a:t>with Agent Skills</a:t>
            </a:r>
            <a:endParaRPr lang="en-US" sz="3800" dirty="0"/>
          </a:p>
        </p:txBody>
      </p:sp>
      <p:sp>
        <p:nvSpPr>
          <p:cNvPr id="4" name="Text 2"/>
          <p:cNvSpPr/>
          <p:nvPr/>
        </p:nvSpPr>
        <p:spPr>
          <a:xfrm>
            <a:off x="731520" y="2743200"/>
            <a:ext cx="7680960" cy="54864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From Using ChatGPT to Building Domain-Specific AI Tools</a:t>
            </a:r>
            <a:endParaRPr lang="en-US" sz="1800" dirty="0"/>
          </a:p>
        </p:txBody>
      </p:sp>
      <p:sp>
        <p:nvSpPr>
          <p:cNvPr id="5" name="Text 3"/>
          <p:cNvSpPr/>
          <p:nvPr/>
        </p:nvSpPr>
        <p:spPr>
          <a:xfrm>
            <a:off x="731520" y="3383280"/>
            <a:ext cx="7680960" cy="457200"/>
          </a:xfrm>
          <a:prstGeom prst="rect">
            <a:avLst/>
          </a:prstGeom>
          <a:noFill/>
          <a:ln/>
        </p:spPr>
        <p:txBody>
          <a:bodyPr wrap="square" rtlCol="0" anchor="ctr"/>
          <a:lstStyle/>
          <a:p>
            <a:pPr marL="0" indent="0">
              <a:buNone/>
            </a:pPr>
            <a:r>
              <a:rPr lang="en-US" sz="1300" dirty="0">
                <a:solidFill>
                  <a:srgbClr val="00B4D8"/>
                </a:solidFill>
                <a:latin typeface="Calibri" pitchFamily="34" charset="0"/>
                <a:ea typeface="Calibri" pitchFamily="34" charset="-122"/>
                <a:cs typeface="Calibri" pitchFamily="34" charset="-120"/>
              </a:rPr>
              <a:t>Agent Skills Specification  |  Model Context Protocol  |  Hands-On Workshop</a:t>
            </a:r>
            <a:endParaRPr lang="en-US" sz="1300" dirty="0"/>
          </a:p>
        </p:txBody>
      </p:sp>
      <p:sp>
        <p:nvSpPr>
          <p:cNvPr id="6" name="Shape 4"/>
          <p:cNvSpPr/>
          <p:nvPr/>
        </p:nvSpPr>
        <p:spPr>
          <a:xfrm>
            <a:off x="0" y="4572000"/>
            <a:ext cx="9144000" cy="571500"/>
          </a:xfrm>
          <a:prstGeom prst="rect">
            <a:avLst/>
          </a:prstGeom>
          <a:solidFill>
            <a:srgbClr val="252A4A"/>
          </a:solidFill>
          <a:ln/>
        </p:spPr>
        <p:txBody>
          <a:bodyPr/>
          <a:lstStyle/>
          <a:p>
            <a:endParaRPr lang="en-US"/>
          </a:p>
        </p:txBody>
      </p:sp>
      <p:sp>
        <p:nvSpPr>
          <p:cNvPr id="7" name="Text 5"/>
          <p:cNvSpPr/>
          <p:nvPr/>
        </p:nvSpPr>
        <p:spPr>
          <a:xfrm>
            <a:off x="731520" y="4617720"/>
            <a:ext cx="7680960" cy="457200"/>
          </a:xfrm>
          <a:prstGeom prst="rect">
            <a:avLst/>
          </a:prstGeom>
          <a:noFill/>
          <a:ln/>
        </p:spPr>
        <p:txBody>
          <a:bodyPr wrap="square" rtlCol="0" anchor="ctr"/>
          <a:lstStyle/>
          <a:p>
            <a:pPr marL="0" indent="0" algn="l">
              <a:buNone/>
            </a:pPr>
            <a:r>
              <a:rPr lang="en-US" sz="1100" dirty="0">
                <a:solidFill>
                  <a:srgbClr val="8892B0"/>
                </a:solidFill>
                <a:latin typeface="Calibri" pitchFamily="34" charset="0"/>
                <a:ea typeface="Calibri" pitchFamily="34" charset="-122"/>
                <a:cs typeface="Calibri" pitchFamily="34" charset="-120"/>
              </a:rPr>
              <a:t>Vanderbilt University Data Science Institute  |  AI Days 2026 | College of Connected Computing</a:t>
            </a:r>
            <a:endParaRPr lang="en-US" sz="1100" dirty="0"/>
          </a:p>
        </p:txBody>
      </p:sp>
      <p:sp>
        <p:nvSpPr>
          <p:cNvPr id="8" name="Text 6"/>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
        <p:nvSpPr>
          <p:cNvPr id="9" name="Text 2">
            <a:extLst>
              <a:ext uri="{FF2B5EF4-FFF2-40B4-BE49-F238E27FC236}">
                <a16:creationId xmlns:a16="http://schemas.microsoft.com/office/drawing/2014/main" id="{C28DFFFA-8B86-E62A-F3A3-8E451368168F}"/>
              </a:ext>
            </a:extLst>
          </p:cNvPr>
          <p:cNvSpPr/>
          <p:nvPr/>
        </p:nvSpPr>
        <p:spPr>
          <a:xfrm>
            <a:off x="731520" y="4091940"/>
            <a:ext cx="7680960" cy="548640"/>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Umang Chaudhry, Senior Data Scientist</a:t>
            </a:r>
            <a:endParaRPr lang="en-US" sz="1600" dirty="0"/>
          </a:p>
        </p:txBody>
      </p:sp>
      <p:pic>
        <p:nvPicPr>
          <p:cNvPr id="1025" name="Picture 1" descr="Vanderbilt">
            <a:extLst>
              <a:ext uri="{FF2B5EF4-FFF2-40B4-BE49-F238E27FC236}">
                <a16:creationId xmlns:a16="http://schemas.microsoft.com/office/drawing/2014/main" id="{752ACD4B-F3CB-FCE7-0417-4BF5E6CC96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5360" y="4709160"/>
            <a:ext cx="457200" cy="457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Session Overview</a:t>
            </a:r>
            <a:endParaRPr lang="en-US" sz="3000" dirty="0"/>
          </a:p>
        </p:txBody>
      </p:sp>
      <p:sp>
        <p:nvSpPr>
          <p:cNvPr id="4" name="Shape 2"/>
          <p:cNvSpPr/>
          <p:nvPr/>
        </p:nvSpPr>
        <p:spPr>
          <a:xfrm>
            <a:off x="731520" y="1143000"/>
            <a:ext cx="109728" cy="457200"/>
          </a:xfrm>
          <a:prstGeom prst="rect">
            <a:avLst/>
          </a:prstGeom>
          <a:solidFill>
            <a:srgbClr val="00B4D8"/>
          </a:solidFill>
          <a:ln/>
        </p:spPr>
        <p:txBody>
          <a:bodyPr/>
          <a:lstStyle/>
          <a:p>
            <a:endParaRPr lang="en-US"/>
          </a:p>
        </p:txBody>
      </p:sp>
      <p:sp>
        <p:nvSpPr>
          <p:cNvPr id="5" name="Text 3"/>
          <p:cNvSpPr/>
          <p:nvPr/>
        </p:nvSpPr>
        <p:spPr>
          <a:xfrm>
            <a:off x="1051560" y="1124712"/>
            <a:ext cx="3657600" cy="274320"/>
          </a:xfrm>
          <a:prstGeom prst="rect">
            <a:avLst/>
          </a:prstGeom>
          <a:noFill/>
          <a:ln/>
        </p:spPr>
        <p:txBody>
          <a:bodyPr wrap="square" lIns="0" tIns="0" rIns="0" bIns="0"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The AI Gap</a:t>
            </a:r>
            <a:endParaRPr lang="en-US" sz="1600" dirty="0"/>
          </a:p>
        </p:txBody>
      </p:sp>
      <p:sp>
        <p:nvSpPr>
          <p:cNvPr id="6" name="Text 4"/>
          <p:cNvSpPr/>
          <p:nvPr/>
        </p:nvSpPr>
        <p:spPr>
          <a:xfrm>
            <a:off x="1051560" y="1380744"/>
            <a:ext cx="5486400" cy="228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Why general AI falls short for research</a:t>
            </a:r>
            <a:endParaRPr lang="en-US" sz="1200" dirty="0"/>
          </a:p>
        </p:txBody>
      </p:sp>
      <p:sp>
        <p:nvSpPr>
          <p:cNvPr id="7" name="Shape 5"/>
          <p:cNvSpPr/>
          <p:nvPr/>
        </p:nvSpPr>
        <p:spPr>
          <a:xfrm>
            <a:off x="731520" y="1764792"/>
            <a:ext cx="109728" cy="457200"/>
          </a:xfrm>
          <a:prstGeom prst="rect">
            <a:avLst/>
          </a:prstGeom>
          <a:solidFill>
            <a:srgbClr val="0096B7"/>
          </a:solidFill>
          <a:ln/>
        </p:spPr>
        <p:txBody>
          <a:bodyPr/>
          <a:lstStyle/>
          <a:p>
            <a:endParaRPr lang="en-US"/>
          </a:p>
        </p:txBody>
      </p:sp>
      <p:sp>
        <p:nvSpPr>
          <p:cNvPr id="8" name="Text 6"/>
          <p:cNvSpPr/>
          <p:nvPr/>
        </p:nvSpPr>
        <p:spPr>
          <a:xfrm>
            <a:off x="1051560" y="1746504"/>
            <a:ext cx="3657600" cy="274320"/>
          </a:xfrm>
          <a:prstGeom prst="rect">
            <a:avLst/>
          </a:prstGeom>
          <a:noFill/>
          <a:ln/>
        </p:spPr>
        <p:txBody>
          <a:bodyPr wrap="square" lIns="0" tIns="0" rIns="0" bIns="0"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Agent Skills Deep Dive</a:t>
            </a:r>
            <a:endParaRPr lang="en-US" sz="1600" dirty="0"/>
          </a:p>
        </p:txBody>
      </p:sp>
      <p:sp>
        <p:nvSpPr>
          <p:cNvPr id="9" name="Text 7"/>
          <p:cNvSpPr/>
          <p:nvPr/>
        </p:nvSpPr>
        <p:spPr>
          <a:xfrm>
            <a:off x="1051560" y="2002536"/>
            <a:ext cx="5486400" cy="228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Anatomy, YAML, storage, invocation</a:t>
            </a:r>
            <a:endParaRPr lang="en-US" sz="1200" dirty="0"/>
          </a:p>
        </p:txBody>
      </p:sp>
      <p:sp>
        <p:nvSpPr>
          <p:cNvPr id="10" name="Shape 8"/>
          <p:cNvSpPr/>
          <p:nvPr/>
        </p:nvSpPr>
        <p:spPr>
          <a:xfrm>
            <a:off x="731520" y="2386584"/>
            <a:ext cx="109728" cy="457200"/>
          </a:xfrm>
          <a:prstGeom prst="rect">
            <a:avLst/>
          </a:prstGeom>
          <a:solidFill>
            <a:srgbClr val="A78BFA"/>
          </a:solidFill>
          <a:ln/>
        </p:spPr>
        <p:txBody>
          <a:bodyPr/>
          <a:lstStyle/>
          <a:p>
            <a:endParaRPr lang="en-US"/>
          </a:p>
        </p:txBody>
      </p:sp>
      <p:sp>
        <p:nvSpPr>
          <p:cNvPr id="11" name="Text 9"/>
          <p:cNvSpPr/>
          <p:nvPr/>
        </p:nvSpPr>
        <p:spPr>
          <a:xfrm>
            <a:off x="1051560" y="2368296"/>
            <a:ext cx="3657600" cy="274320"/>
          </a:xfrm>
          <a:prstGeom prst="rect">
            <a:avLst/>
          </a:prstGeom>
          <a:noFill/>
          <a:ln/>
        </p:spPr>
        <p:txBody>
          <a:bodyPr wrap="square" lIns="0" tIns="0" rIns="0" bIns="0"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Real-World Showcase</a:t>
            </a:r>
            <a:endParaRPr lang="en-US" sz="1600" dirty="0"/>
          </a:p>
        </p:txBody>
      </p:sp>
      <p:sp>
        <p:nvSpPr>
          <p:cNvPr id="12" name="Text 10"/>
          <p:cNvSpPr/>
          <p:nvPr/>
        </p:nvSpPr>
        <p:spPr>
          <a:xfrm>
            <a:off x="1051560" y="2624328"/>
            <a:ext cx="5486400" cy="228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Housing research skill + skill-building framework</a:t>
            </a:r>
            <a:endParaRPr lang="en-US" sz="1200" dirty="0"/>
          </a:p>
        </p:txBody>
      </p:sp>
      <p:sp>
        <p:nvSpPr>
          <p:cNvPr id="13" name="Shape 11"/>
          <p:cNvSpPr/>
          <p:nvPr/>
        </p:nvSpPr>
        <p:spPr>
          <a:xfrm>
            <a:off x="731520" y="3008376"/>
            <a:ext cx="109728" cy="457200"/>
          </a:xfrm>
          <a:prstGeom prst="rect">
            <a:avLst/>
          </a:prstGeom>
          <a:solidFill>
            <a:srgbClr val="10B981"/>
          </a:solidFill>
          <a:ln/>
        </p:spPr>
        <p:txBody>
          <a:bodyPr/>
          <a:lstStyle/>
          <a:p>
            <a:endParaRPr lang="en-US"/>
          </a:p>
        </p:txBody>
      </p:sp>
      <p:sp>
        <p:nvSpPr>
          <p:cNvPr id="14" name="Text 12"/>
          <p:cNvSpPr/>
          <p:nvPr/>
        </p:nvSpPr>
        <p:spPr>
          <a:xfrm>
            <a:off x="1051560" y="2990088"/>
            <a:ext cx="3657600" cy="274320"/>
          </a:xfrm>
          <a:prstGeom prst="rect">
            <a:avLst/>
          </a:prstGeom>
          <a:noFill/>
          <a:ln/>
        </p:spPr>
        <p:txBody>
          <a:bodyPr wrap="square" lIns="0" tIns="0" rIns="0" bIns="0"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MCP &amp; Connections</a:t>
            </a:r>
            <a:endParaRPr lang="en-US" sz="1600" dirty="0"/>
          </a:p>
        </p:txBody>
      </p:sp>
      <p:sp>
        <p:nvSpPr>
          <p:cNvPr id="15" name="Text 13"/>
          <p:cNvSpPr/>
          <p:nvPr/>
        </p:nvSpPr>
        <p:spPr>
          <a:xfrm>
            <a:off x="1051560" y="3246120"/>
            <a:ext cx="5486400" cy="228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Model Context Protocol setup</a:t>
            </a:r>
            <a:endParaRPr lang="en-US" sz="1200" dirty="0"/>
          </a:p>
        </p:txBody>
      </p:sp>
      <p:sp>
        <p:nvSpPr>
          <p:cNvPr id="16" name="Shape 14"/>
          <p:cNvSpPr/>
          <p:nvPr/>
        </p:nvSpPr>
        <p:spPr>
          <a:xfrm>
            <a:off x="731520" y="3630168"/>
            <a:ext cx="109728" cy="457200"/>
          </a:xfrm>
          <a:prstGeom prst="rect">
            <a:avLst/>
          </a:prstGeom>
          <a:solidFill>
            <a:srgbClr val="FF6B6B"/>
          </a:solidFill>
          <a:ln/>
        </p:spPr>
        <p:txBody>
          <a:bodyPr/>
          <a:lstStyle/>
          <a:p>
            <a:endParaRPr lang="en-US"/>
          </a:p>
        </p:txBody>
      </p:sp>
      <p:sp>
        <p:nvSpPr>
          <p:cNvPr id="17" name="Text 15"/>
          <p:cNvSpPr/>
          <p:nvPr/>
        </p:nvSpPr>
        <p:spPr>
          <a:xfrm>
            <a:off x="1051560" y="3611880"/>
            <a:ext cx="3657600" cy="274320"/>
          </a:xfrm>
          <a:prstGeom prst="rect">
            <a:avLst/>
          </a:prstGeom>
          <a:noFill/>
          <a:ln/>
        </p:spPr>
        <p:txBody>
          <a:bodyPr wrap="square" lIns="0" tIns="0" rIns="0" bIns="0"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Hands-On Session</a:t>
            </a:r>
            <a:endParaRPr lang="en-US" sz="1600" dirty="0"/>
          </a:p>
        </p:txBody>
      </p:sp>
      <p:sp>
        <p:nvSpPr>
          <p:cNvPr id="18" name="Text 16"/>
          <p:cNvSpPr/>
          <p:nvPr/>
        </p:nvSpPr>
        <p:spPr>
          <a:xfrm>
            <a:off x="1051560" y="3867912"/>
            <a:ext cx="5486400" cy="228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Build your own research skill</a:t>
            </a:r>
            <a:endParaRPr lang="en-US" sz="1200" dirty="0"/>
          </a:p>
        </p:txBody>
      </p:sp>
      <p:sp>
        <p:nvSpPr>
          <p:cNvPr id="19" name="Shape 17"/>
          <p:cNvSpPr/>
          <p:nvPr/>
        </p:nvSpPr>
        <p:spPr>
          <a:xfrm>
            <a:off x="731520" y="4251960"/>
            <a:ext cx="109728" cy="457200"/>
          </a:xfrm>
          <a:prstGeom prst="rect">
            <a:avLst/>
          </a:prstGeom>
          <a:solidFill>
            <a:srgbClr val="FBBF24"/>
          </a:solidFill>
          <a:ln/>
        </p:spPr>
        <p:txBody>
          <a:bodyPr/>
          <a:lstStyle/>
          <a:p>
            <a:endParaRPr lang="en-US"/>
          </a:p>
        </p:txBody>
      </p:sp>
      <p:sp>
        <p:nvSpPr>
          <p:cNvPr id="20" name="Text 18"/>
          <p:cNvSpPr/>
          <p:nvPr/>
        </p:nvSpPr>
        <p:spPr>
          <a:xfrm>
            <a:off x="1051560" y="4233672"/>
            <a:ext cx="3657600" cy="274320"/>
          </a:xfrm>
          <a:prstGeom prst="rect">
            <a:avLst/>
          </a:prstGeom>
          <a:noFill/>
          <a:ln/>
        </p:spPr>
        <p:txBody>
          <a:bodyPr wrap="square" lIns="0" tIns="0" rIns="0" bIns="0"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Wrap-Up &amp; Next Steps</a:t>
            </a:r>
            <a:endParaRPr lang="en-US" sz="1600" dirty="0"/>
          </a:p>
        </p:txBody>
      </p:sp>
      <p:sp>
        <p:nvSpPr>
          <p:cNvPr id="21" name="Text 19"/>
          <p:cNvSpPr/>
          <p:nvPr/>
        </p:nvSpPr>
        <p:spPr>
          <a:xfrm>
            <a:off x="1051560" y="4489704"/>
            <a:ext cx="5486400" cy="228600"/>
          </a:xfrm>
          <a:prstGeom prst="rect">
            <a:avLst/>
          </a:prstGeom>
          <a:noFill/>
          <a:ln/>
        </p:spPr>
        <p:txBody>
          <a:bodyPr wrap="square" lIns="0" tIns="0" rIns="0" bIns="0" rtlCol="0" anchor="ctr"/>
          <a:lstStyle/>
          <a:p>
            <a:pPr marL="0" indent="0">
              <a:buNone/>
            </a:pPr>
            <a:r>
              <a:rPr lang="en-US" sz="1200" dirty="0">
                <a:solidFill>
                  <a:srgbClr val="4A5568"/>
                </a:solidFill>
                <a:latin typeface="Calibri" pitchFamily="34" charset="0"/>
                <a:ea typeface="Calibri" pitchFamily="34" charset="-122"/>
                <a:cs typeface="Calibri" pitchFamily="34" charset="-120"/>
              </a:rPr>
              <a:t>Resources, Q&amp;A, sharing</a:t>
            </a:r>
            <a:endParaRPr lang="en-US" sz="1200" dirty="0"/>
          </a:p>
        </p:txBody>
      </p:sp>
      <p:sp>
        <p:nvSpPr>
          <p:cNvPr id="22" name="Text 20"/>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3" name="Text 21"/>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The Evolution of AI Customization</a:t>
            </a:r>
            <a:endParaRPr lang="en-US" sz="2800" dirty="0"/>
          </a:p>
        </p:txBody>
      </p:sp>
      <p:sp>
        <p:nvSpPr>
          <p:cNvPr id="4" name="Text 2"/>
          <p:cNvSpPr/>
          <p:nvPr/>
        </p:nvSpPr>
        <p:spPr>
          <a:xfrm>
            <a:off x="731520" y="822960"/>
            <a:ext cx="7680960" cy="320040"/>
          </a:xfrm>
          <a:prstGeom prst="rect">
            <a:avLst/>
          </a:prstGeom>
          <a:noFill/>
          <a:ln/>
        </p:spPr>
        <p:txBody>
          <a:bodyPr wrap="square" rtlCol="0" anchor="ctr"/>
          <a:lstStyle/>
          <a:p>
            <a:pPr marL="0" indent="0">
              <a:buNone/>
            </a:pPr>
            <a:r>
              <a:rPr lang="en-US" sz="1300" i="1" dirty="0">
                <a:solidFill>
                  <a:srgbClr val="8892B0"/>
                </a:solidFill>
                <a:latin typeface="Calibri" pitchFamily="34" charset="0"/>
                <a:ea typeface="Calibri" pitchFamily="34" charset="-122"/>
                <a:cs typeface="Calibri" pitchFamily="34" charset="-120"/>
              </a:rPr>
              <a:t>How we got from general chat to domain-specific AI tools</a:t>
            </a:r>
            <a:endParaRPr lang="en-US" sz="1300" dirty="0"/>
          </a:p>
        </p:txBody>
      </p:sp>
      <p:sp>
        <p:nvSpPr>
          <p:cNvPr id="5" name="Shape 3"/>
          <p:cNvSpPr/>
          <p:nvPr/>
        </p:nvSpPr>
        <p:spPr>
          <a:xfrm>
            <a:off x="1371600" y="1508760"/>
            <a:ext cx="6583680" cy="0"/>
          </a:xfrm>
          <a:prstGeom prst="line">
            <a:avLst/>
          </a:prstGeom>
          <a:noFill/>
          <a:ln w="25400">
            <a:solidFill>
              <a:srgbClr val="2F3558"/>
            </a:solidFill>
            <a:prstDash val="dash"/>
          </a:ln>
        </p:spPr>
        <p:txBody>
          <a:bodyPr/>
          <a:lstStyle/>
          <a:p>
            <a:endParaRPr lang="en-US"/>
          </a:p>
        </p:txBody>
      </p:sp>
      <p:sp>
        <p:nvSpPr>
          <p:cNvPr id="6" name="Shape 4"/>
          <p:cNvSpPr/>
          <p:nvPr/>
        </p:nvSpPr>
        <p:spPr>
          <a:xfrm>
            <a:off x="914400" y="1280160"/>
            <a:ext cx="457200" cy="457200"/>
          </a:xfrm>
          <a:prstGeom prst="ellipse">
            <a:avLst/>
          </a:prstGeom>
          <a:solidFill>
            <a:srgbClr val="8892B0"/>
          </a:solidFill>
          <a:ln/>
        </p:spPr>
        <p:txBody>
          <a:bodyPr/>
          <a:lstStyle/>
          <a:p>
            <a:endParaRPr lang="en-US"/>
          </a:p>
        </p:txBody>
      </p:sp>
      <p:sp>
        <p:nvSpPr>
          <p:cNvPr id="7" name="Text 5"/>
          <p:cNvSpPr/>
          <p:nvPr/>
        </p:nvSpPr>
        <p:spPr>
          <a:xfrm>
            <a:off x="914400" y="1280160"/>
            <a:ext cx="45720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8" name="Shape 6"/>
          <p:cNvSpPr/>
          <p:nvPr/>
        </p:nvSpPr>
        <p:spPr>
          <a:xfrm>
            <a:off x="320040" y="1920240"/>
            <a:ext cx="1920240" cy="27432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9" name="Shape 7"/>
          <p:cNvSpPr/>
          <p:nvPr/>
        </p:nvSpPr>
        <p:spPr>
          <a:xfrm>
            <a:off x="320040" y="1920240"/>
            <a:ext cx="1920240" cy="54864"/>
          </a:xfrm>
          <a:prstGeom prst="rect">
            <a:avLst/>
          </a:prstGeom>
          <a:solidFill>
            <a:srgbClr val="8892B0"/>
          </a:solidFill>
          <a:ln/>
        </p:spPr>
        <p:txBody>
          <a:bodyPr/>
          <a:lstStyle/>
          <a:p>
            <a:endParaRPr lang="en-US"/>
          </a:p>
        </p:txBody>
      </p:sp>
      <p:sp>
        <p:nvSpPr>
          <p:cNvPr id="10" name="Text 8"/>
          <p:cNvSpPr/>
          <p:nvPr/>
        </p:nvSpPr>
        <p:spPr>
          <a:xfrm>
            <a:off x="411480" y="2057400"/>
            <a:ext cx="1737360" cy="685800"/>
          </a:xfrm>
          <a:prstGeom prst="rect">
            <a:avLst/>
          </a:prstGeom>
          <a:noFill/>
          <a:ln/>
        </p:spPr>
        <p:txBody>
          <a:bodyPr wrap="square" rtlCol="0" anchor="t"/>
          <a:lstStyle/>
          <a:p>
            <a:pPr marL="0" indent="0" algn="ctr">
              <a:buNone/>
            </a:pPr>
            <a:r>
              <a:rPr lang="en-US" sz="1300" b="1" dirty="0">
                <a:solidFill>
                  <a:srgbClr val="FFFFFF"/>
                </a:solidFill>
                <a:latin typeface="Georgia" pitchFamily="34" charset="0"/>
                <a:ea typeface="Georgia" pitchFamily="34" charset="-122"/>
                <a:cs typeface="Georgia" pitchFamily="34" charset="-120"/>
              </a:rPr>
              <a:t>ChatGPT</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Out of the Box</a:t>
            </a:r>
            <a:endParaRPr lang="en-US" sz="1300" dirty="0"/>
          </a:p>
        </p:txBody>
      </p:sp>
      <p:sp>
        <p:nvSpPr>
          <p:cNvPr id="11" name="Text 9"/>
          <p:cNvSpPr/>
          <p:nvPr/>
        </p:nvSpPr>
        <p:spPr>
          <a:xfrm>
            <a:off x="411480" y="2788920"/>
            <a:ext cx="228600" cy="228600"/>
          </a:xfrm>
          <a:prstGeom prst="rect">
            <a:avLst/>
          </a:prstGeom>
          <a:noFill/>
          <a:ln/>
        </p:spPr>
        <p:txBody>
          <a:bodyPr wrap="square" rtlCol="0" anchor="ctr"/>
          <a:lstStyle/>
          <a:p>
            <a:pPr marL="0" indent="0">
              <a:buNone/>
            </a:pPr>
            <a:r>
              <a:rPr lang="en-US" sz="1400" b="1" dirty="0">
                <a:solidFill>
                  <a:srgbClr val="10B981"/>
                </a:solidFill>
                <a:latin typeface="Georgia" pitchFamily="34" charset="0"/>
                <a:ea typeface="Georgia" pitchFamily="34" charset="-122"/>
                <a:cs typeface="Georgia" pitchFamily="34" charset="-120"/>
              </a:rPr>
              <a:t>+</a:t>
            </a:r>
            <a:endParaRPr lang="en-US" sz="1400" dirty="0"/>
          </a:p>
        </p:txBody>
      </p:sp>
      <p:sp>
        <p:nvSpPr>
          <p:cNvPr id="12" name="Text 10"/>
          <p:cNvSpPr/>
          <p:nvPr/>
        </p:nvSpPr>
        <p:spPr>
          <a:xfrm>
            <a:off x="594360" y="2788920"/>
            <a:ext cx="1508760" cy="45720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Easy to start, broad knowledge</a:t>
            </a:r>
            <a:endParaRPr lang="en-US" sz="1000" dirty="0"/>
          </a:p>
        </p:txBody>
      </p:sp>
      <p:sp>
        <p:nvSpPr>
          <p:cNvPr id="13" name="Text 11"/>
          <p:cNvSpPr/>
          <p:nvPr/>
        </p:nvSpPr>
        <p:spPr>
          <a:xfrm>
            <a:off x="411480" y="3337560"/>
            <a:ext cx="228600" cy="228600"/>
          </a:xfrm>
          <a:prstGeom prst="rect">
            <a:avLst/>
          </a:prstGeom>
          <a:noFill/>
          <a:ln/>
        </p:spPr>
        <p:txBody>
          <a:bodyPr wrap="square" rtlCol="0" anchor="ctr"/>
          <a:lstStyle/>
          <a:p>
            <a:pPr marL="0" indent="0">
              <a:buNone/>
            </a:pPr>
            <a:r>
              <a:rPr lang="en-US" sz="1400" b="1" dirty="0">
                <a:solidFill>
                  <a:srgbClr val="FF6B6B"/>
                </a:solidFill>
                <a:latin typeface="Georgia" pitchFamily="34" charset="0"/>
                <a:ea typeface="Georgia" pitchFamily="34" charset="-122"/>
                <a:cs typeface="Georgia" pitchFamily="34" charset="-120"/>
              </a:rPr>
              <a:t>–</a:t>
            </a:r>
            <a:endParaRPr lang="en-US" sz="1400" dirty="0"/>
          </a:p>
        </p:txBody>
      </p:sp>
      <p:sp>
        <p:nvSpPr>
          <p:cNvPr id="14" name="Text 12"/>
          <p:cNvSpPr/>
          <p:nvPr/>
        </p:nvSpPr>
        <p:spPr>
          <a:xfrm>
            <a:off x="594360" y="3337560"/>
            <a:ext cx="1508760" cy="502920"/>
          </a:xfrm>
          <a:prstGeom prst="rect">
            <a:avLst/>
          </a:prstGeom>
          <a:noFill/>
          <a:ln/>
        </p:spPr>
        <p:txBody>
          <a:bodyPr wrap="square" rtlCol="0" anchor="ctr"/>
          <a:lstStyle/>
          <a:p>
            <a:pPr marL="0" indent="0">
              <a:buNone/>
            </a:pPr>
            <a:r>
              <a:rPr lang="en-US" sz="1000" dirty="0">
                <a:solidFill>
                  <a:srgbClr val="8892B0"/>
                </a:solidFill>
                <a:latin typeface="Calibri" pitchFamily="34" charset="0"/>
                <a:ea typeface="Calibri" pitchFamily="34" charset="-122"/>
                <a:cs typeface="Calibri" pitchFamily="34" charset="-120"/>
              </a:rPr>
              <a:t>Generic, no memory, inconsistent</a:t>
            </a:r>
            <a:endParaRPr lang="en-US" sz="1000" dirty="0"/>
          </a:p>
        </p:txBody>
      </p:sp>
      <p:sp>
        <p:nvSpPr>
          <p:cNvPr id="15" name="Shape 13"/>
          <p:cNvSpPr/>
          <p:nvPr/>
        </p:nvSpPr>
        <p:spPr>
          <a:xfrm>
            <a:off x="3017520" y="1280160"/>
            <a:ext cx="457200" cy="457200"/>
          </a:xfrm>
          <a:prstGeom prst="ellipse">
            <a:avLst/>
          </a:prstGeom>
          <a:solidFill>
            <a:srgbClr val="FBBF24"/>
          </a:solidFill>
          <a:ln/>
        </p:spPr>
        <p:txBody>
          <a:bodyPr/>
          <a:lstStyle/>
          <a:p>
            <a:endParaRPr lang="en-US"/>
          </a:p>
        </p:txBody>
      </p:sp>
      <p:sp>
        <p:nvSpPr>
          <p:cNvPr id="16" name="Text 14"/>
          <p:cNvSpPr/>
          <p:nvPr/>
        </p:nvSpPr>
        <p:spPr>
          <a:xfrm>
            <a:off x="3017520" y="1280160"/>
            <a:ext cx="45720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7" name="Shape 15"/>
          <p:cNvSpPr/>
          <p:nvPr/>
        </p:nvSpPr>
        <p:spPr>
          <a:xfrm>
            <a:off x="2423160" y="1920240"/>
            <a:ext cx="1920240" cy="27432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8" name="Shape 16"/>
          <p:cNvSpPr/>
          <p:nvPr/>
        </p:nvSpPr>
        <p:spPr>
          <a:xfrm>
            <a:off x="2423160" y="1920240"/>
            <a:ext cx="1920240" cy="54864"/>
          </a:xfrm>
          <a:prstGeom prst="rect">
            <a:avLst/>
          </a:prstGeom>
          <a:solidFill>
            <a:srgbClr val="FBBF24"/>
          </a:solidFill>
          <a:ln/>
        </p:spPr>
        <p:txBody>
          <a:bodyPr/>
          <a:lstStyle/>
          <a:p>
            <a:endParaRPr lang="en-US"/>
          </a:p>
        </p:txBody>
      </p:sp>
      <p:sp>
        <p:nvSpPr>
          <p:cNvPr id="19" name="Text 17"/>
          <p:cNvSpPr/>
          <p:nvPr/>
        </p:nvSpPr>
        <p:spPr>
          <a:xfrm>
            <a:off x="2514600" y="2057400"/>
            <a:ext cx="1737360" cy="685800"/>
          </a:xfrm>
          <a:prstGeom prst="rect">
            <a:avLst/>
          </a:prstGeom>
          <a:noFill/>
          <a:ln/>
        </p:spPr>
        <p:txBody>
          <a:bodyPr wrap="square" rtlCol="0" anchor="t"/>
          <a:lstStyle/>
          <a:p>
            <a:pPr marL="0" indent="0" algn="ctr">
              <a:buNone/>
            </a:pPr>
            <a:r>
              <a:rPr lang="en-US" sz="1300" b="1" dirty="0">
                <a:solidFill>
                  <a:srgbClr val="FFFFFF"/>
                </a:solidFill>
                <a:latin typeface="Georgia" pitchFamily="34" charset="0"/>
                <a:ea typeface="Georgia" pitchFamily="34" charset="-122"/>
                <a:cs typeface="Georgia" pitchFamily="34" charset="-120"/>
              </a:rPr>
              <a:t>Prompt</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Engineering</a:t>
            </a:r>
            <a:endParaRPr lang="en-US" sz="1300" dirty="0"/>
          </a:p>
        </p:txBody>
      </p:sp>
      <p:sp>
        <p:nvSpPr>
          <p:cNvPr id="20" name="Text 18"/>
          <p:cNvSpPr/>
          <p:nvPr/>
        </p:nvSpPr>
        <p:spPr>
          <a:xfrm>
            <a:off x="2514600" y="2788920"/>
            <a:ext cx="228600" cy="228600"/>
          </a:xfrm>
          <a:prstGeom prst="rect">
            <a:avLst/>
          </a:prstGeom>
          <a:noFill/>
          <a:ln/>
        </p:spPr>
        <p:txBody>
          <a:bodyPr wrap="square" rtlCol="0" anchor="ctr"/>
          <a:lstStyle/>
          <a:p>
            <a:pPr marL="0" indent="0">
              <a:buNone/>
            </a:pPr>
            <a:r>
              <a:rPr lang="en-US" sz="1400" b="1" dirty="0">
                <a:solidFill>
                  <a:srgbClr val="10B981"/>
                </a:solidFill>
                <a:latin typeface="Georgia" pitchFamily="34" charset="0"/>
                <a:ea typeface="Georgia" pitchFamily="34" charset="-122"/>
                <a:cs typeface="Georgia" pitchFamily="34" charset="-120"/>
              </a:rPr>
              <a:t>+</a:t>
            </a:r>
            <a:endParaRPr lang="en-US" sz="1400" dirty="0"/>
          </a:p>
        </p:txBody>
      </p:sp>
      <p:sp>
        <p:nvSpPr>
          <p:cNvPr id="21" name="Text 19"/>
          <p:cNvSpPr/>
          <p:nvPr/>
        </p:nvSpPr>
        <p:spPr>
          <a:xfrm>
            <a:off x="2697480" y="2788920"/>
            <a:ext cx="1508760" cy="45720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Better outputs, repeatable patterns</a:t>
            </a:r>
            <a:endParaRPr lang="en-US" sz="1000" dirty="0"/>
          </a:p>
        </p:txBody>
      </p:sp>
      <p:sp>
        <p:nvSpPr>
          <p:cNvPr id="22" name="Text 20"/>
          <p:cNvSpPr/>
          <p:nvPr/>
        </p:nvSpPr>
        <p:spPr>
          <a:xfrm>
            <a:off x="2514600" y="3337560"/>
            <a:ext cx="228600" cy="228600"/>
          </a:xfrm>
          <a:prstGeom prst="rect">
            <a:avLst/>
          </a:prstGeom>
          <a:noFill/>
          <a:ln/>
        </p:spPr>
        <p:txBody>
          <a:bodyPr wrap="square" rtlCol="0" anchor="ctr"/>
          <a:lstStyle/>
          <a:p>
            <a:pPr marL="0" indent="0">
              <a:buNone/>
            </a:pPr>
            <a:r>
              <a:rPr lang="en-US" sz="1400" b="1" dirty="0">
                <a:solidFill>
                  <a:srgbClr val="FF6B6B"/>
                </a:solidFill>
                <a:latin typeface="Georgia" pitchFamily="34" charset="0"/>
                <a:ea typeface="Georgia" pitchFamily="34" charset="-122"/>
                <a:cs typeface="Georgia" pitchFamily="34" charset="-120"/>
              </a:rPr>
              <a:t>–</a:t>
            </a:r>
            <a:endParaRPr lang="en-US" sz="1400" dirty="0"/>
          </a:p>
        </p:txBody>
      </p:sp>
      <p:sp>
        <p:nvSpPr>
          <p:cNvPr id="23" name="Text 21"/>
          <p:cNvSpPr/>
          <p:nvPr/>
        </p:nvSpPr>
        <p:spPr>
          <a:xfrm>
            <a:off x="2697480" y="3337560"/>
            <a:ext cx="1508760" cy="502920"/>
          </a:xfrm>
          <a:prstGeom prst="rect">
            <a:avLst/>
          </a:prstGeom>
          <a:noFill/>
          <a:ln/>
        </p:spPr>
        <p:txBody>
          <a:bodyPr wrap="square" rtlCol="0" anchor="ctr"/>
          <a:lstStyle/>
          <a:p>
            <a:pPr marL="0" indent="0">
              <a:buNone/>
            </a:pPr>
            <a:r>
              <a:rPr lang="en-US" sz="1000" dirty="0">
                <a:solidFill>
                  <a:srgbClr val="8892B0"/>
                </a:solidFill>
                <a:latin typeface="Calibri" pitchFamily="34" charset="0"/>
                <a:ea typeface="Calibri" pitchFamily="34" charset="-122"/>
                <a:cs typeface="Calibri" pitchFamily="34" charset="-120"/>
              </a:rPr>
              <a:t>Copy-paste every session, fragile</a:t>
            </a:r>
            <a:endParaRPr lang="en-US" sz="1000" dirty="0"/>
          </a:p>
        </p:txBody>
      </p:sp>
      <p:sp>
        <p:nvSpPr>
          <p:cNvPr id="24" name="Shape 22"/>
          <p:cNvSpPr/>
          <p:nvPr/>
        </p:nvSpPr>
        <p:spPr>
          <a:xfrm>
            <a:off x="5120640" y="1302645"/>
            <a:ext cx="457200" cy="457200"/>
          </a:xfrm>
          <a:prstGeom prst="ellipse">
            <a:avLst/>
          </a:prstGeom>
          <a:solidFill>
            <a:srgbClr val="A78BFA"/>
          </a:solidFill>
          <a:ln/>
        </p:spPr>
        <p:txBody>
          <a:bodyPr/>
          <a:lstStyle/>
          <a:p>
            <a:endParaRPr lang="en-US"/>
          </a:p>
        </p:txBody>
      </p:sp>
      <p:sp>
        <p:nvSpPr>
          <p:cNvPr id="25" name="Text 23"/>
          <p:cNvSpPr/>
          <p:nvPr/>
        </p:nvSpPr>
        <p:spPr>
          <a:xfrm>
            <a:off x="5120640" y="1280160"/>
            <a:ext cx="45720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6" name="Shape 24"/>
          <p:cNvSpPr/>
          <p:nvPr/>
        </p:nvSpPr>
        <p:spPr>
          <a:xfrm>
            <a:off x="4526280" y="1920240"/>
            <a:ext cx="1920240" cy="27432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27" name="Shape 25"/>
          <p:cNvSpPr/>
          <p:nvPr/>
        </p:nvSpPr>
        <p:spPr>
          <a:xfrm>
            <a:off x="4526280" y="1920240"/>
            <a:ext cx="1920240" cy="54864"/>
          </a:xfrm>
          <a:prstGeom prst="rect">
            <a:avLst/>
          </a:prstGeom>
          <a:solidFill>
            <a:srgbClr val="A78BFA"/>
          </a:solidFill>
          <a:ln/>
        </p:spPr>
        <p:txBody>
          <a:bodyPr/>
          <a:lstStyle/>
          <a:p>
            <a:endParaRPr lang="en-US"/>
          </a:p>
        </p:txBody>
      </p:sp>
      <p:sp>
        <p:nvSpPr>
          <p:cNvPr id="28" name="Text 26"/>
          <p:cNvSpPr/>
          <p:nvPr/>
        </p:nvSpPr>
        <p:spPr>
          <a:xfrm>
            <a:off x="4617720" y="2057400"/>
            <a:ext cx="1737360" cy="685800"/>
          </a:xfrm>
          <a:prstGeom prst="rect">
            <a:avLst/>
          </a:prstGeom>
          <a:noFill/>
          <a:ln/>
        </p:spPr>
        <p:txBody>
          <a:bodyPr wrap="square" rtlCol="0" anchor="t"/>
          <a:lstStyle/>
          <a:p>
            <a:pPr marL="0" indent="0" algn="ctr">
              <a:buNone/>
            </a:pPr>
            <a:r>
              <a:rPr lang="en-US" sz="1300" b="1" dirty="0">
                <a:solidFill>
                  <a:srgbClr val="FFFFFF"/>
                </a:solidFill>
                <a:latin typeface="Georgia" pitchFamily="34" charset="0"/>
                <a:ea typeface="Georgia" pitchFamily="34" charset="-122"/>
                <a:cs typeface="Georgia" pitchFamily="34" charset="-120"/>
              </a:rPr>
              <a:t>Custom</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GPTs</a:t>
            </a:r>
            <a:endParaRPr lang="en-US" sz="1300" dirty="0"/>
          </a:p>
        </p:txBody>
      </p:sp>
      <p:sp>
        <p:nvSpPr>
          <p:cNvPr id="29" name="Text 27"/>
          <p:cNvSpPr/>
          <p:nvPr/>
        </p:nvSpPr>
        <p:spPr>
          <a:xfrm>
            <a:off x="4617720" y="2788920"/>
            <a:ext cx="228600" cy="228600"/>
          </a:xfrm>
          <a:prstGeom prst="rect">
            <a:avLst/>
          </a:prstGeom>
          <a:noFill/>
          <a:ln/>
        </p:spPr>
        <p:txBody>
          <a:bodyPr wrap="square" rtlCol="0" anchor="ctr"/>
          <a:lstStyle/>
          <a:p>
            <a:pPr marL="0" indent="0">
              <a:buNone/>
            </a:pPr>
            <a:r>
              <a:rPr lang="en-US" sz="1400" b="1" dirty="0">
                <a:solidFill>
                  <a:srgbClr val="10B981"/>
                </a:solidFill>
                <a:latin typeface="Georgia" pitchFamily="34" charset="0"/>
                <a:ea typeface="Georgia" pitchFamily="34" charset="-122"/>
                <a:cs typeface="Georgia" pitchFamily="34" charset="-120"/>
              </a:rPr>
              <a:t>+</a:t>
            </a:r>
            <a:endParaRPr lang="en-US" sz="1400" dirty="0"/>
          </a:p>
        </p:txBody>
      </p:sp>
      <p:sp>
        <p:nvSpPr>
          <p:cNvPr id="30" name="Text 28"/>
          <p:cNvSpPr/>
          <p:nvPr/>
        </p:nvSpPr>
        <p:spPr>
          <a:xfrm>
            <a:off x="4800600" y="2788920"/>
            <a:ext cx="1508760" cy="45720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Persistent instructions, shareable</a:t>
            </a:r>
            <a:endParaRPr lang="en-US" sz="1000" dirty="0"/>
          </a:p>
        </p:txBody>
      </p:sp>
      <p:sp>
        <p:nvSpPr>
          <p:cNvPr id="31" name="Text 29"/>
          <p:cNvSpPr/>
          <p:nvPr/>
        </p:nvSpPr>
        <p:spPr>
          <a:xfrm>
            <a:off x="4617720" y="3337560"/>
            <a:ext cx="228600" cy="228600"/>
          </a:xfrm>
          <a:prstGeom prst="rect">
            <a:avLst/>
          </a:prstGeom>
          <a:noFill/>
          <a:ln/>
        </p:spPr>
        <p:txBody>
          <a:bodyPr wrap="square" rtlCol="0" anchor="ctr"/>
          <a:lstStyle/>
          <a:p>
            <a:pPr marL="0" indent="0">
              <a:buNone/>
            </a:pPr>
            <a:r>
              <a:rPr lang="en-US" sz="1400" b="1" dirty="0">
                <a:solidFill>
                  <a:srgbClr val="FF6B6B"/>
                </a:solidFill>
                <a:latin typeface="Georgia" pitchFamily="34" charset="0"/>
                <a:ea typeface="Georgia" pitchFamily="34" charset="-122"/>
                <a:cs typeface="Georgia" pitchFamily="34" charset="-120"/>
              </a:rPr>
              <a:t>–</a:t>
            </a:r>
            <a:endParaRPr lang="en-US" sz="1400" dirty="0"/>
          </a:p>
        </p:txBody>
      </p:sp>
      <p:sp>
        <p:nvSpPr>
          <p:cNvPr id="32" name="Text 30"/>
          <p:cNvSpPr/>
          <p:nvPr/>
        </p:nvSpPr>
        <p:spPr>
          <a:xfrm>
            <a:off x="4800600" y="3337560"/>
            <a:ext cx="1508760" cy="502920"/>
          </a:xfrm>
          <a:prstGeom prst="rect">
            <a:avLst/>
          </a:prstGeom>
          <a:noFill/>
          <a:ln/>
        </p:spPr>
        <p:txBody>
          <a:bodyPr wrap="square" rtlCol="0" anchor="ctr"/>
          <a:lstStyle/>
          <a:p>
            <a:pPr marL="0" indent="0">
              <a:buNone/>
            </a:pPr>
            <a:r>
              <a:rPr lang="en-US" sz="1000" dirty="0">
                <a:solidFill>
                  <a:srgbClr val="8892B0"/>
                </a:solidFill>
                <a:latin typeface="Calibri" pitchFamily="34" charset="0"/>
                <a:ea typeface="Calibri" pitchFamily="34" charset="-122"/>
                <a:cs typeface="Calibri" pitchFamily="34" charset="-120"/>
              </a:rPr>
              <a:t>Limited tools, no file access, walled garden</a:t>
            </a:r>
            <a:endParaRPr lang="en-US" sz="1000" dirty="0"/>
          </a:p>
        </p:txBody>
      </p:sp>
      <p:sp>
        <p:nvSpPr>
          <p:cNvPr id="33" name="Shape 31"/>
          <p:cNvSpPr/>
          <p:nvPr/>
        </p:nvSpPr>
        <p:spPr>
          <a:xfrm>
            <a:off x="7223760" y="1303020"/>
            <a:ext cx="457200" cy="457200"/>
          </a:xfrm>
          <a:prstGeom prst="ellipse">
            <a:avLst/>
          </a:prstGeom>
          <a:solidFill>
            <a:srgbClr val="00B4D8"/>
          </a:solidFill>
          <a:ln/>
        </p:spPr>
        <p:txBody>
          <a:bodyPr/>
          <a:lstStyle/>
          <a:p>
            <a:endParaRPr lang="en-US"/>
          </a:p>
        </p:txBody>
      </p:sp>
      <p:sp>
        <p:nvSpPr>
          <p:cNvPr id="34" name="Text 32"/>
          <p:cNvSpPr/>
          <p:nvPr/>
        </p:nvSpPr>
        <p:spPr>
          <a:xfrm>
            <a:off x="7223760" y="1280160"/>
            <a:ext cx="45720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35" name="Shape 33"/>
          <p:cNvSpPr/>
          <p:nvPr/>
        </p:nvSpPr>
        <p:spPr>
          <a:xfrm>
            <a:off x="6629400" y="1920240"/>
            <a:ext cx="1920240" cy="2743200"/>
          </a:xfrm>
          <a:prstGeom prst="rect">
            <a:avLst/>
          </a:prstGeom>
          <a:solidFill>
            <a:srgbClr val="2F3558"/>
          </a:solidFill>
          <a:ln/>
          <a:effectLst>
            <a:outerShdw blurRad="101600" dist="38100" dir="8100000" algn="bl" rotWithShape="0">
              <a:srgbClr val="000000">
                <a:alpha val="18000"/>
              </a:srgbClr>
            </a:outerShdw>
          </a:effectLst>
        </p:spPr>
        <p:txBody>
          <a:bodyPr/>
          <a:lstStyle/>
          <a:p>
            <a:endParaRPr lang="en-US"/>
          </a:p>
        </p:txBody>
      </p:sp>
      <p:sp>
        <p:nvSpPr>
          <p:cNvPr id="36" name="Shape 34"/>
          <p:cNvSpPr/>
          <p:nvPr/>
        </p:nvSpPr>
        <p:spPr>
          <a:xfrm>
            <a:off x="6629400" y="1920240"/>
            <a:ext cx="1920240" cy="54864"/>
          </a:xfrm>
          <a:prstGeom prst="rect">
            <a:avLst/>
          </a:prstGeom>
          <a:solidFill>
            <a:srgbClr val="00B4D8"/>
          </a:solidFill>
          <a:ln/>
        </p:spPr>
        <p:txBody>
          <a:bodyPr/>
          <a:lstStyle/>
          <a:p>
            <a:endParaRPr lang="en-US"/>
          </a:p>
        </p:txBody>
      </p:sp>
      <p:sp>
        <p:nvSpPr>
          <p:cNvPr id="37" name="Text 35"/>
          <p:cNvSpPr/>
          <p:nvPr/>
        </p:nvSpPr>
        <p:spPr>
          <a:xfrm>
            <a:off x="6720840" y="2057400"/>
            <a:ext cx="1737360" cy="685800"/>
          </a:xfrm>
          <a:prstGeom prst="rect">
            <a:avLst/>
          </a:prstGeom>
          <a:noFill/>
          <a:ln/>
        </p:spPr>
        <p:txBody>
          <a:bodyPr wrap="square" rtlCol="0" anchor="t"/>
          <a:lstStyle/>
          <a:p>
            <a:pPr marL="0" indent="0" algn="ctr">
              <a:buNone/>
            </a:pPr>
            <a:r>
              <a:rPr lang="en-US" sz="1300" b="1" dirty="0">
                <a:solidFill>
                  <a:srgbClr val="FFFFFF"/>
                </a:solidFill>
                <a:latin typeface="Georgia" pitchFamily="34" charset="0"/>
                <a:ea typeface="Georgia" pitchFamily="34" charset="-122"/>
                <a:cs typeface="Georgia" pitchFamily="34" charset="-120"/>
              </a:rPr>
              <a:t>Agent Skills</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on Claude Code</a:t>
            </a:r>
            <a:endParaRPr lang="en-US" sz="1300" dirty="0"/>
          </a:p>
        </p:txBody>
      </p:sp>
      <p:sp>
        <p:nvSpPr>
          <p:cNvPr id="38" name="Text 36"/>
          <p:cNvSpPr/>
          <p:nvPr/>
        </p:nvSpPr>
        <p:spPr>
          <a:xfrm>
            <a:off x="6720840" y="2788920"/>
            <a:ext cx="228600" cy="228600"/>
          </a:xfrm>
          <a:prstGeom prst="rect">
            <a:avLst/>
          </a:prstGeom>
          <a:noFill/>
          <a:ln/>
        </p:spPr>
        <p:txBody>
          <a:bodyPr wrap="square" rtlCol="0" anchor="ctr"/>
          <a:lstStyle/>
          <a:p>
            <a:pPr marL="0" indent="0">
              <a:buNone/>
            </a:pPr>
            <a:r>
              <a:rPr lang="en-US" sz="1400" b="1" dirty="0">
                <a:solidFill>
                  <a:srgbClr val="10B981"/>
                </a:solidFill>
                <a:latin typeface="Georgia" pitchFamily="34" charset="0"/>
                <a:ea typeface="Georgia" pitchFamily="34" charset="-122"/>
                <a:cs typeface="Georgia" pitchFamily="34" charset="-120"/>
              </a:rPr>
              <a:t>+</a:t>
            </a:r>
            <a:endParaRPr lang="en-US" sz="1400" dirty="0"/>
          </a:p>
        </p:txBody>
      </p:sp>
      <p:sp>
        <p:nvSpPr>
          <p:cNvPr id="39" name="Text 37"/>
          <p:cNvSpPr/>
          <p:nvPr/>
        </p:nvSpPr>
        <p:spPr>
          <a:xfrm>
            <a:off x="6903720" y="2788920"/>
            <a:ext cx="1508760" cy="82296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Full tool access, open standard, version-controlled, composable with MCP</a:t>
            </a:r>
            <a:endParaRPr lang="en-US" sz="1000" dirty="0"/>
          </a:p>
        </p:txBody>
      </p:sp>
      <p:sp>
        <p:nvSpPr>
          <p:cNvPr id="40" name="Text 38"/>
          <p:cNvSpPr/>
          <p:nvPr/>
        </p:nvSpPr>
        <p:spPr>
          <a:xfrm>
            <a:off x="6537960" y="914400"/>
            <a:ext cx="2194560" cy="320040"/>
          </a:xfrm>
          <a:prstGeom prst="rect">
            <a:avLst/>
          </a:prstGeom>
          <a:noFill/>
          <a:ln/>
        </p:spPr>
        <p:txBody>
          <a:bodyPr wrap="square"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  Where we’re going today</a:t>
            </a:r>
            <a:endParaRPr lang="en-US" sz="1100" dirty="0"/>
          </a:p>
        </p:txBody>
      </p:sp>
      <p:sp>
        <p:nvSpPr>
          <p:cNvPr id="41" name="Text 39"/>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42" name="Text 40"/>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The AI Productivity Gap</a:t>
            </a:r>
            <a:endParaRPr lang="en-US" sz="3000" dirty="0"/>
          </a:p>
        </p:txBody>
      </p:sp>
      <p:sp>
        <p:nvSpPr>
          <p:cNvPr id="4" name="Shape 2"/>
          <p:cNvSpPr/>
          <p:nvPr/>
        </p:nvSpPr>
        <p:spPr>
          <a:xfrm>
            <a:off x="548640" y="1188720"/>
            <a:ext cx="3794760" cy="310896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731520" y="1280160"/>
            <a:ext cx="3474720" cy="457200"/>
          </a:xfrm>
          <a:prstGeom prst="rect">
            <a:avLst/>
          </a:prstGeom>
          <a:noFill/>
          <a:ln/>
        </p:spPr>
        <p:txBody>
          <a:bodyPr wrap="square" rtlCol="0" anchor="ctr"/>
          <a:lstStyle/>
          <a:p>
            <a:pPr marL="0" indent="0">
              <a:buNone/>
            </a:pPr>
            <a:r>
              <a:rPr lang="en-US" sz="1800" b="1" dirty="0">
                <a:solidFill>
                  <a:srgbClr val="FF6B6B"/>
                </a:solidFill>
                <a:latin typeface="Georgia" pitchFamily="34" charset="0"/>
                <a:ea typeface="Georgia" pitchFamily="34" charset="-122"/>
                <a:cs typeface="Georgia" pitchFamily="34" charset="-120"/>
              </a:rPr>
              <a:t>Using General AI</a:t>
            </a:r>
            <a:endParaRPr lang="en-US" sz="1800" dirty="0"/>
          </a:p>
        </p:txBody>
      </p:sp>
      <p:sp>
        <p:nvSpPr>
          <p:cNvPr id="6" name="Text 4"/>
          <p:cNvSpPr/>
          <p:nvPr/>
        </p:nvSpPr>
        <p:spPr>
          <a:xfrm>
            <a:off x="731520" y="1828800"/>
            <a:ext cx="3474720" cy="2286000"/>
          </a:xfrm>
          <a:prstGeom prst="rect">
            <a:avLst/>
          </a:prstGeom>
          <a:noFill/>
          <a:ln/>
        </p:spPr>
        <p:txBody>
          <a:bodyPr wrap="square" rtlCol="0" anchor="ctr"/>
          <a:lstStyle/>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Re-explain your domain every session</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Copy-paste the same instructions repeatedly</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Inconsistent output quality</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No memory of your preferences</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Generic responses, not field-specific</a:t>
            </a:r>
            <a:endParaRPr lang="en-US" sz="1300" dirty="0"/>
          </a:p>
        </p:txBody>
      </p:sp>
      <p:sp>
        <p:nvSpPr>
          <p:cNvPr id="7" name="Shape 5"/>
          <p:cNvSpPr/>
          <p:nvPr/>
        </p:nvSpPr>
        <p:spPr>
          <a:xfrm>
            <a:off x="4800600" y="1188720"/>
            <a:ext cx="3794760" cy="310896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8" name="Text 6"/>
          <p:cNvSpPr/>
          <p:nvPr/>
        </p:nvSpPr>
        <p:spPr>
          <a:xfrm>
            <a:off x="4983480" y="1280160"/>
            <a:ext cx="3474720" cy="457200"/>
          </a:xfrm>
          <a:prstGeom prst="rect">
            <a:avLst/>
          </a:prstGeom>
          <a:noFill/>
          <a:ln/>
        </p:spPr>
        <p:txBody>
          <a:bodyPr wrap="square" rtlCol="0" anchor="ctr"/>
          <a:lstStyle/>
          <a:p>
            <a:pPr marL="0" indent="0">
              <a:buNone/>
            </a:pPr>
            <a:r>
              <a:rPr lang="en-US" sz="1800" b="1" dirty="0">
                <a:solidFill>
                  <a:srgbClr val="10B981"/>
                </a:solidFill>
                <a:latin typeface="Georgia" pitchFamily="34" charset="0"/>
                <a:ea typeface="Georgia" pitchFamily="34" charset="-122"/>
                <a:cs typeface="Georgia" pitchFamily="34" charset="-120"/>
              </a:rPr>
              <a:t>Building Agent Skills</a:t>
            </a:r>
            <a:endParaRPr lang="en-US" sz="1800" dirty="0"/>
          </a:p>
        </p:txBody>
      </p:sp>
      <p:sp>
        <p:nvSpPr>
          <p:cNvPr id="9" name="Text 7"/>
          <p:cNvSpPr/>
          <p:nvPr/>
        </p:nvSpPr>
        <p:spPr>
          <a:xfrm>
            <a:off x="4983480" y="1828800"/>
            <a:ext cx="3474720" cy="2286000"/>
          </a:xfrm>
          <a:prstGeom prst="rect">
            <a:avLst/>
          </a:prstGeom>
          <a:noFill/>
          <a:ln/>
        </p:spPr>
        <p:txBody>
          <a:bodyPr wrap="square" rtlCol="0" anchor="ctr"/>
          <a:lstStyle/>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Encode domain knowledge once</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Consistent, repeatable workflows</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Field-specific taxonomies &amp; methods</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Shareable with your lab or department</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AI becomes a true research partner</a:t>
            </a:r>
            <a:endParaRPr lang="en-US" sz="1300" dirty="0"/>
          </a:p>
        </p:txBody>
      </p:sp>
      <p:sp>
        <p:nvSpPr>
          <p:cNvPr id="10" name="Text 8"/>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11" name="Text 9"/>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What Are Agent Skills?</a:t>
            </a:r>
            <a:endParaRPr lang="en-US" sz="3000" dirty="0"/>
          </a:p>
        </p:txBody>
      </p:sp>
      <p:sp>
        <p:nvSpPr>
          <p:cNvPr id="4" name="Text 2"/>
          <p:cNvSpPr/>
          <p:nvPr/>
        </p:nvSpPr>
        <p:spPr>
          <a:xfrm>
            <a:off x="731520" y="1005840"/>
            <a:ext cx="7680960" cy="548640"/>
          </a:xfrm>
          <a:prstGeom prst="rect">
            <a:avLst/>
          </a:prstGeom>
          <a:noFill/>
          <a:ln/>
        </p:spPr>
        <p:txBody>
          <a:bodyPr wrap="square" rtlCol="0" anchor="ctr"/>
          <a:lstStyle/>
          <a:p>
            <a:pPr marL="0" indent="0">
              <a:buNone/>
            </a:pPr>
            <a:r>
              <a:rPr lang="en-US" sz="1500" i="1" dirty="0">
                <a:solidFill>
                  <a:srgbClr val="4A5568"/>
                </a:solidFill>
                <a:latin typeface="Calibri" pitchFamily="34" charset="0"/>
                <a:ea typeface="Calibri" pitchFamily="34" charset="-122"/>
                <a:cs typeface="Calibri" pitchFamily="34" charset="-120"/>
              </a:rPr>
              <a:t>A skill is a set of instructions — packaged as a simple folder — that teaches Claude how to handle specific tasks or workflows. The recipe to the kitchen.</a:t>
            </a:r>
            <a:endParaRPr lang="en-US" sz="1500" dirty="0"/>
          </a:p>
        </p:txBody>
      </p:sp>
      <p:sp>
        <p:nvSpPr>
          <p:cNvPr id="5" name="Shape 3"/>
          <p:cNvSpPr/>
          <p:nvPr/>
        </p:nvSpPr>
        <p:spPr>
          <a:xfrm>
            <a:off x="548640" y="1737360"/>
            <a:ext cx="1920240" cy="25603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548640" y="1737360"/>
            <a:ext cx="1920240" cy="54864"/>
          </a:xfrm>
          <a:prstGeom prst="rect">
            <a:avLst/>
          </a:prstGeom>
          <a:solidFill>
            <a:srgbClr val="00B4D8"/>
          </a:solidFill>
          <a:ln/>
        </p:spPr>
        <p:txBody>
          <a:bodyPr/>
          <a:lstStyle/>
          <a:p>
            <a:endParaRPr lang="en-US"/>
          </a:p>
        </p:txBody>
      </p:sp>
      <p:sp>
        <p:nvSpPr>
          <p:cNvPr id="7" name="Text 5"/>
          <p:cNvSpPr/>
          <p:nvPr/>
        </p:nvSpPr>
        <p:spPr>
          <a:xfrm>
            <a:off x="548640" y="1920240"/>
            <a:ext cx="192024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8" name="Text 6"/>
          <p:cNvSpPr/>
          <p:nvPr/>
        </p:nvSpPr>
        <p:spPr>
          <a:xfrm>
            <a:off x="685800" y="2468880"/>
            <a:ext cx="1645920" cy="365760"/>
          </a:xfrm>
          <a:prstGeom prst="rect">
            <a:avLst/>
          </a:prstGeom>
          <a:noFill/>
          <a:ln/>
        </p:spPr>
        <p:txBody>
          <a:bodyPr wrap="square" rtlCol="0" anchor="ctr"/>
          <a:lstStyle/>
          <a:p>
            <a:pPr marL="0" indent="0" algn="ctr">
              <a:buNone/>
            </a:pPr>
            <a:r>
              <a:rPr lang="en-US" sz="1400" b="1" dirty="0">
                <a:solidFill>
                  <a:srgbClr val="1A1F3D"/>
                </a:solidFill>
                <a:latin typeface="Georgia" pitchFamily="34" charset="0"/>
                <a:ea typeface="Georgia" pitchFamily="34" charset="-122"/>
                <a:cs typeface="Georgia" pitchFamily="34" charset="-120"/>
              </a:rPr>
              <a:t>Markdown Files</a:t>
            </a:r>
            <a:endParaRPr lang="en-US" sz="1400" dirty="0"/>
          </a:p>
        </p:txBody>
      </p:sp>
      <p:sp>
        <p:nvSpPr>
          <p:cNvPr id="9" name="Text 7"/>
          <p:cNvSpPr/>
          <p:nvPr/>
        </p:nvSpPr>
        <p:spPr>
          <a:xfrm>
            <a:off x="685800" y="2880360"/>
            <a:ext cx="1645920" cy="118872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Written in plain Markdown with YAML frontmatter — no coding required</a:t>
            </a:r>
            <a:endParaRPr lang="en-US" sz="1100" dirty="0"/>
          </a:p>
        </p:txBody>
      </p:sp>
      <p:sp>
        <p:nvSpPr>
          <p:cNvPr id="10" name="Shape 8"/>
          <p:cNvSpPr/>
          <p:nvPr/>
        </p:nvSpPr>
        <p:spPr>
          <a:xfrm>
            <a:off x="2651760" y="1737360"/>
            <a:ext cx="1920240" cy="25603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2651760" y="1737360"/>
            <a:ext cx="1920240" cy="54864"/>
          </a:xfrm>
          <a:prstGeom prst="rect">
            <a:avLst/>
          </a:prstGeom>
          <a:solidFill>
            <a:srgbClr val="00B4D8"/>
          </a:solidFill>
          <a:ln/>
        </p:spPr>
        <p:txBody>
          <a:bodyPr/>
          <a:lstStyle/>
          <a:p>
            <a:endParaRPr lang="en-US"/>
          </a:p>
        </p:txBody>
      </p:sp>
      <p:sp>
        <p:nvSpPr>
          <p:cNvPr id="12" name="Text 10"/>
          <p:cNvSpPr/>
          <p:nvPr/>
        </p:nvSpPr>
        <p:spPr>
          <a:xfrm>
            <a:off x="2651760" y="1920240"/>
            <a:ext cx="192024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3" name="Text 11"/>
          <p:cNvSpPr/>
          <p:nvPr/>
        </p:nvSpPr>
        <p:spPr>
          <a:xfrm>
            <a:off x="2788920" y="2468880"/>
            <a:ext cx="1645920" cy="365760"/>
          </a:xfrm>
          <a:prstGeom prst="rect">
            <a:avLst/>
          </a:prstGeom>
          <a:noFill/>
          <a:ln/>
        </p:spPr>
        <p:txBody>
          <a:bodyPr wrap="square" rtlCol="0" anchor="ctr"/>
          <a:lstStyle/>
          <a:p>
            <a:pPr marL="0" indent="0" algn="ctr">
              <a:buNone/>
            </a:pPr>
            <a:r>
              <a:rPr lang="en-US" sz="1400" b="1" dirty="0">
                <a:solidFill>
                  <a:srgbClr val="1A1F3D"/>
                </a:solidFill>
                <a:latin typeface="Georgia" pitchFamily="34" charset="0"/>
                <a:ea typeface="Georgia" pitchFamily="34" charset="-122"/>
                <a:cs typeface="Georgia" pitchFamily="34" charset="-120"/>
              </a:rPr>
              <a:t>Open Standard</a:t>
            </a:r>
            <a:endParaRPr lang="en-US" sz="1400" dirty="0"/>
          </a:p>
        </p:txBody>
      </p:sp>
      <p:sp>
        <p:nvSpPr>
          <p:cNvPr id="14" name="Text 12"/>
          <p:cNvSpPr/>
          <p:nvPr/>
        </p:nvSpPr>
        <p:spPr>
          <a:xfrm>
            <a:off x="2788920" y="2880360"/>
            <a:ext cx="1645920" cy="118872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Open standard (agentskills.io) — portable across Claude.ai, Claude Code, and the API</a:t>
            </a:r>
            <a:endParaRPr lang="en-US" sz="1100" dirty="0"/>
          </a:p>
        </p:txBody>
      </p:sp>
      <p:sp>
        <p:nvSpPr>
          <p:cNvPr id="15" name="Shape 13"/>
          <p:cNvSpPr/>
          <p:nvPr/>
        </p:nvSpPr>
        <p:spPr>
          <a:xfrm>
            <a:off x="4754880" y="1737360"/>
            <a:ext cx="1920240" cy="25603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4754880" y="1737360"/>
            <a:ext cx="1920240" cy="54864"/>
          </a:xfrm>
          <a:prstGeom prst="rect">
            <a:avLst/>
          </a:prstGeom>
          <a:solidFill>
            <a:srgbClr val="00B4D8"/>
          </a:solidFill>
          <a:ln/>
        </p:spPr>
        <p:txBody>
          <a:bodyPr/>
          <a:lstStyle/>
          <a:p>
            <a:endParaRPr lang="en-US"/>
          </a:p>
        </p:txBody>
      </p:sp>
      <p:sp>
        <p:nvSpPr>
          <p:cNvPr id="17" name="Text 15"/>
          <p:cNvSpPr/>
          <p:nvPr/>
        </p:nvSpPr>
        <p:spPr>
          <a:xfrm>
            <a:off x="4754880" y="1920240"/>
            <a:ext cx="192024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8" name="Text 16"/>
          <p:cNvSpPr/>
          <p:nvPr/>
        </p:nvSpPr>
        <p:spPr>
          <a:xfrm>
            <a:off x="4892040" y="2468880"/>
            <a:ext cx="1645920" cy="365760"/>
          </a:xfrm>
          <a:prstGeom prst="rect">
            <a:avLst/>
          </a:prstGeom>
          <a:noFill/>
          <a:ln/>
        </p:spPr>
        <p:txBody>
          <a:bodyPr wrap="square" rtlCol="0" anchor="ctr"/>
          <a:lstStyle/>
          <a:p>
            <a:pPr marL="0" indent="0" algn="ctr">
              <a:buNone/>
            </a:pPr>
            <a:r>
              <a:rPr lang="en-US" sz="1400" b="1" dirty="0">
                <a:solidFill>
                  <a:srgbClr val="1A1F3D"/>
                </a:solidFill>
                <a:latin typeface="Georgia" pitchFamily="34" charset="0"/>
                <a:ea typeface="Georgia" pitchFamily="34" charset="-122"/>
                <a:cs typeface="Georgia" pitchFamily="34" charset="-120"/>
              </a:rPr>
              <a:t>Slash Commands</a:t>
            </a:r>
            <a:endParaRPr lang="en-US" sz="1400" dirty="0"/>
          </a:p>
        </p:txBody>
      </p:sp>
      <p:sp>
        <p:nvSpPr>
          <p:cNvPr id="19" name="Text 17"/>
          <p:cNvSpPr/>
          <p:nvPr/>
        </p:nvSpPr>
        <p:spPr>
          <a:xfrm>
            <a:off x="4892040" y="2880360"/>
            <a:ext cx="1645920" cy="118872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Invoke directly or let Claude auto-load via progressive disclosure — three levels of context</a:t>
            </a:r>
            <a:endParaRPr lang="en-US" sz="1100" dirty="0"/>
          </a:p>
        </p:txBody>
      </p:sp>
      <p:sp>
        <p:nvSpPr>
          <p:cNvPr id="20" name="Shape 18"/>
          <p:cNvSpPr/>
          <p:nvPr/>
        </p:nvSpPr>
        <p:spPr>
          <a:xfrm>
            <a:off x="6858000" y="1737360"/>
            <a:ext cx="1920240" cy="25603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6858000" y="1737360"/>
            <a:ext cx="1920240" cy="54864"/>
          </a:xfrm>
          <a:prstGeom prst="rect">
            <a:avLst/>
          </a:prstGeom>
          <a:solidFill>
            <a:srgbClr val="00B4D8"/>
          </a:solidFill>
          <a:ln/>
        </p:spPr>
        <p:txBody>
          <a:bodyPr/>
          <a:lstStyle/>
          <a:p>
            <a:endParaRPr lang="en-US"/>
          </a:p>
        </p:txBody>
      </p:sp>
      <p:sp>
        <p:nvSpPr>
          <p:cNvPr id="22" name="Text 20"/>
          <p:cNvSpPr/>
          <p:nvPr/>
        </p:nvSpPr>
        <p:spPr>
          <a:xfrm>
            <a:off x="6858000" y="1920240"/>
            <a:ext cx="1920240" cy="54864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23" name="Text 21"/>
          <p:cNvSpPr/>
          <p:nvPr/>
        </p:nvSpPr>
        <p:spPr>
          <a:xfrm>
            <a:off x="6995160" y="2468880"/>
            <a:ext cx="1645920" cy="365760"/>
          </a:xfrm>
          <a:prstGeom prst="rect">
            <a:avLst/>
          </a:prstGeom>
          <a:noFill/>
          <a:ln/>
        </p:spPr>
        <p:txBody>
          <a:bodyPr wrap="square" rtlCol="0" anchor="ctr"/>
          <a:lstStyle/>
          <a:p>
            <a:pPr marL="0" indent="0" algn="ctr">
              <a:buNone/>
            </a:pPr>
            <a:r>
              <a:rPr lang="en-US" sz="1400" b="1" dirty="0">
                <a:solidFill>
                  <a:srgbClr val="1A1F3D"/>
                </a:solidFill>
                <a:latin typeface="Georgia" pitchFamily="34" charset="0"/>
                <a:ea typeface="Georgia" pitchFamily="34" charset="-122"/>
                <a:cs typeface="Georgia" pitchFamily="34" charset="-120"/>
              </a:rPr>
              <a:t>Shareable</a:t>
            </a:r>
            <a:endParaRPr lang="en-US" sz="1400" dirty="0"/>
          </a:p>
        </p:txBody>
      </p:sp>
      <p:sp>
        <p:nvSpPr>
          <p:cNvPr id="24" name="Text 22"/>
          <p:cNvSpPr/>
          <p:nvPr/>
        </p:nvSpPr>
        <p:spPr>
          <a:xfrm>
            <a:off x="6995160" y="2880360"/>
            <a:ext cx="1645920" cy="118872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Store in projects, share with teams, or distribute via plugins</a:t>
            </a:r>
            <a:endParaRPr lang="en-US" sz="1100" dirty="0"/>
          </a:p>
        </p:txBody>
      </p:sp>
      <p:sp>
        <p:nvSpPr>
          <p:cNvPr id="25" name="Text 23"/>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6" name="Text 24"/>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he Kitchen Analogy">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itle"/>
          <p:cNvSpPr/>
          <p:nvPr/>
        </p:nvSpPr>
        <p:spPr>
          <a:xfrm>
            <a:off x="731520" y="274320"/>
            <a:ext cx="7680960" cy="54864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The Kitchen Analogy</a:t>
            </a:r>
            <a:endParaRPr lang="en-US" sz="3000" dirty="0"/>
          </a:p>
        </p:txBody>
      </p:sp>
      <p:sp>
        <p:nvSpPr>
          <p:cNvPr id="4" name="Subtitle"/>
          <p:cNvSpPr/>
          <p:nvPr/>
        </p:nvSpPr>
        <p:spPr>
          <a:xfrm>
            <a:off x="731520" y="835920"/>
            <a:ext cx="7680960" cy="365760"/>
          </a:xfrm>
          <a:prstGeom prst="rect">
            <a:avLst/>
          </a:prstGeom>
          <a:noFill/>
          <a:ln/>
        </p:spPr>
        <p:txBody>
          <a:bodyPr wrap="square" rtlCol="0" anchor="ctr"/>
          <a:lstStyle/>
          <a:p>
            <a:pPr marL="0" indent="0">
              <a:buNone/>
            </a:pPr>
            <a:r>
              <a:rPr lang="en-US" sz="1500" i="1" dirty="0">
                <a:solidFill>
                  <a:srgbClr val="4A5568"/>
                </a:solidFill>
                <a:latin typeface="Calibri" pitchFamily="34" charset="0"/>
                <a:ea typeface="Calibri" pitchFamily="34" charset="-122"/>
                <a:cs typeface="Calibri" pitchFamily="34" charset="-120"/>
              </a:rPr>
              <a:t>Understanding how MCP and Skills work together</a:t>
            </a:r>
            <a:endParaRPr lang="en-US" sz="1500" dirty="0"/>
          </a:p>
        </p:txBody>
      </p:sp>
      <p:sp>
        <p:nvSpPr>
          <p:cNvPr id="5" name="MCPCardBG"/>
          <p:cNvSpPr/>
          <p:nvPr/>
        </p:nvSpPr>
        <p:spPr>
          <a:xfrm>
            <a:off x="548640" y="1418880"/>
            <a:ext cx="3838080" cy="2387877"/>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6" name="MCPAccent"/>
          <p:cNvSpPr/>
          <p:nvPr/>
        </p:nvSpPr>
        <p:spPr>
          <a:xfrm>
            <a:off x="548640" y="1418880"/>
            <a:ext cx="3838080" cy="54864"/>
          </a:xfrm>
          <a:prstGeom prst="rect">
            <a:avLst/>
          </a:prstGeom>
          <a:solidFill>
            <a:srgbClr val="00B4D8"/>
          </a:solidFill>
          <a:ln/>
        </p:spPr>
        <p:txBody>
          <a:bodyPr/>
          <a:lstStyle/>
          <a:p>
            <a:endParaRPr lang="en-US"/>
          </a:p>
        </p:txBody>
      </p:sp>
      <p:sp>
        <p:nvSpPr>
          <p:cNvPr id="7" name="MCPHeader"/>
          <p:cNvSpPr/>
          <p:nvPr/>
        </p:nvSpPr>
        <p:spPr>
          <a:xfrm>
            <a:off x="548640" y="1500480"/>
            <a:ext cx="3838080" cy="411480"/>
          </a:xfrm>
          <a:prstGeom prst="rect">
            <a:avLst/>
          </a:prstGeom>
          <a:noFill/>
          <a:ln/>
        </p:spPr>
        <p:txBody>
          <a:bodyPr wrap="square" rtlCol="0" anchor="ctr"/>
          <a:lstStyle/>
          <a:p>
            <a:pPr marL="0" indent="0" algn="ctr">
              <a:buNone/>
            </a:pPr>
            <a:r>
              <a:rPr lang="en-US" sz="1300" b="1" dirty="0">
                <a:solidFill>
                  <a:srgbClr val="1A1F3D"/>
                </a:solidFill>
                <a:latin typeface="Georgia" pitchFamily="34" charset="0"/>
                <a:ea typeface="Georgia" pitchFamily="34" charset="-122"/>
                <a:cs typeface="Georgia" pitchFamily="34" charset="-120"/>
              </a:rPr>
              <a:t>MCP = The Professional Kitchen</a:t>
            </a:r>
            <a:endParaRPr lang="en-US" sz="1300" dirty="0"/>
          </a:p>
        </p:txBody>
      </p:sp>
      <p:sp>
        <p:nvSpPr>
          <p:cNvPr id="8" name="MCPContent"/>
          <p:cNvSpPr/>
          <p:nvPr/>
        </p:nvSpPr>
        <p:spPr>
          <a:xfrm>
            <a:off x="639120" y="1960560"/>
            <a:ext cx="3657120" cy="2441280"/>
          </a:xfrm>
          <a:prstGeom prst="rect">
            <a:avLst/>
          </a:prstGeom>
          <a:noFill/>
          <a:ln/>
        </p:spPr>
        <p:txBody>
          <a:bodyPr wrap="square" rtlCol="0" anchor="t"/>
          <a:lstStyle/>
          <a:p>
            <a:pPr marL="0" indent="0">
              <a:buChar char="•"/>
            </a:pPr>
            <a:r>
              <a:rPr lang="en-US" sz="1200" dirty="0">
                <a:solidFill>
                  <a:srgbClr val="4A5568"/>
                </a:solidFill>
                <a:latin typeface="Calibri" pitchFamily="34" charset="0"/>
                <a:ea typeface="Calibri" pitchFamily="34" charset="-122"/>
                <a:cs typeface="Calibri" pitchFamily="34" charset="-120"/>
              </a:rPr>
              <a:t>Provides tools, ingredients, and equipment</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Connects Claude to your services</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Integrates with Notion, GitHub, databases</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Real-time data access and tool invocation</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What Claude CAN do</a:t>
            </a:r>
            <a:endParaRPr lang="en-US" sz="1200" dirty="0"/>
          </a:p>
        </p:txBody>
      </p:sp>
      <p:sp>
        <p:nvSpPr>
          <p:cNvPr id="9" name="SkillsCardBG"/>
          <p:cNvSpPr/>
          <p:nvPr/>
        </p:nvSpPr>
        <p:spPr>
          <a:xfrm>
            <a:off x="4754880" y="1418880"/>
            <a:ext cx="3838080" cy="2387877"/>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0" name="SkillsAccent"/>
          <p:cNvSpPr/>
          <p:nvPr/>
        </p:nvSpPr>
        <p:spPr>
          <a:xfrm>
            <a:off x="4754880" y="1418880"/>
            <a:ext cx="3838080" cy="54864"/>
          </a:xfrm>
          <a:prstGeom prst="rect">
            <a:avLst/>
          </a:prstGeom>
          <a:solidFill>
            <a:srgbClr val="10B981"/>
          </a:solidFill>
          <a:ln/>
        </p:spPr>
        <p:txBody>
          <a:bodyPr/>
          <a:lstStyle/>
          <a:p>
            <a:endParaRPr lang="en-US"/>
          </a:p>
        </p:txBody>
      </p:sp>
      <p:sp>
        <p:nvSpPr>
          <p:cNvPr id="11" name="SkillsHeader"/>
          <p:cNvSpPr/>
          <p:nvPr/>
        </p:nvSpPr>
        <p:spPr>
          <a:xfrm>
            <a:off x="4754880" y="1500480"/>
            <a:ext cx="3838080" cy="411480"/>
          </a:xfrm>
          <a:prstGeom prst="rect">
            <a:avLst/>
          </a:prstGeom>
          <a:noFill/>
          <a:ln/>
        </p:spPr>
        <p:txBody>
          <a:bodyPr wrap="square" rtlCol="0" anchor="ctr"/>
          <a:lstStyle/>
          <a:p>
            <a:pPr marL="0" indent="0" algn="ctr">
              <a:buNone/>
            </a:pPr>
            <a:r>
              <a:rPr lang="en-US" sz="1300" b="1" dirty="0">
                <a:solidFill>
                  <a:srgbClr val="1A1F3D"/>
                </a:solidFill>
                <a:latin typeface="Georgia" pitchFamily="34" charset="0"/>
                <a:ea typeface="Georgia" pitchFamily="34" charset="-122"/>
                <a:cs typeface="Georgia" pitchFamily="34" charset="-120"/>
              </a:rPr>
              <a:t>Skills = The Recipes</a:t>
            </a:r>
            <a:endParaRPr lang="en-US" sz="1300" dirty="0"/>
          </a:p>
        </p:txBody>
      </p:sp>
      <p:sp>
        <p:nvSpPr>
          <p:cNvPr id="12" name="SkillsContent"/>
          <p:cNvSpPr/>
          <p:nvPr/>
        </p:nvSpPr>
        <p:spPr>
          <a:xfrm>
            <a:off x="4845360" y="1960560"/>
            <a:ext cx="3657120" cy="2441280"/>
          </a:xfrm>
          <a:prstGeom prst="rect">
            <a:avLst/>
          </a:prstGeom>
          <a:noFill/>
          <a:ln/>
        </p:spPr>
        <p:txBody>
          <a:bodyPr wrap="square" rtlCol="0" anchor="t"/>
          <a:lstStyle/>
          <a:p>
            <a:pPr marL="0" indent="0">
              <a:buChar char="•"/>
            </a:pPr>
            <a:r>
              <a:rPr lang="en-US" sz="1200" dirty="0">
                <a:solidFill>
                  <a:srgbClr val="4A5568"/>
                </a:solidFill>
                <a:latin typeface="Calibri" pitchFamily="34" charset="0"/>
                <a:ea typeface="Calibri" pitchFamily="34" charset="-122"/>
                <a:cs typeface="Calibri" pitchFamily="34" charset="-120"/>
              </a:rPr>
              <a:t>Step-by-step instructions for workflows</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Captures workflows and best practices</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Encodes domain knowledge and methodology</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Makes raw tools into reliable workflows</a:t>
            </a:r>
            <a:endParaRPr lang="en-US" sz="1200" dirty="0"/>
          </a:p>
          <a:p>
            <a:pPr marL="0" indent="0">
              <a:buChar char="•"/>
            </a:pPr>
            <a:r>
              <a:rPr lang="en-US" sz="1200" dirty="0">
                <a:solidFill>
                  <a:srgbClr val="4A5568"/>
                </a:solidFill>
                <a:latin typeface="Calibri" pitchFamily="34" charset="0"/>
                <a:ea typeface="Calibri" pitchFamily="34" charset="-122"/>
                <a:cs typeface="Calibri" pitchFamily="34" charset="-120"/>
              </a:rPr>
              <a:t>How Claude SHOULD do it</a:t>
            </a:r>
            <a:endParaRPr lang="en-US" sz="1200" dirty="0"/>
          </a:p>
        </p:txBody>
      </p:sp>
      <p:sp>
        <p:nvSpPr>
          <p:cNvPr id="13" name="BottomText"/>
          <p:cNvSpPr/>
          <p:nvPr/>
        </p:nvSpPr>
        <p:spPr>
          <a:xfrm>
            <a:off x="457200" y="4144020"/>
            <a:ext cx="8229600" cy="274320"/>
          </a:xfrm>
          <a:prstGeom prst="rect">
            <a:avLst/>
          </a:prstGeom>
          <a:noFill/>
          <a:ln/>
        </p:spPr>
        <p:txBody>
          <a:bodyPr wrap="square" rtlCol="0" anchor="ctr"/>
          <a:lstStyle/>
          <a:p>
            <a:pPr marL="0" indent="0" algn="ctr">
              <a:buNone/>
            </a:pPr>
            <a:r>
              <a:rPr lang="en-US" sz="1200" b="1" dirty="0">
                <a:solidFill>
                  <a:srgbClr val="4A5568"/>
                </a:solidFill>
                <a:latin typeface="Calibri" pitchFamily="34" charset="0"/>
                <a:ea typeface="Calibri" pitchFamily="34" charset="-122"/>
                <a:cs typeface="Calibri" pitchFamily="34" charset="-120"/>
              </a:rPr>
              <a:t>Together, they enable users to accomplish complex tasks without figuring out every step themselves.</a:t>
            </a:r>
            <a:endParaRPr lang="en-US" sz="1200" dirty="0"/>
          </a:p>
        </p:txBody>
      </p:sp>
      <p:sp>
        <p:nvSpPr>
          <p:cNvPr id="14" name="Footer"/>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15" name="PageNumber"/>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Anatomy of a SKILL.md File</a:t>
            </a:r>
            <a:endParaRPr lang="en-US" sz="3000" dirty="0"/>
          </a:p>
        </p:txBody>
      </p:sp>
      <p:sp>
        <p:nvSpPr>
          <p:cNvPr id="4" name="Shape 2"/>
          <p:cNvSpPr/>
          <p:nvPr/>
        </p:nvSpPr>
        <p:spPr>
          <a:xfrm>
            <a:off x="548640" y="1051560"/>
            <a:ext cx="5029200" cy="3474720"/>
          </a:xfrm>
          <a:prstGeom prst="rect">
            <a:avLst/>
          </a:prstGeom>
          <a:solidFill>
            <a:srgbClr val="0D1117"/>
          </a:solidFill>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822960" y="1188720"/>
            <a:ext cx="4572000" cy="3200400"/>
          </a:xfrm>
          <a:prstGeom prst="rect">
            <a:avLst/>
          </a:prstGeom>
          <a:noFill/>
          <a:ln/>
        </p:spPr>
        <p:txBody>
          <a:bodyPr wrap="square" rtlCol="0" anchor="ctr"/>
          <a:lstStyle/>
          <a:p>
            <a:pPr marL="0" indent="0">
              <a:spcAft>
                <a:spcPts val="100"/>
              </a:spcAft>
              <a:buNone/>
            </a:pPr>
            <a:r>
              <a:rPr lang="en-US" sz="1200" dirty="0">
                <a:solidFill>
                  <a:srgbClr val="8892B0"/>
                </a:solidFill>
                <a:latin typeface="Consolas" pitchFamily="34" charset="0"/>
                <a:ea typeface="Consolas" pitchFamily="34" charset="-122"/>
                <a:cs typeface="Consolas" pitchFamily="34" charset="-120"/>
              </a:rPr>
              <a:t>---</a:t>
            </a:r>
            <a:endParaRPr lang="en-US" sz="1200" dirty="0"/>
          </a:p>
          <a:p>
            <a:pPr marL="0" indent="0">
              <a:spcAft>
                <a:spcPts val="100"/>
              </a:spcAft>
              <a:buNone/>
            </a:pPr>
            <a:r>
              <a:rPr lang="en-US" sz="1200" dirty="0">
                <a:solidFill>
                  <a:srgbClr val="FBBF24"/>
                </a:solidFill>
                <a:latin typeface="Consolas" pitchFamily="34" charset="0"/>
                <a:ea typeface="Consolas" pitchFamily="34" charset="-122"/>
                <a:cs typeface="Consolas" pitchFamily="34" charset="-120"/>
              </a:rPr>
              <a:t>name: lit-review</a:t>
            </a:r>
            <a:endParaRPr lang="en-US" sz="1200" dirty="0"/>
          </a:p>
          <a:p>
            <a:pPr marL="0" indent="0">
              <a:spcAft>
                <a:spcPts val="100"/>
              </a:spcAft>
              <a:buNone/>
            </a:pPr>
            <a:r>
              <a:rPr lang="en-US" sz="1200" dirty="0">
                <a:solidFill>
                  <a:srgbClr val="FBBF24"/>
                </a:solidFill>
                <a:latin typeface="Consolas" pitchFamily="34" charset="0"/>
                <a:ea typeface="Consolas" pitchFamily="34" charset="-122"/>
                <a:cs typeface="Consolas" pitchFamily="34" charset="-120"/>
              </a:rPr>
              <a:t>description: Conducts systematic</a:t>
            </a:r>
            <a:endParaRPr lang="en-US" sz="1200" dirty="0"/>
          </a:p>
          <a:p>
            <a:pPr marL="0" indent="0">
              <a:spcAft>
                <a:spcPts val="100"/>
              </a:spcAft>
              <a:buNone/>
            </a:pPr>
            <a:r>
              <a:rPr lang="en-US" sz="1200" dirty="0">
                <a:solidFill>
                  <a:srgbClr val="FBBF24"/>
                </a:solidFill>
                <a:latin typeface="Consolas" pitchFamily="34" charset="0"/>
                <a:ea typeface="Consolas" pitchFamily="34" charset="-122"/>
                <a:cs typeface="Consolas" pitchFamily="34" charset="-120"/>
              </a:rPr>
              <a:t>  literature reviews following</a:t>
            </a:r>
            <a:endParaRPr lang="en-US" sz="1200" dirty="0"/>
          </a:p>
          <a:p>
            <a:pPr marL="0" indent="0">
              <a:spcAft>
                <a:spcPts val="100"/>
              </a:spcAft>
              <a:buNone/>
            </a:pPr>
            <a:r>
              <a:rPr lang="en-US" sz="1200" dirty="0">
                <a:solidFill>
                  <a:srgbClr val="FBBF24"/>
                </a:solidFill>
                <a:latin typeface="Consolas" pitchFamily="34" charset="0"/>
                <a:ea typeface="Consolas" pitchFamily="34" charset="-122"/>
                <a:cs typeface="Consolas" pitchFamily="34" charset="-120"/>
              </a:rPr>
              <a:t>  PRISMA guidelines</a:t>
            </a:r>
            <a:endParaRPr lang="en-US" sz="1200" dirty="0"/>
          </a:p>
          <a:p>
            <a:pPr marL="0" indent="0">
              <a:spcAft>
                <a:spcPts val="100"/>
              </a:spcAft>
              <a:buNone/>
            </a:pPr>
            <a:r>
              <a:rPr lang="en-US" sz="1200" dirty="0">
                <a:solidFill>
                  <a:srgbClr val="8892B0"/>
                </a:solidFill>
                <a:latin typeface="Consolas" pitchFamily="34" charset="0"/>
                <a:ea typeface="Consolas" pitchFamily="34" charset="-122"/>
                <a:cs typeface="Consolas" pitchFamily="34" charset="-120"/>
              </a:rPr>
              <a:t>---</a:t>
            </a:r>
            <a:endParaRPr lang="en-US" sz="1200" dirty="0"/>
          </a:p>
          <a:p>
            <a:pPr marL="0" indent="0">
              <a:spcAft>
                <a:spcPts val="100"/>
              </a:spcAft>
              <a:buNone/>
            </a:pPr>
            <a:endParaRPr lang="en-US" sz="1200" dirty="0"/>
          </a:p>
          <a:p>
            <a:pPr marL="0" indent="0">
              <a:spcAft>
                <a:spcPts val="100"/>
              </a:spcAft>
              <a:buNone/>
            </a:pPr>
            <a:r>
              <a:rPr lang="en-US" sz="1200" dirty="0">
                <a:solidFill>
                  <a:srgbClr val="00B4D8"/>
                </a:solidFill>
                <a:latin typeface="Consolas" pitchFamily="34" charset="0"/>
                <a:ea typeface="Consolas" pitchFamily="34" charset="-122"/>
                <a:cs typeface="Consolas" pitchFamily="34" charset="-120"/>
              </a:rPr>
              <a:t># Literature Review Assistant</a:t>
            </a:r>
            <a:endParaRPr lang="en-US" sz="1200" dirty="0"/>
          </a:p>
          <a:p>
            <a:pPr marL="0" indent="0">
              <a:spcAft>
                <a:spcPts val="100"/>
              </a:spcAft>
              <a:buNone/>
            </a:pPr>
            <a:endParaRPr lang="en-US" sz="1200" dirty="0"/>
          </a:p>
          <a:p>
            <a:pPr marL="0" indent="0">
              <a:spcAft>
                <a:spcPts val="100"/>
              </a:spcAft>
              <a:buNone/>
            </a:pPr>
            <a:r>
              <a:rPr lang="en-US" sz="1200" dirty="0">
                <a:solidFill>
                  <a:srgbClr val="FFFFFF"/>
                </a:solidFill>
                <a:latin typeface="Consolas" pitchFamily="34" charset="0"/>
                <a:ea typeface="Consolas" pitchFamily="34" charset="-122"/>
                <a:cs typeface="Consolas" pitchFamily="34" charset="-120"/>
              </a:rPr>
              <a:t>When conducting a literature review:</a:t>
            </a:r>
            <a:endParaRPr lang="en-US" sz="1200" dirty="0"/>
          </a:p>
          <a:p>
            <a:pPr marL="0" indent="0">
              <a:spcAft>
                <a:spcPts val="100"/>
              </a:spcAft>
              <a:buNone/>
            </a:pPr>
            <a:endParaRPr lang="en-US" sz="1200" dirty="0"/>
          </a:p>
          <a:p>
            <a:pPr marL="0" indent="0">
              <a:spcAft>
                <a:spcPts val="100"/>
              </a:spcAft>
              <a:buNone/>
            </a:pPr>
            <a:r>
              <a:rPr lang="en-US" sz="1200" dirty="0">
                <a:solidFill>
                  <a:srgbClr val="CBD5E1"/>
                </a:solidFill>
                <a:latin typeface="Consolas" pitchFamily="34" charset="0"/>
                <a:ea typeface="Consolas" pitchFamily="34" charset="-122"/>
                <a:cs typeface="Consolas" pitchFamily="34" charset="-120"/>
              </a:rPr>
              <a:t>1. Define search terms from </a:t>
            </a:r>
            <a:r>
              <a:rPr lang="en-US" sz="1200" b="1" dirty="0">
                <a:solidFill>
                  <a:srgbClr val="10B981"/>
                </a:solidFill>
                <a:latin typeface="Consolas" pitchFamily="34" charset="0"/>
                <a:ea typeface="Consolas" pitchFamily="34" charset="-122"/>
                <a:cs typeface="Consolas" pitchFamily="34" charset="-120"/>
              </a:rPr>
              <a:t>$ARGUMENTS</a:t>
            </a:r>
            <a:endParaRPr lang="en-US" sz="1200" dirty="0"/>
          </a:p>
          <a:p>
            <a:pPr marL="0" indent="0">
              <a:spcAft>
                <a:spcPts val="100"/>
              </a:spcAft>
              <a:buNone/>
            </a:pPr>
            <a:r>
              <a:rPr lang="en-US" sz="1200" dirty="0">
                <a:solidFill>
                  <a:srgbClr val="CBD5E1"/>
                </a:solidFill>
                <a:latin typeface="Consolas" pitchFamily="34" charset="0"/>
                <a:ea typeface="Consolas" pitchFamily="34" charset="-122"/>
                <a:cs typeface="Consolas" pitchFamily="34" charset="-120"/>
              </a:rPr>
              <a:t>2. Search across databases</a:t>
            </a:r>
            <a:endParaRPr lang="en-US" sz="1200" dirty="0"/>
          </a:p>
          <a:p>
            <a:pPr marL="0" indent="0">
              <a:spcAft>
                <a:spcPts val="100"/>
              </a:spcAft>
              <a:buNone/>
            </a:pPr>
            <a:r>
              <a:rPr lang="en-US" sz="1200" dirty="0">
                <a:solidFill>
                  <a:srgbClr val="CBD5E1"/>
                </a:solidFill>
                <a:latin typeface="Consolas" pitchFamily="34" charset="0"/>
                <a:ea typeface="Consolas" pitchFamily="34" charset="-122"/>
                <a:cs typeface="Consolas" pitchFamily="34" charset="-120"/>
              </a:rPr>
              <a:t>3. Apply inclusion/exclusion criteria</a:t>
            </a:r>
            <a:endParaRPr lang="en-US" sz="1200" dirty="0"/>
          </a:p>
          <a:p>
            <a:pPr marL="0" indent="0">
              <a:spcAft>
                <a:spcPts val="100"/>
              </a:spcAft>
              <a:buNone/>
            </a:pPr>
            <a:r>
              <a:rPr lang="en-US" sz="1200" dirty="0">
                <a:solidFill>
                  <a:srgbClr val="CBD5E1"/>
                </a:solidFill>
                <a:latin typeface="Consolas" pitchFamily="34" charset="0"/>
                <a:ea typeface="Consolas" pitchFamily="34" charset="-122"/>
                <a:cs typeface="Consolas" pitchFamily="34" charset="-120"/>
              </a:rPr>
              <a:t>4. Extract key findings</a:t>
            </a:r>
            <a:endParaRPr lang="en-US" sz="1200" dirty="0"/>
          </a:p>
          <a:p>
            <a:pPr marL="0" indent="0">
              <a:spcAft>
                <a:spcPts val="100"/>
              </a:spcAft>
              <a:buNone/>
            </a:pPr>
            <a:r>
              <a:rPr lang="en-US" sz="1200" dirty="0">
                <a:solidFill>
                  <a:srgbClr val="CBD5E1"/>
                </a:solidFill>
                <a:latin typeface="Consolas" pitchFamily="34" charset="0"/>
                <a:ea typeface="Consolas" pitchFamily="34" charset="-122"/>
                <a:cs typeface="Consolas" pitchFamily="34" charset="-120"/>
              </a:rPr>
              <a:t>5. Synthesize in PRISMA format</a:t>
            </a:r>
            <a:endParaRPr lang="en-US" sz="1200" dirty="0"/>
          </a:p>
        </p:txBody>
      </p:sp>
      <p:sp>
        <p:nvSpPr>
          <p:cNvPr id="6" name="Shape 4"/>
          <p:cNvSpPr/>
          <p:nvPr/>
        </p:nvSpPr>
        <p:spPr>
          <a:xfrm>
            <a:off x="5943600" y="1188720"/>
            <a:ext cx="2743200" cy="10058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7" name="Text 5"/>
          <p:cNvSpPr/>
          <p:nvPr/>
        </p:nvSpPr>
        <p:spPr>
          <a:xfrm>
            <a:off x="6035040" y="1188720"/>
            <a:ext cx="2560320" cy="365760"/>
          </a:xfrm>
          <a:prstGeom prst="rect">
            <a:avLst/>
          </a:prstGeom>
          <a:noFill/>
          <a:ln/>
        </p:spPr>
        <p:txBody>
          <a:bodyPr wrap="square" rtlCol="0" anchor="ctr"/>
          <a:lstStyle/>
          <a:p>
            <a:pPr marL="0" indent="0">
              <a:buNone/>
            </a:pPr>
            <a:r>
              <a:rPr lang="en-US" sz="1300" b="1" dirty="0">
                <a:solidFill>
                  <a:srgbClr val="FBBF24"/>
                </a:solidFill>
                <a:latin typeface="Georgia" pitchFamily="34" charset="0"/>
                <a:ea typeface="Georgia" pitchFamily="34" charset="-122"/>
                <a:cs typeface="Georgia" pitchFamily="34" charset="-120"/>
              </a:rPr>
              <a:t>YAML Frontmatter</a:t>
            </a:r>
            <a:endParaRPr lang="en-US" sz="1300" dirty="0"/>
          </a:p>
        </p:txBody>
      </p:sp>
      <p:sp>
        <p:nvSpPr>
          <p:cNvPr id="8" name="Text 6"/>
          <p:cNvSpPr/>
          <p:nvPr/>
        </p:nvSpPr>
        <p:spPr>
          <a:xfrm>
            <a:off x="6035040" y="1554480"/>
            <a:ext cx="2560320" cy="59436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Configures name and description (both required). The description is the primary triggering mechanism — Claude reads it to decide when to load.</a:t>
            </a:r>
            <a:endParaRPr lang="en-US" sz="1000" dirty="0"/>
          </a:p>
        </p:txBody>
      </p:sp>
      <p:sp>
        <p:nvSpPr>
          <p:cNvPr id="9" name="Shape 7"/>
          <p:cNvSpPr/>
          <p:nvPr/>
        </p:nvSpPr>
        <p:spPr>
          <a:xfrm>
            <a:off x="5943600" y="2468880"/>
            <a:ext cx="2743200" cy="10058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0" name="Text 8"/>
          <p:cNvSpPr/>
          <p:nvPr/>
        </p:nvSpPr>
        <p:spPr>
          <a:xfrm>
            <a:off x="6035040" y="2468880"/>
            <a:ext cx="2560320" cy="365760"/>
          </a:xfrm>
          <a:prstGeom prst="rect">
            <a:avLst/>
          </a:prstGeom>
          <a:noFill/>
          <a:ln/>
        </p:spPr>
        <p:txBody>
          <a:bodyPr wrap="square" rtlCol="0" anchor="ctr"/>
          <a:lstStyle/>
          <a:p>
            <a:pPr marL="0" indent="0">
              <a:buNone/>
            </a:pPr>
            <a:r>
              <a:rPr lang="en-US" sz="1300" b="1" dirty="0">
                <a:solidFill>
                  <a:srgbClr val="00B4D8"/>
                </a:solidFill>
                <a:latin typeface="Georgia" pitchFamily="34" charset="0"/>
                <a:ea typeface="Georgia" pitchFamily="34" charset="-122"/>
                <a:cs typeface="Georgia" pitchFamily="34" charset="-120"/>
              </a:rPr>
              <a:t>Markdown Instructions</a:t>
            </a:r>
            <a:endParaRPr lang="en-US" sz="1300" dirty="0"/>
          </a:p>
        </p:txBody>
      </p:sp>
      <p:sp>
        <p:nvSpPr>
          <p:cNvPr id="11" name="Text 9"/>
          <p:cNvSpPr/>
          <p:nvPr/>
        </p:nvSpPr>
        <p:spPr>
          <a:xfrm>
            <a:off x="6035040" y="2834640"/>
            <a:ext cx="2560320" cy="59436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Step-by-step instructions Claude follows. Keep SKILL.md under 500 lines; use references/ for detailed docs.</a:t>
            </a:r>
            <a:endParaRPr lang="en-US" sz="1000" dirty="0"/>
          </a:p>
        </p:txBody>
      </p:sp>
      <p:sp>
        <p:nvSpPr>
          <p:cNvPr id="12" name="Shape 10"/>
          <p:cNvSpPr/>
          <p:nvPr/>
        </p:nvSpPr>
        <p:spPr>
          <a:xfrm>
            <a:off x="5943600" y="3749040"/>
            <a:ext cx="2743200" cy="73152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3" name="Text 11"/>
          <p:cNvSpPr/>
          <p:nvPr/>
        </p:nvSpPr>
        <p:spPr>
          <a:xfrm>
            <a:off x="6035040" y="3749040"/>
            <a:ext cx="2560320" cy="320040"/>
          </a:xfrm>
          <a:prstGeom prst="rect">
            <a:avLst/>
          </a:prstGeom>
          <a:noFill/>
          <a:ln/>
        </p:spPr>
        <p:txBody>
          <a:bodyPr wrap="square" rtlCol="0" anchor="ctr"/>
          <a:lstStyle/>
          <a:p>
            <a:pPr marL="0" indent="0">
              <a:buNone/>
            </a:pPr>
            <a:r>
              <a:rPr lang="en-US" sz="1300" b="1" dirty="0">
                <a:solidFill>
                  <a:srgbClr val="10B981"/>
                </a:solidFill>
                <a:latin typeface="Georgia" pitchFamily="34" charset="0"/>
                <a:ea typeface="Georgia" pitchFamily="34" charset="-122"/>
                <a:cs typeface="Georgia" pitchFamily="34" charset="-120"/>
              </a:rPr>
              <a:t>$ARGUMENTS</a:t>
            </a:r>
            <a:endParaRPr lang="en-US" sz="1300" dirty="0"/>
          </a:p>
        </p:txBody>
      </p:sp>
      <p:sp>
        <p:nvSpPr>
          <p:cNvPr id="14" name="Text 12"/>
          <p:cNvSpPr/>
          <p:nvPr/>
        </p:nvSpPr>
        <p:spPr>
          <a:xfrm>
            <a:off x="6035040" y="4069080"/>
            <a:ext cx="2560320" cy="365760"/>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Dynamic values passed when invoking the skill.</a:t>
            </a:r>
            <a:endParaRPr lang="en-US" sz="1000" dirty="0"/>
          </a:p>
        </p:txBody>
      </p:sp>
      <p:sp>
        <p:nvSpPr>
          <p:cNvPr id="15" name="Text 13"/>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16" name="Text 14"/>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YAML Frontmatter Reference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2771073550"/>
              </p:ext>
            </p:extLst>
          </p:nvPr>
        </p:nvGraphicFramePr>
        <p:xfrm>
          <a:off x="457200" y="1051560"/>
          <a:ext cx="8229600" cy="2801112"/>
        </p:xfrm>
        <a:graphic>
          <a:graphicData uri="http://schemas.openxmlformats.org/drawingml/2006/table">
            <a:tbl>
              <a:tblPr/>
              <a:tblGrid>
                <a:gridCol w="20116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tblGrid>
              <a:tr h="32004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Field</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Required</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extLst>
                  <a:ext uri="{0D108BD9-81ED-4DB2-BD59-A6C34878D82A}">
                    <a16:rowId xmlns:a16="http://schemas.microsoft.com/office/drawing/2014/main" val="10000"/>
                  </a:ext>
                </a:extLst>
              </a:tr>
              <a:tr h="347472">
                <a:tc>
                  <a:txBody>
                    <a:bodyPr/>
                    <a:lstStyle/>
                    <a:p>
                      <a:pPr marL="0" indent="0">
                        <a:buNone/>
                      </a:pPr>
                      <a:r>
                        <a:rPr lang="en-US" sz="1000" dirty="0">
                          <a:solidFill>
                            <a:srgbClr val="4A5568"/>
                          </a:solidFill>
                          <a:latin typeface="Consolas" pitchFamily="34" charset="0"/>
                          <a:ea typeface="Consolas" pitchFamily="34" charset="-122"/>
                          <a:cs typeface="Consolas" pitchFamily="34" charset="-120"/>
                        </a:rPr>
                        <a:t>name</a:t>
                      </a:r>
                      <a:endParaRPr lang="en-US" sz="10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Display name; becomes the /slash-command. Lowercase, hyphens, max 64 chars.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000" dirty="0">
                          <a:solidFill>
                            <a:srgbClr val="4A5568"/>
                          </a:solidFill>
                          <a:latin typeface="Consolas" pitchFamily="34" charset="0"/>
                          <a:ea typeface="Consolas" pitchFamily="34" charset="-122"/>
                          <a:cs typeface="Consolas" pitchFamily="34" charset="-120"/>
                        </a:rPr>
                        <a:t>description</a:t>
                      </a:r>
                      <a:endParaRPr lang="en-US" sz="10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900" b="1" dirty="0">
                          <a:solidFill>
                            <a:srgbClr val="0096B7"/>
                          </a:solidFill>
                          <a:latin typeface="Calibri" pitchFamily="34" charset="0"/>
                          <a:ea typeface="Calibri" pitchFamily="34" charset="-122"/>
                          <a:cs typeface="Calibri" pitchFamily="34" charset="-120"/>
                        </a:rPr>
                        <a:t>Recommended</a:t>
                      </a:r>
                      <a:endParaRPr lang="en-US" sz="9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MUST include WHAT it does + WHEN to use it. Under 1024 chars. This is the primary trigger mechanism.</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000" dirty="0">
                          <a:solidFill>
                            <a:srgbClr val="4A5568"/>
                          </a:solidFill>
                          <a:latin typeface="Consolas" pitchFamily="34" charset="0"/>
                          <a:ea typeface="Consolas" pitchFamily="34" charset="-122"/>
                          <a:cs typeface="Consolas" pitchFamily="34" charset="-120"/>
                        </a:rPr>
                        <a:t>disable-model-invocation</a:t>
                      </a:r>
                      <a:endParaRPr lang="en-US" sz="10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Set true to prevent Claude from auto-loading. Manual /name only.</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000" dirty="0">
                          <a:solidFill>
                            <a:srgbClr val="4A5568"/>
                          </a:solidFill>
                          <a:latin typeface="Consolas" pitchFamily="34" charset="0"/>
                          <a:ea typeface="Consolas" pitchFamily="34" charset="-122"/>
                          <a:cs typeface="Consolas" pitchFamily="34" charset="-120"/>
                        </a:rPr>
                        <a:t>user-invocable</a:t>
                      </a:r>
                      <a:endParaRPr lang="en-US" sz="10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Set false to hide from / menu. Background knowledge only.</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000" dirty="0">
                          <a:solidFill>
                            <a:srgbClr val="4A5568"/>
                          </a:solidFill>
                          <a:latin typeface="Consolas" pitchFamily="34" charset="0"/>
                          <a:ea typeface="Consolas" pitchFamily="34" charset="-122"/>
                          <a:cs typeface="Consolas" pitchFamily="34" charset="-120"/>
                        </a:rPr>
                        <a:t>allowed-tools</a:t>
                      </a:r>
                      <a:endParaRPr lang="en-US" sz="10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Tools Claude can use without asking permission (e.g., Read, Grep, Bash).</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1000" dirty="0">
                          <a:solidFill>
                            <a:srgbClr val="4A5568"/>
                          </a:solidFill>
                          <a:latin typeface="Consolas" pitchFamily="34" charset="0"/>
                          <a:ea typeface="Consolas" pitchFamily="34" charset="-122"/>
                          <a:cs typeface="Consolas" pitchFamily="34" charset="-120"/>
                        </a:rPr>
                        <a:t>context</a:t>
                      </a:r>
                      <a:endParaRPr lang="en-US" sz="10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Set to fork to run in an isolated subagent context.</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1000" dirty="0">
                          <a:solidFill>
                            <a:srgbClr val="4A5568"/>
                          </a:solidFill>
                          <a:latin typeface="Consolas" pitchFamily="34" charset="0"/>
                          <a:ea typeface="Consolas" pitchFamily="34" charset="-122"/>
                          <a:cs typeface="Consolas" pitchFamily="34" charset="-120"/>
                        </a:rPr>
                        <a:t>argument-hint</a:t>
                      </a:r>
                      <a:endParaRPr lang="en-US" sz="10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00" dirty="0">
                          <a:solidFill>
                            <a:srgbClr val="4A5568"/>
                          </a:solidFill>
                          <a:latin typeface="Calibri" pitchFamily="34" charset="0"/>
                          <a:ea typeface="Calibri" pitchFamily="34" charset="-122"/>
                          <a:cs typeface="Calibri" pitchFamily="34" charset="-120"/>
                        </a:rPr>
                        <a:t>Hint shown during autocomplete (e.g., [issue-number]).</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731520" y="4160520"/>
            <a:ext cx="7680960" cy="365760"/>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All fields are optional. Only description is recommended.</a:t>
            </a:r>
            <a:endParaRPr lang="en-US" sz="1200" dirty="0"/>
          </a:p>
        </p:txBody>
      </p:sp>
      <p:sp>
        <p:nvSpPr>
          <p:cNvPr id="6" name="Text 3"/>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7" name="Text 4"/>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Where Skills Live — Storage &amp; Scope</a:t>
            </a:r>
            <a:endParaRPr lang="en-US" sz="3000" dirty="0"/>
          </a:p>
        </p:txBody>
      </p:sp>
      <p:sp>
        <p:nvSpPr>
          <p:cNvPr id="4" name="Shape 2"/>
          <p:cNvSpPr/>
          <p:nvPr/>
        </p:nvSpPr>
        <p:spPr>
          <a:xfrm>
            <a:off x="548640" y="1500690"/>
            <a:ext cx="73152" cy="685800"/>
          </a:xfrm>
          <a:prstGeom prst="rect">
            <a:avLst/>
          </a:prstGeom>
          <a:solidFill>
            <a:srgbClr val="00B4D8"/>
          </a:solidFill>
          <a:ln/>
        </p:spPr>
        <p:txBody>
          <a:bodyPr/>
          <a:lstStyle/>
          <a:p>
            <a:endParaRPr lang="en-US"/>
          </a:p>
        </p:txBody>
      </p:sp>
      <p:sp>
        <p:nvSpPr>
          <p:cNvPr id="5" name="Shape 3"/>
          <p:cNvSpPr/>
          <p:nvPr/>
        </p:nvSpPr>
        <p:spPr>
          <a:xfrm>
            <a:off x="621792" y="1500690"/>
            <a:ext cx="7973568" cy="685800"/>
          </a:xfrm>
          <a:prstGeom prst="rect">
            <a:avLst/>
          </a:prstGeom>
          <a:solidFill>
            <a:srgbClr val="252A4A"/>
          </a:solidFill>
          <a:ln/>
        </p:spPr>
        <p:txBody>
          <a:bodyPr/>
          <a:lstStyle/>
          <a:p>
            <a:endParaRPr lang="en-US"/>
          </a:p>
        </p:txBody>
      </p:sp>
      <p:sp>
        <p:nvSpPr>
          <p:cNvPr id="6" name="Text 4"/>
          <p:cNvSpPr/>
          <p:nvPr/>
        </p:nvSpPr>
        <p:spPr>
          <a:xfrm>
            <a:off x="822960" y="1546410"/>
            <a:ext cx="1371600" cy="320040"/>
          </a:xfrm>
          <a:prstGeom prst="rect">
            <a:avLst/>
          </a:prstGeom>
          <a:noFill/>
          <a:ln/>
        </p:spPr>
        <p:txBody>
          <a:bodyPr wrap="square" rtlCol="0" anchor="ctr"/>
          <a:lstStyle/>
          <a:p>
            <a:pPr marL="0" indent="0">
              <a:buNone/>
            </a:pPr>
            <a:r>
              <a:rPr lang="en-US" sz="1500" b="1" dirty="0">
                <a:solidFill>
                  <a:srgbClr val="00B4D8"/>
                </a:solidFill>
                <a:latin typeface="Georgia" pitchFamily="34" charset="0"/>
                <a:ea typeface="Georgia" pitchFamily="34" charset="-122"/>
                <a:cs typeface="Georgia" pitchFamily="34" charset="-120"/>
              </a:rPr>
              <a:t>Personal</a:t>
            </a:r>
            <a:endParaRPr lang="en-US" sz="1500" dirty="0"/>
          </a:p>
        </p:txBody>
      </p:sp>
      <p:sp>
        <p:nvSpPr>
          <p:cNvPr id="7" name="Text 5"/>
          <p:cNvSpPr/>
          <p:nvPr/>
        </p:nvSpPr>
        <p:spPr>
          <a:xfrm>
            <a:off x="2286000" y="1546410"/>
            <a:ext cx="4572000" cy="320040"/>
          </a:xfrm>
          <a:prstGeom prst="rect">
            <a:avLst/>
          </a:prstGeom>
          <a:noFill/>
          <a:ln/>
        </p:spPr>
        <p:txBody>
          <a:bodyPr wrap="square" rtlCol="0" anchor="ctr"/>
          <a:lstStyle/>
          <a:p>
            <a:pPr marL="0" indent="0">
              <a:buNone/>
            </a:pPr>
            <a:r>
              <a:rPr lang="en-US" sz="1200" dirty="0">
                <a:solidFill>
                  <a:srgbClr val="CBD5E1"/>
                </a:solidFill>
                <a:latin typeface="Consolas" pitchFamily="34" charset="0"/>
                <a:ea typeface="Consolas" pitchFamily="34" charset="-122"/>
                <a:cs typeface="Consolas" pitchFamily="34" charset="-120"/>
              </a:rPr>
              <a:t>~/.claude/skills/&lt;name&gt;/SKILL.md</a:t>
            </a:r>
            <a:endParaRPr lang="en-US" sz="1200" dirty="0"/>
          </a:p>
        </p:txBody>
      </p:sp>
      <p:sp>
        <p:nvSpPr>
          <p:cNvPr id="8" name="Text 6"/>
          <p:cNvSpPr/>
          <p:nvPr/>
        </p:nvSpPr>
        <p:spPr>
          <a:xfrm>
            <a:off x="6858000" y="1546410"/>
            <a:ext cx="1645920" cy="320040"/>
          </a:xfrm>
          <a:prstGeom prst="rect">
            <a:avLst/>
          </a:prstGeom>
          <a:noFill/>
          <a:ln/>
        </p:spPr>
        <p:txBody>
          <a:bodyPr wrap="square" rtlCol="0" anchor="ctr"/>
          <a:lstStyle/>
          <a:p>
            <a:pPr marL="0" indent="0" algn="r">
              <a:buNone/>
            </a:pPr>
            <a:r>
              <a:rPr lang="en-US" sz="1100" dirty="0">
                <a:solidFill>
                  <a:srgbClr val="8892B0"/>
                </a:solidFill>
                <a:latin typeface="Calibri" pitchFamily="34" charset="0"/>
                <a:ea typeface="Calibri" pitchFamily="34" charset="-122"/>
                <a:cs typeface="Calibri" pitchFamily="34" charset="-120"/>
              </a:rPr>
              <a:t>All your projects</a:t>
            </a:r>
            <a:endParaRPr lang="en-US" sz="1100" dirty="0"/>
          </a:p>
        </p:txBody>
      </p:sp>
      <p:sp>
        <p:nvSpPr>
          <p:cNvPr id="9" name="Text 7"/>
          <p:cNvSpPr/>
          <p:nvPr/>
        </p:nvSpPr>
        <p:spPr>
          <a:xfrm>
            <a:off x="2286000" y="1848162"/>
            <a:ext cx="4572000" cy="274320"/>
          </a:xfrm>
          <a:prstGeom prst="rect">
            <a:avLst/>
          </a:prstGeom>
          <a:noFill/>
          <a:ln/>
        </p:spPr>
        <p:txBody>
          <a:bodyPr wrap="square" rtlCol="0" anchor="ctr"/>
          <a:lstStyle/>
          <a:p>
            <a:pPr marL="0" indent="0">
              <a:buNone/>
            </a:pPr>
            <a:r>
              <a:rPr lang="en-US" sz="1000" i="1" dirty="0">
                <a:solidFill>
                  <a:srgbClr val="8892B0"/>
                </a:solidFill>
                <a:latin typeface="Calibri" pitchFamily="34" charset="0"/>
                <a:ea typeface="Calibri" pitchFamily="34" charset="-122"/>
                <a:cs typeface="Calibri" pitchFamily="34" charset="-120"/>
              </a:rPr>
              <a:t>Best for: your personal research tools</a:t>
            </a:r>
            <a:endParaRPr lang="en-US" sz="1000" dirty="0"/>
          </a:p>
        </p:txBody>
      </p:sp>
      <p:sp>
        <p:nvSpPr>
          <p:cNvPr id="10" name="Shape 8"/>
          <p:cNvSpPr/>
          <p:nvPr/>
        </p:nvSpPr>
        <p:spPr>
          <a:xfrm>
            <a:off x="548640" y="2369370"/>
            <a:ext cx="73152" cy="685800"/>
          </a:xfrm>
          <a:prstGeom prst="rect">
            <a:avLst/>
          </a:prstGeom>
          <a:solidFill>
            <a:srgbClr val="10B981"/>
          </a:solidFill>
          <a:ln/>
        </p:spPr>
        <p:txBody>
          <a:bodyPr/>
          <a:lstStyle/>
          <a:p>
            <a:endParaRPr lang="en-US"/>
          </a:p>
        </p:txBody>
      </p:sp>
      <p:sp>
        <p:nvSpPr>
          <p:cNvPr id="11" name="Shape 9"/>
          <p:cNvSpPr/>
          <p:nvPr/>
        </p:nvSpPr>
        <p:spPr>
          <a:xfrm>
            <a:off x="621792" y="2369370"/>
            <a:ext cx="7973568" cy="685800"/>
          </a:xfrm>
          <a:prstGeom prst="rect">
            <a:avLst/>
          </a:prstGeom>
          <a:solidFill>
            <a:srgbClr val="252A4A"/>
          </a:solidFill>
          <a:ln/>
        </p:spPr>
        <p:txBody>
          <a:bodyPr/>
          <a:lstStyle/>
          <a:p>
            <a:endParaRPr lang="en-US"/>
          </a:p>
        </p:txBody>
      </p:sp>
      <p:sp>
        <p:nvSpPr>
          <p:cNvPr id="12" name="Text 10"/>
          <p:cNvSpPr/>
          <p:nvPr/>
        </p:nvSpPr>
        <p:spPr>
          <a:xfrm>
            <a:off x="822960" y="2415090"/>
            <a:ext cx="1371600" cy="320040"/>
          </a:xfrm>
          <a:prstGeom prst="rect">
            <a:avLst/>
          </a:prstGeom>
          <a:noFill/>
          <a:ln/>
        </p:spPr>
        <p:txBody>
          <a:bodyPr wrap="square" rtlCol="0" anchor="ctr"/>
          <a:lstStyle/>
          <a:p>
            <a:pPr marL="0" indent="0">
              <a:buNone/>
            </a:pPr>
            <a:r>
              <a:rPr lang="en-US" sz="1500" b="1" dirty="0">
                <a:solidFill>
                  <a:srgbClr val="10B981"/>
                </a:solidFill>
                <a:latin typeface="Georgia" pitchFamily="34" charset="0"/>
                <a:ea typeface="Georgia" pitchFamily="34" charset="-122"/>
                <a:cs typeface="Georgia" pitchFamily="34" charset="-120"/>
              </a:rPr>
              <a:t>Project</a:t>
            </a:r>
            <a:endParaRPr lang="en-US" sz="1500" dirty="0"/>
          </a:p>
        </p:txBody>
      </p:sp>
      <p:sp>
        <p:nvSpPr>
          <p:cNvPr id="13" name="Text 11"/>
          <p:cNvSpPr/>
          <p:nvPr/>
        </p:nvSpPr>
        <p:spPr>
          <a:xfrm>
            <a:off x="2286000" y="2415090"/>
            <a:ext cx="4572000" cy="320040"/>
          </a:xfrm>
          <a:prstGeom prst="rect">
            <a:avLst/>
          </a:prstGeom>
          <a:noFill/>
          <a:ln/>
        </p:spPr>
        <p:txBody>
          <a:bodyPr wrap="square" rtlCol="0" anchor="ctr"/>
          <a:lstStyle/>
          <a:p>
            <a:pPr marL="0" indent="0">
              <a:buNone/>
            </a:pPr>
            <a:r>
              <a:rPr lang="en-US" sz="1200" dirty="0">
                <a:solidFill>
                  <a:srgbClr val="CBD5E1"/>
                </a:solidFill>
                <a:latin typeface="Consolas" pitchFamily="34" charset="0"/>
                <a:ea typeface="Consolas" pitchFamily="34" charset="-122"/>
                <a:cs typeface="Consolas" pitchFamily="34" charset="-120"/>
              </a:rPr>
              <a:t>/project-folder/.claude/skills/&lt;name&gt;/SKILL.md</a:t>
            </a:r>
            <a:endParaRPr lang="en-US" sz="1200" dirty="0"/>
          </a:p>
        </p:txBody>
      </p:sp>
      <p:sp>
        <p:nvSpPr>
          <p:cNvPr id="14" name="Text 12"/>
          <p:cNvSpPr/>
          <p:nvPr/>
        </p:nvSpPr>
        <p:spPr>
          <a:xfrm>
            <a:off x="6858000" y="2415090"/>
            <a:ext cx="1645920" cy="320040"/>
          </a:xfrm>
          <a:prstGeom prst="rect">
            <a:avLst/>
          </a:prstGeom>
          <a:noFill/>
          <a:ln/>
        </p:spPr>
        <p:txBody>
          <a:bodyPr wrap="square" rtlCol="0" anchor="ctr"/>
          <a:lstStyle/>
          <a:p>
            <a:pPr marL="0" indent="0" algn="r">
              <a:buNone/>
            </a:pPr>
            <a:r>
              <a:rPr lang="en-US" sz="1100" dirty="0">
                <a:solidFill>
                  <a:srgbClr val="8892B0"/>
                </a:solidFill>
                <a:latin typeface="Calibri" pitchFamily="34" charset="0"/>
                <a:ea typeface="Calibri" pitchFamily="34" charset="-122"/>
                <a:cs typeface="Calibri" pitchFamily="34" charset="-120"/>
              </a:rPr>
              <a:t>This project only</a:t>
            </a:r>
            <a:endParaRPr lang="en-US" sz="1100" dirty="0"/>
          </a:p>
        </p:txBody>
      </p:sp>
      <p:sp>
        <p:nvSpPr>
          <p:cNvPr id="15" name="Text 13"/>
          <p:cNvSpPr/>
          <p:nvPr/>
        </p:nvSpPr>
        <p:spPr>
          <a:xfrm>
            <a:off x="2286000" y="2716842"/>
            <a:ext cx="4572000" cy="274320"/>
          </a:xfrm>
          <a:prstGeom prst="rect">
            <a:avLst/>
          </a:prstGeom>
          <a:noFill/>
          <a:ln/>
        </p:spPr>
        <p:txBody>
          <a:bodyPr wrap="square" rtlCol="0" anchor="ctr"/>
          <a:lstStyle/>
          <a:p>
            <a:pPr marL="0" indent="0">
              <a:buNone/>
            </a:pPr>
            <a:r>
              <a:rPr lang="en-US" sz="1000" i="1" dirty="0">
                <a:solidFill>
                  <a:srgbClr val="8892B0"/>
                </a:solidFill>
                <a:latin typeface="Calibri" pitchFamily="34" charset="0"/>
                <a:ea typeface="Calibri" pitchFamily="34" charset="-122"/>
                <a:cs typeface="Calibri" pitchFamily="34" charset="-120"/>
              </a:rPr>
              <a:t>Best for: lab-wide shared skills</a:t>
            </a:r>
            <a:endParaRPr lang="en-US" sz="1000" dirty="0"/>
          </a:p>
        </p:txBody>
      </p:sp>
      <p:sp>
        <p:nvSpPr>
          <p:cNvPr id="16" name="Shape 14"/>
          <p:cNvSpPr/>
          <p:nvPr/>
        </p:nvSpPr>
        <p:spPr>
          <a:xfrm>
            <a:off x="548640" y="3238050"/>
            <a:ext cx="73152" cy="685800"/>
          </a:xfrm>
          <a:prstGeom prst="rect">
            <a:avLst/>
          </a:prstGeom>
          <a:solidFill>
            <a:srgbClr val="A78BFA"/>
          </a:solidFill>
          <a:ln/>
        </p:spPr>
        <p:txBody>
          <a:bodyPr/>
          <a:lstStyle/>
          <a:p>
            <a:endParaRPr lang="en-US"/>
          </a:p>
        </p:txBody>
      </p:sp>
      <p:sp>
        <p:nvSpPr>
          <p:cNvPr id="17" name="Shape 15"/>
          <p:cNvSpPr/>
          <p:nvPr/>
        </p:nvSpPr>
        <p:spPr>
          <a:xfrm>
            <a:off x="621792" y="3238050"/>
            <a:ext cx="7973568" cy="685800"/>
          </a:xfrm>
          <a:prstGeom prst="rect">
            <a:avLst/>
          </a:prstGeom>
          <a:solidFill>
            <a:srgbClr val="252A4A"/>
          </a:solidFill>
          <a:ln/>
        </p:spPr>
        <p:txBody>
          <a:bodyPr/>
          <a:lstStyle/>
          <a:p>
            <a:endParaRPr lang="en-US"/>
          </a:p>
        </p:txBody>
      </p:sp>
      <p:sp>
        <p:nvSpPr>
          <p:cNvPr id="18" name="Text 16"/>
          <p:cNvSpPr/>
          <p:nvPr/>
        </p:nvSpPr>
        <p:spPr>
          <a:xfrm>
            <a:off x="822960" y="3283770"/>
            <a:ext cx="1371600" cy="320040"/>
          </a:xfrm>
          <a:prstGeom prst="rect">
            <a:avLst/>
          </a:prstGeom>
          <a:noFill/>
          <a:ln/>
        </p:spPr>
        <p:txBody>
          <a:bodyPr wrap="square" rtlCol="0" anchor="ctr"/>
          <a:lstStyle/>
          <a:p>
            <a:pPr marL="0" indent="0">
              <a:buNone/>
            </a:pPr>
            <a:r>
              <a:rPr lang="en-US" sz="1500" b="1" dirty="0">
                <a:solidFill>
                  <a:srgbClr val="A78BFA"/>
                </a:solidFill>
                <a:latin typeface="Georgia" pitchFamily="34" charset="0"/>
                <a:ea typeface="Georgia" pitchFamily="34" charset="-122"/>
                <a:cs typeface="Georgia" pitchFamily="34" charset="-120"/>
              </a:rPr>
              <a:t>Enterprise</a:t>
            </a:r>
            <a:endParaRPr lang="en-US" sz="1500" dirty="0"/>
          </a:p>
        </p:txBody>
      </p:sp>
      <p:sp>
        <p:nvSpPr>
          <p:cNvPr id="19" name="Text 17"/>
          <p:cNvSpPr/>
          <p:nvPr/>
        </p:nvSpPr>
        <p:spPr>
          <a:xfrm>
            <a:off x="2286000" y="3283770"/>
            <a:ext cx="4572000" cy="320040"/>
          </a:xfrm>
          <a:prstGeom prst="rect">
            <a:avLst/>
          </a:prstGeom>
          <a:noFill/>
          <a:ln/>
        </p:spPr>
        <p:txBody>
          <a:bodyPr wrap="square" rtlCol="0" anchor="ctr"/>
          <a:lstStyle/>
          <a:p>
            <a:pPr marL="0" indent="0">
              <a:buNone/>
            </a:pPr>
            <a:r>
              <a:rPr lang="en-US" sz="1200" dirty="0">
                <a:solidFill>
                  <a:srgbClr val="CBD5E1"/>
                </a:solidFill>
                <a:latin typeface="Consolas" pitchFamily="34" charset="0"/>
                <a:ea typeface="Consolas" pitchFamily="34" charset="-122"/>
                <a:cs typeface="Consolas" pitchFamily="34" charset="-120"/>
              </a:rPr>
              <a:t>Managed settings (admin)</a:t>
            </a:r>
            <a:endParaRPr lang="en-US" sz="1200" dirty="0"/>
          </a:p>
        </p:txBody>
      </p:sp>
      <p:sp>
        <p:nvSpPr>
          <p:cNvPr id="20" name="Text 18"/>
          <p:cNvSpPr/>
          <p:nvPr/>
        </p:nvSpPr>
        <p:spPr>
          <a:xfrm>
            <a:off x="6858000" y="3283770"/>
            <a:ext cx="1645920" cy="320040"/>
          </a:xfrm>
          <a:prstGeom prst="rect">
            <a:avLst/>
          </a:prstGeom>
          <a:noFill/>
          <a:ln/>
        </p:spPr>
        <p:txBody>
          <a:bodyPr wrap="square" rtlCol="0" anchor="ctr"/>
          <a:lstStyle/>
          <a:p>
            <a:pPr marL="0" indent="0" algn="r">
              <a:buNone/>
            </a:pPr>
            <a:r>
              <a:rPr lang="en-US" sz="1100" dirty="0">
                <a:solidFill>
                  <a:srgbClr val="8892B0"/>
                </a:solidFill>
                <a:latin typeface="Calibri" pitchFamily="34" charset="0"/>
                <a:ea typeface="Calibri" pitchFamily="34" charset="-122"/>
                <a:cs typeface="Calibri" pitchFamily="34" charset="-120"/>
              </a:rPr>
              <a:t>All org users</a:t>
            </a:r>
            <a:endParaRPr lang="en-US" sz="1100" dirty="0"/>
          </a:p>
        </p:txBody>
      </p:sp>
      <p:sp>
        <p:nvSpPr>
          <p:cNvPr id="21" name="Text 19"/>
          <p:cNvSpPr/>
          <p:nvPr/>
        </p:nvSpPr>
        <p:spPr>
          <a:xfrm>
            <a:off x="2286000" y="3585522"/>
            <a:ext cx="4572000" cy="274320"/>
          </a:xfrm>
          <a:prstGeom prst="rect">
            <a:avLst/>
          </a:prstGeom>
          <a:noFill/>
          <a:ln/>
        </p:spPr>
        <p:txBody>
          <a:bodyPr wrap="square" rtlCol="0" anchor="ctr"/>
          <a:lstStyle/>
          <a:p>
            <a:pPr marL="0" indent="0">
              <a:buNone/>
            </a:pPr>
            <a:r>
              <a:rPr lang="en-US" sz="1000" i="1" dirty="0">
                <a:solidFill>
                  <a:srgbClr val="8892B0"/>
                </a:solidFill>
                <a:latin typeface="Calibri" pitchFamily="34" charset="0"/>
                <a:ea typeface="Calibri" pitchFamily="34" charset="-122"/>
                <a:cs typeface="Calibri" pitchFamily="34" charset="-120"/>
              </a:rPr>
              <a:t>Best for: institution-wide standards</a:t>
            </a:r>
            <a:endParaRPr lang="en-US" sz="1000" dirty="0"/>
          </a:p>
        </p:txBody>
      </p:sp>
      <p:sp>
        <p:nvSpPr>
          <p:cNvPr id="28" name="Text 26"/>
          <p:cNvSpPr/>
          <p:nvPr/>
        </p:nvSpPr>
        <p:spPr>
          <a:xfrm>
            <a:off x="731520" y="4229100"/>
            <a:ext cx="7680960" cy="320040"/>
          </a:xfrm>
          <a:prstGeom prst="rect">
            <a:avLst/>
          </a:prstGeom>
          <a:noFill/>
          <a:ln/>
        </p:spPr>
        <p:txBody>
          <a:bodyPr wrap="square" rtlCol="0" anchor="ctr"/>
          <a:lstStyle/>
          <a:p>
            <a:pPr marL="0" indent="0">
              <a:buNone/>
            </a:pPr>
            <a:r>
              <a:rPr lang="en-US" sz="1100" i="1" dirty="0">
                <a:solidFill>
                  <a:srgbClr val="8892B0"/>
                </a:solidFill>
                <a:latin typeface="Calibri" pitchFamily="34" charset="0"/>
                <a:ea typeface="Calibri" pitchFamily="34" charset="-122"/>
                <a:cs typeface="Calibri" pitchFamily="34" charset="-120"/>
              </a:rPr>
              <a:t>Priority: Enterprise &gt; Personal &gt; Project</a:t>
            </a:r>
            <a:endParaRPr lang="en-US" sz="1100" dirty="0"/>
          </a:p>
        </p:txBody>
      </p:sp>
      <p:sp>
        <p:nvSpPr>
          <p:cNvPr id="29" name="Text 27"/>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Skill Directory Structure</a:t>
            </a:r>
            <a:endParaRPr lang="en-US" sz="3000" dirty="0"/>
          </a:p>
        </p:txBody>
      </p:sp>
      <p:sp>
        <p:nvSpPr>
          <p:cNvPr id="4" name="Shape 2"/>
          <p:cNvSpPr/>
          <p:nvPr/>
        </p:nvSpPr>
        <p:spPr>
          <a:xfrm>
            <a:off x="548640" y="1051560"/>
            <a:ext cx="4114800" cy="2743200"/>
          </a:xfrm>
          <a:prstGeom prst="rect">
            <a:avLst/>
          </a:prstGeom>
          <a:solidFill>
            <a:srgbClr val="0D1117"/>
          </a:solidFill>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822960" y="1234440"/>
            <a:ext cx="3657600" cy="2377440"/>
          </a:xfrm>
          <a:prstGeom prst="rect">
            <a:avLst/>
          </a:prstGeom>
          <a:noFill/>
          <a:ln/>
        </p:spPr>
        <p:txBody>
          <a:bodyPr wrap="square" rtlCol="0" anchor="ctr"/>
          <a:lstStyle/>
          <a:p>
            <a:pPr marL="0" indent="0">
              <a:spcAft>
                <a:spcPts val="400"/>
              </a:spcAft>
              <a:buNone/>
            </a:pPr>
            <a:r>
              <a:rPr lang="en-US" sz="1300" b="1" dirty="0">
                <a:solidFill>
                  <a:srgbClr val="FBBF24"/>
                </a:solidFill>
                <a:latin typeface="Consolas" pitchFamily="34" charset="0"/>
                <a:ea typeface="Consolas" pitchFamily="34" charset="-122"/>
                <a:cs typeface="Consolas" pitchFamily="34" charset="-120"/>
              </a:rPr>
              <a:t>your-skill-name/</a:t>
            </a:r>
            <a:endParaRPr lang="en-US" sz="1300" dirty="0"/>
          </a:p>
          <a:p>
            <a:pPr marL="0" indent="0">
              <a:spcAft>
                <a:spcPts val="400"/>
              </a:spcAft>
              <a:buNone/>
            </a:pPr>
            <a:r>
              <a:rPr lang="en-US" sz="1300" dirty="0">
                <a:solidFill>
                  <a:srgbClr val="10B981"/>
                </a:solidFill>
                <a:latin typeface="Consolas" pitchFamily="34" charset="0"/>
                <a:ea typeface="Consolas" pitchFamily="34" charset="-122"/>
                <a:cs typeface="Consolas" pitchFamily="34" charset="-120"/>
              </a:rPr>
              <a:t>├── SKILL.md</a:t>
            </a:r>
            <a:r>
              <a:rPr lang="en-US" sz="1300" dirty="0">
                <a:solidFill>
                  <a:srgbClr val="64748B"/>
                </a:solidFill>
                <a:latin typeface="Consolas" pitchFamily="34" charset="0"/>
                <a:ea typeface="Consolas" pitchFamily="34" charset="-122"/>
                <a:cs typeface="Consolas" pitchFamily="34" charset="-120"/>
              </a:rPr>
              <a:t>              # Required</a:t>
            </a:r>
            <a:endParaRPr lang="en-US" sz="1300" dirty="0"/>
          </a:p>
          <a:p>
            <a:pPr marL="0" indent="0">
              <a:spcAft>
                <a:spcPts val="400"/>
              </a:spcAft>
              <a:buNone/>
            </a:pPr>
            <a:r>
              <a:rPr lang="en-US" sz="1300" dirty="0">
                <a:solidFill>
                  <a:srgbClr val="FBBF24"/>
                </a:solidFill>
                <a:latin typeface="Consolas" pitchFamily="34" charset="0"/>
                <a:ea typeface="Consolas" pitchFamily="34" charset="-122"/>
                <a:cs typeface="Consolas" pitchFamily="34" charset="-120"/>
              </a:rPr>
              <a:t>├── scripts/</a:t>
            </a:r>
            <a:r>
              <a:rPr lang="en-US" sz="1300" dirty="0">
                <a:solidFill>
                  <a:srgbClr val="64748B"/>
                </a:solidFill>
                <a:latin typeface="Consolas" pitchFamily="34" charset="0"/>
                <a:ea typeface="Consolas" pitchFamily="34" charset="-122"/>
                <a:cs typeface="Consolas" pitchFamily="34" charset="-120"/>
              </a:rPr>
              <a:t>              # Optional</a:t>
            </a:r>
            <a:endParaRPr lang="en-US" sz="1300" dirty="0"/>
          </a:p>
          <a:p>
            <a:pPr marL="0" indent="0">
              <a:spcAft>
                <a:spcPts val="400"/>
              </a:spcAft>
              <a:buNone/>
            </a:pPr>
            <a:r>
              <a:rPr lang="en-US" sz="1300" dirty="0">
                <a:solidFill>
                  <a:srgbClr val="CBD5E1"/>
                </a:solidFill>
                <a:latin typeface="Consolas" pitchFamily="34" charset="0"/>
                <a:ea typeface="Consolas" pitchFamily="34" charset="-122"/>
                <a:cs typeface="Consolas" pitchFamily="34" charset="-120"/>
              </a:rPr>
              <a:t>│   ├── process_data.py</a:t>
            </a:r>
            <a:endParaRPr lang="en-US" sz="1300" dirty="0"/>
          </a:p>
          <a:p>
            <a:pPr marL="0" indent="0">
              <a:spcAft>
                <a:spcPts val="400"/>
              </a:spcAft>
              <a:buNone/>
            </a:pPr>
            <a:r>
              <a:rPr lang="en-US" sz="1300" dirty="0">
                <a:solidFill>
                  <a:srgbClr val="CBD5E1"/>
                </a:solidFill>
                <a:latin typeface="Consolas" pitchFamily="34" charset="0"/>
                <a:ea typeface="Consolas" pitchFamily="34" charset="-122"/>
                <a:cs typeface="Consolas" pitchFamily="34" charset="-120"/>
              </a:rPr>
              <a:t>│   └── validate.sh</a:t>
            </a:r>
            <a:endParaRPr lang="en-US" sz="1300" dirty="0"/>
          </a:p>
          <a:p>
            <a:pPr marL="0" indent="0">
              <a:spcAft>
                <a:spcPts val="400"/>
              </a:spcAft>
              <a:buNone/>
            </a:pPr>
            <a:r>
              <a:rPr lang="en-US" sz="1300" dirty="0">
                <a:solidFill>
                  <a:srgbClr val="FBBF24"/>
                </a:solidFill>
                <a:latin typeface="Consolas" pitchFamily="34" charset="0"/>
                <a:ea typeface="Consolas" pitchFamily="34" charset="-122"/>
                <a:cs typeface="Consolas" pitchFamily="34" charset="-120"/>
              </a:rPr>
              <a:t>├── references/</a:t>
            </a:r>
            <a:r>
              <a:rPr lang="en-US" sz="1300" dirty="0">
                <a:solidFill>
                  <a:srgbClr val="64748B"/>
                </a:solidFill>
                <a:latin typeface="Consolas" pitchFamily="34" charset="0"/>
                <a:ea typeface="Consolas" pitchFamily="34" charset="-122"/>
                <a:cs typeface="Consolas" pitchFamily="34" charset="-120"/>
              </a:rPr>
              <a:t>           # Optional</a:t>
            </a:r>
            <a:endParaRPr lang="en-US" sz="1300" dirty="0"/>
          </a:p>
          <a:p>
            <a:pPr marL="0" indent="0">
              <a:spcAft>
                <a:spcPts val="400"/>
              </a:spcAft>
              <a:buNone/>
            </a:pPr>
            <a:r>
              <a:rPr lang="en-US" sz="1300" dirty="0">
                <a:solidFill>
                  <a:srgbClr val="CBD5E1"/>
                </a:solidFill>
                <a:latin typeface="Consolas" pitchFamily="34" charset="0"/>
                <a:ea typeface="Consolas" pitchFamily="34" charset="-122"/>
                <a:cs typeface="Consolas" pitchFamily="34" charset="-120"/>
              </a:rPr>
              <a:t>│   ├── api-guide.md</a:t>
            </a:r>
            <a:endParaRPr lang="en-US" sz="1300" dirty="0"/>
          </a:p>
          <a:p>
            <a:pPr marL="0" indent="0">
              <a:spcAft>
                <a:spcPts val="400"/>
              </a:spcAft>
              <a:buNone/>
            </a:pPr>
            <a:r>
              <a:rPr lang="en-US" sz="1300" dirty="0">
                <a:solidFill>
                  <a:srgbClr val="FBBF24"/>
                </a:solidFill>
                <a:latin typeface="Consolas" pitchFamily="34" charset="0"/>
                <a:ea typeface="Consolas" pitchFamily="34" charset="-122"/>
                <a:cs typeface="Consolas" pitchFamily="34" charset="-120"/>
              </a:rPr>
              <a:t>│   └── examples/</a:t>
            </a:r>
            <a:endParaRPr lang="en-US" sz="1300" dirty="0"/>
          </a:p>
          <a:p>
            <a:pPr marL="0" indent="0">
              <a:spcAft>
                <a:spcPts val="400"/>
              </a:spcAft>
              <a:buNone/>
            </a:pPr>
            <a:r>
              <a:rPr lang="en-US" sz="1300" dirty="0">
                <a:solidFill>
                  <a:srgbClr val="FBBF24"/>
                </a:solidFill>
                <a:latin typeface="Consolas" pitchFamily="34" charset="0"/>
                <a:ea typeface="Consolas" pitchFamily="34" charset="-122"/>
                <a:cs typeface="Consolas" pitchFamily="34" charset="-120"/>
              </a:rPr>
              <a:t>└── assets/</a:t>
            </a:r>
            <a:r>
              <a:rPr lang="en-US" sz="1300" dirty="0">
                <a:solidFill>
                  <a:srgbClr val="64748B"/>
                </a:solidFill>
                <a:latin typeface="Consolas" pitchFamily="34" charset="0"/>
                <a:ea typeface="Consolas" pitchFamily="34" charset="-122"/>
                <a:cs typeface="Consolas" pitchFamily="34" charset="-120"/>
              </a:rPr>
              <a:t>                # Optional</a:t>
            </a:r>
            <a:endParaRPr lang="en-US" sz="1300" dirty="0"/>
          </a:p>
          <a:p>
            <a:pPr marL="0" indent="0">
              <a:spcAft>
                <a:spcPts val="400"/>
              </a:spcAft>
              <a:buNone/>
            </a:pPr>
            <a:r>
              <a:rPr lang="en-US" sz="1300" dirty="0">
                <a:solidFill>
                  <a:srgbClr val="CBD5E1"/>
                </a:solidFill>
                <a:latin typeface="Consolas" pitchFamily="34" charset="0"/>
                <a:ea typeface="Consolas" pitchFamily="34" charset="-122"/>
                <a:cs typeface="Consolas" pitchFamily="34" charset="-120"/>
              </a:rPr>
              <a:t>    └── report-template.md</a:t>
            </a:r>
            <a:endParaRPr lang="en-US" sz="1300" dirty="0"/>
          </a:p>
        </p:txBody>
      </p:sp>
      <p:sp>
        <p:nvSpPr>
          <p:cNvPr id="6" name="Shape 4"/>
          <p:cNvSpPr/>
          <p:nvPr/>
        </p:nvSpPr>
        <p:spPr>
          <a:xfrm>
            <a:off x="4937760" y="1143000"/>
            <a:ext cx="3749040" cy="777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7" name="Shape 5"/>
          <p:cNvSpPr/>
          <p:nvPr/>
        </p:nvSpPr>
        <p:spPr>
          <a:xfrm>
            <a:off x="4937760" y="1143000"/>
            <a:ext cx="64008" cy="777240"/>
          </a:xfrm>
          <a:prstGeom prst="rect">
            <a:avLst/>
          </a:prstGeom>
          <a:solidFill>
            <a:srgbClr val="10B981"/>
          </a:solidFill>
          <a:ln/>
        </p:spPr>
        <p:txBody>
          <a:bodyPr/>
          <a:lstStyle/>
          <a:p>
            <a:endParaRPr lang="en-US"/>
          </a:p>
        </p:txBody>
      </p:sp>
      <p:sp>
        <p:nvSpPr>
          <p:cNvPr id="8" name="Text 6"/>
          <p:cNvSpPr/>
          <p:nvPr/>
        </p:nvSpPr>
        <p:spPr>
          <a:xfrm>
            <a:off x="5166360" y="1188720"/>
            <a:ext cx="3291840" cy="274320"/>
          </a:xfrm>
          <a:prstGeom prst="rect">
            <a:avLst/>
          </a:prstGeom>
          <a:noFill/>
          <a:ln/>
        </p:spPr>
        <p:txBody>
          <a:bodyPr wrap="square" rtlCol="0" anchor="ctr"/>
          <a:lstStyle/>
          <a:p>
            <a:pPr marL="0" indent="0">
              <a:buNone/>
            </a:pPr>
            <a:r>
              <a:rPr lang="en-US" sz="1300" b="1" dirty="0">
                <a:solidFill>
                  <a:srgbClr val="1A1F3D"/>
                </a:solidFill>
                <a:latin typeface="Georgia" pitchFamily="34" charset="0"/>
                <a:ea typeface="Georgia" pitchFamily="34" charset="-122"/>
                <a:cs typeface="Georgia" pitchFamily="34" charset="-120"/>
              </a:rPr>
              <a:t>SKILL.md</a:t>
            </a:r>
            <a:endParaRPr lang="en-US" sz="1300" dirty="0"/>
          </a:p>
        </p:txBody>
      </p:sp>
      <p:sp>
        <p:nvSpPr>
          <p:cNvPr id="9" name="Text 7"/>
          <p:cNvSpPr/>
          <p:nvPr/>
        </p:nvSpPr>
        <p:spPr>
          <a:xfrm>
            <a:off x="5166360" y="1490472"/>
            <a:ext cx="3291840" cy="38404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Main instructions (required). Keep under 500 lines.</a:t>
            </a:r>
            <a:endParaRPr lang="en-US" sz="1100" dirty="0"/>
          </a:p>
        </p:txBody>
      </p:sp>
      <p:sp>
        <p:nvSpPr>
          <p:cNvPr id="10" name="Shape 8"/>
          <p:cNvSpPr/>
          <p:nvPr/>
        </p:nvSpPr>
        <p:spPr>
          <a:xfrm>
            <a:off x="4937760" y="2057400"/>
            <a:ext cx="3749040" cy="777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4937760" y="2057400"/>
            <a:ext cx="64008" cy="777240"/>
          </a:xfrm>
          <a:prstGeom prst="rect">
            <a:avLst/>
          </a:prstGeom>
          <a:solidFill>
            <a:srgbClr val="00B4D8"/>
          </a:solidFill>
          <a:ln/>
        </p:spPr>
        <p:txBody>
          <a:bodyPr/>
          <a:lstStyle/>
          <a:p>
            <a:endParaRPr lang="en-US"/>
          </a:p>
        </p:txBody>
      </p:sp>
      <p:sp>
        <p:nvSpPr>
          <p:cNvPr id="12" name="Text 10"/>
          <p:cNvSpPr/>
          <p:nvPr/>
        </p:nvSpPr>
        <p:spPr>
          <a:xfrm>
            <a:off x="5166360" y="2103120"/>
            <a:ext cx="3291840" cy="274320"/>
          </a:xfrm>
          <a:prstGeom prst="rect">
            <a:avLst/>
          </a:prstGeom>
          <a:noFill/>
          <a:ln/>
        </p:spPr>
        <p:txBody>
          <a:bodyPr wrap="square" rtlCol="0" anchor="ctr"/>
          <a:lstStyle/>
          <a:p>
            <a:pPr marL="0" indent="0">
              <a:buNone/>
            </a:pPr>
            <a:r>
              <a:rPr lang="en-US" sz="1300" b="1" dirty="0">
                <a:solidFill>
                  <a:srgbClr val="1A1F3D"/>
                </a:solidFill>
                <a:latin typeface="Georgia" pitchFamily="34" charset="0"/>
                <a:ea typeface="Georgia" pitchFamily="34" charset="-122"/>
                <a:cs typeface="Georgia" pitchFamily="34" charset="-120"/>
              </a:rPr>
              <a:t>references/ &amp; assets/</a:t>
            </a:r>
            <a:endParaRPr lang="en-US" sz="1300" dirty="0"/>
          </a:p>
        </p:txBody>
      </p:sp>
      <p:sp>
        <p:nvSpPr>
          <p:cNvPr id="13" name="Text 11"/>
          <p:cNvSpPr/>
          <p:nvPr/>
        </p:nvSpPr>
        <p:spPr>
          <a:xfrm>
            <a:off x="5166360" y="2404872"/>
            <a:ext cx="3291840" cy="38404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Documentation loaded as needed. Use for API guides, style references, and detailed examples.</a:t>
            </a:r>
            <a:endParaRPr lang="en-US" sz="1100" dirty="0"/>
          </a:p>
        </p:txBody>
      </p:sp>
      <p:sp>
        <p:nvSpPr>
          <p:cNvPr id="14" name="Shape 12"/>
          <p:cNvSpPr/>
          <p:nvPr/>
        </p:nvSpPr>
        <p:spPr>
          <a:xfrm>
            <a:off x="4937760" y="2971800"/>
            <a:ext cx="3749040" cy="777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5" name="Shape 13"/>
          <p:cNvSpPr/>
          <p:nvPr/>
        </p:nvSpPr>
        <p:spPr>
          <a:xfrm>
            <a:off x="4937760" y="2971800"/>
            <a:ext cx="64008" cy="777240"/>
          </a:xfrm>
          <a:prstGeom prst="rect">
            <a:avLst/>
          </a:prstGeom>
          <a:solidFill>
            <a:srgbClr val="A78BFA"/>
          </a:solidFill>
          <a:ln/>
        </p:spPr>
        <p:txBody>
          <a:bodyPr/>
          <a:lstStyle/>
          <a:p>
            <a:endParaRPr lang="en-US"/>
          </a:p>
        </p:txBody>
      </p:sp>
      <p:sp>
        <p:nvSpPr>
          <p:cNvPr id="16" name="Text 14"/>
          <p:cNvSpPr/>
          <p:nvPr/>
        </p:nvSpPr>
        <p:spPr>
          <a:xfrm>
            <a:off x="5166360" y="3017520"/>
            <a:ext cx="3291840" cy="274320"/>
          </a:xfrm>
          <a:prstGeom prst="rect">
            <a:avLst/>
          </a:prstGeom>
          <a:noFill/>
          <a:ln/>
        </p:spPr>
        <p:txBody>
          <a:bodyPr wrap="square" rtlCol="0" anchor="ctr"/>
          <a:lstStyle/>
          <a:p>
            <a:pPr marL="0" indent="0">
              <a:buNone/>
            </a:pPr>
            <a:r>
              <a:rPr lang="en-US" sz="1300" b="1" dirty="0">
                <a:solidFill>
                  <a:srgbClr val="1A1F3D"/>
                </a:solidFill>
                <a:latin typeface="Georgia" pitchFamily="34" charset="0"/>
                <a:ea typeface="Georgia" pitchFamily="34" charset="-122"/>
                <a:cs typeface="Georgia" pitchFamily="34" charset="-120"/>
              </a:rPr>
              <a:t>Scripts</a:t>
            </a:r>
            <a:endParaRPr lang="en-US" sz="1300" dirty="0"/>
          </a:p>
        </p:txBody>
      </p:sp>
      <p:sp>
        <p:nvSpPr>
          <p:cNvPr id="17" name="Text 15"/>
          <p:cNvSpPr/>
          <p:nvPr/>
        </p:nvSpPr>
        <p:spPr>
          <a:xfrm>
            <a:off x="5166360" y="3319272"/>
            <a:ext cx="3291840" cy="38404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Executable code (Python, Bash, etc.) for deterministic tasks. Claude can execute these without loading them into context.</a:t>
            </a:r>
            <a:endParaRPr lang="en-US" sz="1100" dirty="0"/>
          </a:p>
        </p:txBody>
      </p:sp>
      <p:sp>
        <p:nvSpPr>
          <p:cNvPr id="18" name="Text 16"/>
          <p:cNvSpPr/>
          <p:nvPr/>
        </p:nvSpPr>
        <p:spPr>
          <a:xfrm>
            <a:off x="731520" y="4114800"/>
            <a:ext cx="7680960" cy="365760"/>
          </a:xfrm>
          <a:prstGeom prst="rect">
            <a:avLst/>
          </a:prstGeom>
          <a:noFill/>
          <a:ln/>
        </p:spPr>
        <p:txBody>
          <a:bodyPr wrap="square"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Progressive Disclosure: Level 1 (metadata) is always loaded. Level 2 (SKILL.md body) loads when triggered. Level 3 (bundled files) loads on demand.</a:t>
            </a:r>
            <a:endParaRPr lang="en-US" sz="1100" dirty="0"/>
          </a:p>
        </p:txBody>
      </p:sp>
      <p:sp>
        <p:nvSpPr>
          <p:cNvPr id="19" name="Text 17"/>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0" name="Text 18"/>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Writing Effective Skill Descriptions</a:t>
            </a:r>
            <a:endParaRPr lang="en-US" sz="3000" dirty="0"/>
          </a:p>
        </p:txBody>
      </p:sp>
      <p:sp>
        <p:nvSpPr>
          <p:cNvPr id="4" name="Shape 2"/>
          <p:cNvSpPr/>
          <p:nvPr/>
        </p:nvSpPr>
        <p:spPr>
          <a:xfrm>
            <a:off x="548640" y="1188720"/>
            <a:ext cx="3794760" cy="310896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731520" y="1280160"/>
            <a:ext cx="3474720" cy="457200"/>
          </a:xfrm>
          <a:prstGeom prst="rect">
            <a:avLst/>
          </a:prstGeom>
          <a:noFill/>
          <a:ln/>
        </p:spPr>
        <p:txBody>
          <a:bodyPr wrap="square" rtlCol="0" anchor="ctr"/>
          <a:lstStyle/>
          <a:p>
            <a:pPr marL="0" indent="0">
              <a:buNone/>
            </a:pPr>
            <a:r>
              <a:rPr lang="en-US" sz="1800" b="1" dirty="0">
                <a:solidFill>
                  <a:srgbClr val="FF6B6B"/>
                </a:solidFill>
                <a:latin typeface="Georgia" pitchFamily="34" charset="0"/>
                <a:ea typeface="Georgia" pitchFamily="34" charset="-122"/>
                <a:cs typeface="Georgia" pitchFamily="34" charset="-120"/>
              </a:rPr>
              <a:t>✅ Good Descriptions</a:t>
            </a:r>
            <a:endParaRPr lang="en-US" sz="1800" dirty="0"/>
          </a:p>
        </p:txBody>
      </p:sp>
      <p:sp>
        <p:nvSpPr>
          <p:cNvPr id="6" name="Text 4"/>
          <p:cNvSpPr/>
          <p:nvPr/>
        </p:nvSpPr>
        <p:spPr>
          <a:xfrm>
            <a:off x="731520" y="1828800"/>
            <a:ext cx="3474720" cy="2286000"/>
          </a:xfrm>
          <a:prstGeom prst="rect">
            <a:avLst/>
          </a:prstGeom>
          <a:noFill/>
          <a:ln/>
        </p:spPr>
        <p:txBody>
          <a:bodyPr wrap="square" rtlCol="0" anchor="ctr"/>
          <a:lstStyle/>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Analyzes Figma design files and generates developer handoff documentation. Use when user uploads .fig files, asks for design specs, or component documentation.</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Manages Linear project workflows including sprint planning, task creation, and status tracking. Use when user mentions sprint, Linear tasks, or project planning.</a:t>
            </a:r>
            <a:endParaRPr lang="en-US" sz="1300" dirty="0"/>
          </a:p>
        </p:txBody>
      </p:sp>
      <p:sp>
        <p:nvSpPr>
          <p:cNvPr id="7" name="Shape 5"/>
          <p:cNvSpPr/>
          <p:nvPr/>
        </p:nvSpPr>
        <p:spPr>
          <a:xfrm>
            <a:off x="4800600" y="1188720"/>
            <a:ext cx="3794760" cy="310896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8" name="Text 6"/>
          <p:cNvSpPr/>
          <p:nvPr/>
        </p:nvSpPr>
        <p:spPr>
          <a:xfrm>
            <a:off x="4983480" y="1280160"/>
            <a:ext cx="3474720" cy="457200"/>
          </a:xfrm>
          <a:prstGeom prst="rect">
            <a:avLst/>
          </a:prstGeom>
          <a:noFill/>
          <a:ln/>
        </p:spPr>
        <p:txBody>
          <a:bodyPr wrap="square" rtlCol="0" anchor="ctr"/>
          <a:lstStyle/>
          <a:p>
            <a:pPr marL="0" indent="0">
              <a:buNone/>
            </a:pPr>
            <a:r>
              <a:rPr lang="en-US" sz="1800" b="1" dirty="0">
                <a:solidFill>
                  <a:srgbClr val="10B981"/>
                </a:solidFill>
                <a:latin typeface="Georgia" pitchFamily="34" charset="0"/>
                <a:ea typeface="Georgia" pitchFamily="34" charset="-122"/>
                <a:cs typeface="Georgia" pitchFamily="34" charset="-120"/>
              </a:rPr>
              <a:t>❌ Bad Descriptions</a:t>
            </a:r>
            <a:endParaRPr lang="en-US" sz="1800" dirty="0"/>
          </a:p>
        </p:txBody>
      </p:sp>
      <p:sp>
        <p:nvSpPr>
          <p:cNvPr id="9" name="Text 7"/>
          <p:cNvSpPr/>
          <p:nvPr/>
        </p:nvSpPr>
        <p:spPr>
          <a:xfrm>
            <a:off x="4983480" y="1828800"/>
            <a:ext cx="3474720" cy="2286000"/>
          </a:xfrm>
          <a:prstGeom prst="rect">
            <a:avLst/>
          </a:prstGeom>
          <a:noFill/>
          <a:ln/>
        </p:spPr>
        <p:txBody>
          <a:bodyPr wrap="square" rtlCol="0" anchor="ctr"/>
          <a:lstStyle/>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"Helps with projects." (Too vague — no trigger phrases)</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"Creates sophisticated multi-page documentation systems." (Missing triggers — when should it load?)</a:t>
            </a:r>
            <a:endParaRPr lang="en-US" sz="1300" dirty="0"/>
          </a:p>
          <a:p>
            <a:pPr marL="342900" indent="-342900">
              <a:spcAft>
                <a:spcPts val="600"/>
              </a:spcAft>
              <a:buSzPct val="100000"/>
              <a:buChar char="•"/>
            </a:pPr>
            <a:r>
              <a:rPr lang="en-US" sz="1300" dirty="0">
                <a:solidFill>
                  <a:srgbClr val="CBD5E1"/>
                </a:solidFill>
                <a:latin typeface="Calibri" pitchFamily="34" charset="0"/>
                <a:ea typeface="Calibri" pitchFamily="34" charset="-122"/>
                <a:cs typeface="Calibri" pitchFamily="34" charset="-120"/>
              </a:rPr>
              <a:t>"Implements the Project entity model with hierarchical relationships." (Too technical — no user context)</a:t>
            </a:r>
            <a:endParaRPr lang="en-US" sz="1300" dirty="0"/>
          </a:p>
        </p:txBody>
      </p:sp>
      <p:sp>
        <p:nvSpPr>
          <p:cNvPr id="10" name="Text 8"/>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The description is how Claude decides when to load your skill. Use this formula: [What it does] + [When to use it] + [Key capabilities]</a:t>
            </a:r>
            <a:endParaRPr lang="en-US" sz="900" dirty="0"/>
          </a:p>
        </p:txBody>
      </p:sp>
      <p:sp>
        <p:nvSpPr>
          <p:cNvPr id="11" name="Text 9"/>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Creating Your First Skill — Step by Step</a:t>
            </a:r>
            <a:endParaRPr lang="en-US" sz="2800" dirty="0"/>
          </a:p>
        </p:txBody>
      </p:sp>
      <p:sp>
        <p:nvSpPr>
          <p:cNvPr id="4" name="Shape 2"/>
          <p:cNvSpPr/>
          <p:nvPr/>
        </p:nvSpPr>
        <p:spPr>
          <a:xfrm>
            <a:off x="640080" y="1188720"/>
            <a:ext cx="502920" cy="502920"/>
          </a:xfrm>
          <a:prstGeom prst="ellipse">
            <a:avLst/>
          </a:prstGeom>
          <a:solidFill>
            <a:srgbClr val="00B4D8"/>
          </a:solidFill>
          <a:ln/>
        </p:spPr>
        <p:txBody>
          <a:bodyPr/>
          <a:lstStyle/>
          <a:p>
            <a:endParaRPr lang="en-US"/>
          </a:p>
        </p:txBody>
      </p:sp>
      <p:sp>
        <p:nvSpPr>
          <p:cNvPr id="5" name="Text 3"/>
          <p:cNvSpPr/>
          <p:nvPr/>
        </p:nvSpPr>
        <p:spPr>
          <a:xfrm>
            <a:off x="640080" y="118872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1371600" y="1115568"/>
            <a:ext cx="2743200" cy="32004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Create the directory</a:t>
            </a:r>
            <a:endParaRPr lang="en-US" sz="1600" dirty="0"/>
          </a:p>
        </p:txBody>
      </p:sp>
      <p:sp>
        <p:nvSpPr>
          <p:cNvPr id="7" name="Shape 5"/>
          <p:cNvSpPr/>
          <p:nvPr/>
        </p:nvSpPr>
        <p:spPr>
          <a:xfrm>
            <a:off x="1371600" y="1481328"/>
            <a:ext cx="6858000" cy="365760"/>
          </a:xfrm>
          <a:prstGeom prst="rect">
            <a:avLst/>
          </a:prstGeom>
          <a:solidFill>
            <a:srgbClr val="0D1117"/>
          </a:solidFill>
          <a:ln/>
        </p:spPr>
        <p:txBody>
          <a:bodyPr/>
          <a:lstStyle/>
          <a:p>
            <a:endParaRPr lang="en-US"/>
          </a:p>
        </p:txBody>
      </p:sp>
      <p:sp>
        <p:nvSpPr>
          <p:cNvPr id="8" name="Text 6"/>
          <p:cNvSpPr/>
          <p:nvPr/>
        </p:nvSpPr>
        <p:spPr>
          <a:xfrm>
            <a:off x="1554480" y="1481328"/>
            <a:ext cx="6492240" cy="365760"/>
          </a:xfrm>
          <a:prstGeom prst="rect">
            <a:avLst/>
          </a:prstGeom>
          <a:noFill/>
          <a:ln/>
        </p:spPr>
        <p:txBody>
          <a:bodyPr wrap="square" rtlCol="0" anchor="ctr"/>
          <a:lstStyle/>
          <a:p>
            <a:pPr marL="0" indent="0">
              <a:buNone/>
            </a:pPr>
            <a:r>
              <a:rPr lang="en-US" sz="1200" dirty="0" err="1">
                <a:solidFill>
                  <a:srgbClr val="00B4D8"/>
                </a:solidFill>
                <a:latin typeface="Consolas" pitchFamily="34" charset="0"/>
                <a:ea typeface="Consolas" pitchFamily="34" charset="-122"/>
                <a:cs typeface="Consolas" pitchFamily="34" charset="-120"/>
              </a:rPr>
              <a:t>mkdir</a:t>
            </a:r>
            <a:r>
              <a:rPr lang="en-US" sz="1200" dirty="0">
                <a:solidFill>
                  <a:srgbClr val="00B4D8"/>
                </a:solidFill>
                <a:latin typeface="Consolas" pitchFamily="34" charset="0"/>
                <a:ea typeface="Consolas" pitchFamily="34" charset="-122"/>
                <a:cs typeface="Consolas" pitchFamily="34" charset="-120"/>
              </a:rPr>
              <a:t> /PROJECT/.claude/skills/lit-review</a:t>
            </a:r>
            <a:endParaRPr lang="en-US" sz="1200" dirty="0"/>
          </a:p>
        </p:txBody>
      </p:sp>
      <p:sp>
        <p:nvSpPr>
          <p:cNvPr id="9" name="Shape 7"/>
          <p:cNvSpPr/>
          <p:nvPr/>
        </p:nvSpPr>
        <p:spPr>
          <a:xfrm>
            <a:off x="640080" y="2103120"/>
            <a:ext cx="502920" cy="502920"/>
          </a:xfrm>
          <a:prstGeom prst="ellipse">
            <a:avLst/>
          </a:prstGeom>
          <a:solidFill>
            <a:srgbClr val="10B981"/>
          </a:solidFill>
          <a:ln/>
        </p:spPr>
        <p:txBody>
          <a:bodyPr/>
          <a:lstStyle/>
          <a:p>
            <a:endParaRPr lang="en-US"/>
          </a:p>
        </p:txBody>
      </p:sp>
      <p:sp>
        <p:nvSpPr>
          <p:cNvPr id="10" name="Text 8"/>
          <p:cNvSpPr/>
          <p:nvPr/>
        </p:nvSpPr>
        <p:spPr>
          <a:xfrm>
            <a:off x="640080" y="210312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1" name="Text 9"/>
          <p:cNvSpPr/>
          <p:nvPr/>
        </p:nvSpPr>
        <p:spPr>
          <a:xfrm>
            <a:off x="1371600" y="2029968"/>
            <a:ext cx="2743200" cy="32004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Write SKILL.md</a:t>
            </a:r>
            <a:endParaRPr lang="en-US" sz="1600" dirty="0"/>
          </a:p>
        </p:txBody>
      </p:sp>
      <p:sp>
        <p:nvSpPr>
          <p:cNvPr id="12" name="Shape 10"/>
          <p:cNvSpPr/>
          <p:nvPr/>
        </p:nvSpPr>
        <p:spPr>
          <a:xfrm>
            <a:off x="1371600" y="2395728"/>
            <a:ext cx="6858000" cy="365760"/>
          </a:xfrm>
          <a:prstGeom prst="rect">
            <a:avLst/>
          </a:prstGeom>
          <a:solidFill>
            <a:srgbClr val="0D1117"/>
          </a:solidFill>
          <a:ln/>
        </p:spPr>
        <p:txBody>
          <a:bodyPr/>
          <a:lstStyle/>
          <a:p>
            <a:endParaRPr lang="en-US"/>
          </a:p>
        </p:txBody>
      </p:sp>
      <p:sp>
        <p:nvSpPr>
          <p:cNvPr id="13" name="Text 11"/>
          <p:cNvSpPr/>
          <p:nvPr/>
        </p:nvSpPr>
        <p:spPr>
          <a:xfrm>
            <a:off x="1554480" y="2395728"/>
            <a:ext cx="6492240" cy="365760"/>
          </a:xfrm>
          <a:prstGeom prst="rect">
            <a:avLst/>
          </a:prstGeom>
          <a:noFill/>
          <a:ln/>
        </p:spPr>
        <p:txBody>
          <a:bodyPr wrap="square" rtlCol="0" anchor="ctr"/>
          <a:lstStyle/>
          <a:p>
            <a:pPr marL="0" indent="0">
              <a:buNone/>
            </a:pPr>
            <a:r>
              <a:rPr lang="en-US" sz="1200" dirty="0">
                <a:solidFill>
                  <a:srgbClr val="00B4D8"/>
                </a:solidFill>
                <a:latin typeface="Consolas" pitchFamily="34" charset="0"/>
                <a:ea typeface="Consolas" pitchFamily="34" charset="-122"/>
                <a:cs typeface="Consolas" pitchFamily="34" charset="-120"/>
              </a:rPr>
              <a:t>Write SKILL.md with YAML frontmatter (or use the Skill Creator to generate it)</a:t>
            </a:r>
            <a:endParaRPr lang="en-US" sz="1200" dirty="0"/>
          </a:p>
        </p:txBody>
      </p:sp>
      <p:sp>
        <p:nvSpPr>
          <p:cNvPr id="14" name="Shape 12"/>
          <p:cNvSpPr/>
          <p:nvPr/>
        </p:nvSpPr>
        <p:spPr>
          <a:xfrm>
            <a:off x="640080" y="3017520"/>
            <a:ext cx="502920" cy="502920"/>
          </a:xfrm>
          <a:prstGeom prst="ellipse">
            <a:avLst/>
          </a:prstGeom>
          <a:solidFill>
            <a:srgbClr val="A78BFA"/>
          </a:solidFill>
          <a:ln/>
        </p:spPr>
        <p:txBody>
          <a:bodyPr/>
          <a:lstStyle/>
          <a:p>
            <a:endParaRPr lang="en-US"/>
          </a:p>
        </p:txBody>
      </p:sp>
      <p:sp>
        <p:nvSpPr>
          <p:cNvPr id="15" name="Text 13"/>
          <p:cNvSpPr/>
          <p:nvPr/>
        </p:nvSpPr>
        <p:spPr>
          <a:xfrm>
            <a:off x="640080" y="301752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371600" y="2944368"/>
            <a:ext cx="2743200" cy="32004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Test — auto-invoke</a:t>
            </a:r>
            <a:endParaRPr lang="en-US" sz="1600" dirty="0"/>
          </a:p>
        </p:txBody>
      </p:sp>
      <p:sp>
        <p:nvSpPr>
          <p:cNvPr id="17" name="Shape 15"/>
          <p:cNvSpPr/>
          <p:nvPr/>
        </p:nvSpPr>
        <p:spPr>
          <a:xfrm>
            <a:off x="1371600" y="3310128"/>
            <a:ext cx="6858000" cy="365760"/>
          </a:xfrm>
          <a:prstGeom prst="rect">
            <a:avLst/>
          </a:prstGeom>
          <a:solidFill>
            <a:srgbClr val="0D1117"/>
          </a:solidFill>
          <a:ln/>
        </p:spPr>
        <p:txBody>
          <a:bodyPr/>
          <a:lstStyle/>
          <a:p>
            <a:endParaRPr lang="en-US"/>
          </a:p>
        </p:txBody>
      </p:sp>
      <p:sp>
        <p:nvSpPr>
          <p:cNvPr id="18" name="Text 16"/>
          <p:cNvSpPr/>
          <p:nvPr/>
        </p:nvSpPr>
        <p:spPr>
          <a:xfrm>
            <a:off x="1554480" y="3310128"/>
            <a:ext cx="6492240" cy="365760"/>
          </a:xfrm>
          <a:prstGeom prst="rect">
            <a:avLst/>
          </a:prstGeom>
          <a:noFill/>
          <a:ln/>
        </p:spPr>
        <p:txBody>
          <a:bodyPr wrap="square" rtlCol="0" anchor="ctr"/>
          <a:lstStyle/>
          <a:p>
            <a:pPr marL="0" indent="0">
              <a:buNone/>
            </a:pPr>
            <a:r>
              <a:rPr lang="en-US" sz="1200" dirty="0">
                <a:solidFill>
                  <a:srgbClr val="00B4D8"/>
                </a:solidFill>
                <a:latin typeface="Consolas" pitchFamily="34" charset="0"/>
                <a:ea typeface="Consolas" pitchFamily="34" charset="-122"/>
                <a:cs typeface="Consolas" pitchFamily="34" charset="-120"/>
              </a:rPr>
              <a:t>"How does this methodology work?"</a:t>
            </a:r>
            <a:endParaRPr lang="en-US" sz="1200" dirty="0"/>
          </a:p>
        </p:txBody>
      </p:sp>
      <p:sp>
        <p:nvSpPr>
          <p:cNvPr id="19" name="Shape 17"/>
          <p:cNvSpPr/>
          <p:nvPr/>
        </p:nvSpPr>
        <p:spPr>
          <a:xfrm>
            <a:off x="640080" y="3931920"/>
            <a:ext cx="502920" cy="502920"/>
          </a:xfrm>
          <a:prstGeom prst="ellipse">
            <a:avLst/>
          </a:prstGeom>
          <a:solidFill>
            <a:srgbClr val="FBBF24"/>
          </a:solidFill>
          <a:ln/>
        </p:spPr>
        <p:txBody>
          <a:bodyPr/>
          <a:lstStyle/>
          <a:p>
            <a:endParaRPr lang="en-US"/>
          </a:p>
        </p:txBody>
      </p:sp>
      <p:sp>
        <p:nvSpPr>
          <p:cNvPr id="20" name="Text 18"/>
          <p:cNvSpPr/>
          <p:nvPr/>
        </p:nvSpPr>
        <p:spPr>
          <a:xfrm>
            <a:off x="640080" y="3931920"/>
            <a:ext cx="502920" cy="50292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1" name="Text 19"/>
          <p:cNvSpPr/>
          <p:nvPr/>
        </p:nvSpPr>
        <p:spPr>
          <a:xfrm>
            <a:off x="1371600" y="3858768"/>
            <a:ext cx="2743200" cy="32004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Test — direct invoke</a:t>
            </a:r>
            <a:endParaRPr lang="en-US" sz="1600" dirty="0"/>
          </a:p>
        </p:txBody>
      </p:sp>
      <p:sp>
        <p:nvSpPr>
          <p:cNvPr id="22" name="Shape 20"/>
          <p:cNvSpPr/>
          <p:nvPr/>
        </p:nvSpPr>
        <p:spPr>
          <a:xfrm>
            <a:off x="1371600" y="4224528"/>
            <a:ext cx="6858000" cy="365760"/>
          </a:xfrm>
          <a:prstGeom prst="rect">
            <a:avLst/>
          </a:prstGeom>
          <a:solidFill>
            <a:srgbClr val="0D1117"/>
          </a:solidFill>
          <a:ln/>
        </p:spPr>
        <p:txBody>
          <a:bodyPr/>
          <a:lstStyle/>
          <a:p>
            <a:endParaRPr lang="en-US"/>
          </a:p>
        </p:txBody>
      </p:sp>
      <p:sp>
        <p:nvSpPr>
          <p:cNvPr id="23" name="Text 21"/>
          <p:cNvSpPr/>
          <p:nvPr/>
        </p:nvSpPr>
        <p:spPr>
          <a:xfrm>
            <a:off x="1554480" y="4224528"/>
            <a:ext cx="6492240" cy="365760"/>
          </a:xfrm>
          <a:prstGeom prst="rect">
            <a:avLst/>
          </a:prstGeom>
          <a:noFill/>
          <a:ln/>
        </p:spPr>
        <p:txBody>
          <a:bodyPr wrap="square" rtlCol="0" anchor="ctr"/>
          <a:lstStyle/>
          <a:p>
            <a:pPr marL="0" indent="0">
              <a:buNone/>
            </a:pPr>
            <a:r>
              <a:rPr lang="en-US" sz="1200" dirty="0">
                <a:solidFill>
                  <a:srgbClr val="00B4D8"/>
                </a:solidFill>
                <a:latin typeface="Consolas" pitchFamily="34" charset="0"/>
                <a:ea typeface="Consolas" pitchFamily="34" charset="-122"/>
                <a:cs typeface="Consolas" pitchFamily="34" charset="-120"/>
              </a:rPr>
              <a:t>/lit-review machine learning in oncology</a:t>
            </a:r>
            <a:endParaRPr lang="en-US" sz="1200" dirty="0"/>
          </a:p>
        </p:txBody>
      </p:sp>
      <p:sp>
        <p:nvSpPr>
          <p:cNvPr id="24" name="Text 22"/>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5" name="Text 23"/>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Two Types of Skill Content</a:t>
            </a:r>
            <a:endParaRPr lang="en-US" sz="3000" dirty="0"/>
          </a:p>
        </p:txBody>
      </p:sp>
      <p:sp>
        <p:nvSpPr>
          <p:cNvPr id="4" name="Shape 2"/>
          <p:cNvSpPr/>
          <p:nvPr/>
        </p:nvSpPr>
        <p:spPr>
          <a:xfrm>
            <a:off x="548640" y="1097280"/>
            <a:ext cx="3794760" cy="34747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548640" y="1097280"/>
            <a:ext cx="3794760" cy="54864"/>
          </a:xfrm>
          <a:prstGeom prst="rect">
            <a:avLst/>
          </a:prstGeom>
          <a:solidFill>
            <a:srgbClr val="00B4D8"/>
          </a:solidFill>
          <a:ln/>
        </p:spPr>
        <p:txBody>
          <a:bodyPr/>
          <a:lstStyle/>
          <a:p>
            <a:endParaRPr lang="en-US"/>
          </a:p>
        </p:txBody>
      </p:sp>
      <p:sp>
        <p:nvSpPr>
          <p:cNvPr id="6" name="Text 4"/>
          <p:cNvSpPr/>
          <p:nvPr/>
        </p:nvSpPr>
        <p:spPr>
          <a:xfrm>
            <a:off x="731520" y="1280160"/>
            <a:ext cx="3383280" cy="365760"/>
          </a:xfrm>
          <a:prstGeom prst="rect">
            <a:avLst/>
          </a:prstGeom>
          <a:noFill/>
          <a:ln/>
        </p:spPr>
        <p:txBody>
          <a:bodyPr wrap="square" rtlCol="0" anchor="ctr"/>
          <a:lstStyle/>
          <a:p>
            <a:pPr marL="0" indent="0">
              <a:buNone/>
            </a:pPr>
            <a:r>
              <a:rPr lang="en-US" sz="1800" b="1" dirty="0">
                <a:solidFill>
                  <a:srgbClr val="00B4D8"/>
                </a:solidFill>
                <a:latin typeface="Georgia" pitchFamily="34" charset="0"/>
                <a:ea typeface="Georgia" pitchFamily="34" charset="-122"/>
                <a:cs typeface="Georgia" pitchFamily="34" charset="-120"/>
              </a:rPr>
              <a:t>Reference Content</a:t>
            </a:r>
            <a:endParaRPr lang="en-US" sz="1800" dirty="0"/>
          </a:p>
        </p:txBody>
      </p:sp>
      <p:sp>
        <p:nvSpPr>
          <p:cNvPr id="7" name="Text 5"/>
          <p:cNvSpPr/>
          <p:nvPr/>
        </p:nvSpPr>
        <p:spPr>
          <a:xfrm>
            <a:off x="731520" y="1691640"/>
            <a:ext cx="3383280" cy="320040"/>
          </a:xfrm>
          <a:prstGeom prst="rect">
            <a:avLst/>
          </a:prstGeom>
          <a:noFill/>
          <a:ln/>
        </p:spPr>
        <p:txBody>
          <a:bodyPr wrap="square"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Knowledge Claude applies to your current work</a:t>
            </a:r>
            <a:endParaRPr lang="en-US" sz="1100" dirty="0"/>
          </a:p>
        </p:txBody>
      </p:sp>
      <p:sp>
        <p:nvSpPr>
          <p:cNvPr id="8" name="Text 6"/>
          <p:cNvSpPr/>
          <p:nvPr/>
        </p:nvSpPr>
        <p:spPr>
          <a:xfrm>
            <a:off x="731520" y="2148840"/>
            <a:ext cx="3383280" cy="2011680"/>
          </a:xfrm>
          <a:prstGeom prst="rect">
            <a:avLst/>
          </a:prstGeom>
          <a:noFill/>
          <a:ln/>
        </p:spPr>
        <p:txBody>
          <a:bodyPr wrap="square" rtlCol="0" anchor="ctr"/>
          <a:lstStyle/>
          <a:p>
            <a:pPr marL="342900" indent="-342900">
              <a:spcAft>
                <a:spcPts val="600"/>
              </a:spcAft>
              <a:buSzPct val="100000"/>
              <a:buChar char="•"/>
            </a:pPr>
            <a:r>
              <a:rPr lang="en-US" sz="1200" dirty="0">
                <a:solidFill>
                  <a:srgbClr val="4A5568"/>
                </a:solidFill>
                <a:latin typeface="Calibri" pitchFamily="34" charset="0"/>
                <a:ea typeface="Calibri" pitchFamily="34" charset="-122"/>
                <a:cs typeface="Calibri" pitchFamily="34" charset="-120"/>
              </a:rPr>
              <a:t>Conventions and coding standards</a:t>
            </a:r>
            <a:endParaRPr lang="en-US" sz="1200" dirty="0"/>
          </a:p>
          <a:p>
            <a:pPr marL="342900" indent="-342900">
              <a:spcAft>
                <a:spcPts val="600"/>
              </a:spcAft>
              <a:buSzPct val="100000"/>
              <a:buChar char="•"/>
            </a:pPr>
            <a:r>
              <a:rPr lang="en-US" sz="1200" dirty="0">
                <a:solidFill>
                  <a:srgbClr val="4A5568"/>
                </a:solidFill>
                <a:latin typeface="Calibri" pitchFamily="34" charset="0"/>
                <a:ea typeface="Calibri" pitchFamily="34" charset="-122"/>
                <a:cs typeface="Calibri" pitchFamily="34" charset="-120"/>
              </a:rPr>
              <a:t>Style guides and design patterns</a:t>
            </a:r>
            <a:endParaRPr lang="en-US" sz="1200" dirty="0"/>
          </a:p>
          <a:p>
            <a:pPr marL="342900" indent="-342900">
              <a:spcAft>
                <a:spcPts val="600"/>
              </a:spcAft>
              <a:buSzPct val="100000"/>
              <a:buChar char="•"/>
            </a:pPr>
            <a:r>
              <a:rPr lang="en-US" sz="1200" dirty="0">
                <a:solidFill>
                  <a:srgbClr val="4A5568"/>
                </a:solidFill>
                <a:latin typeface="Calibri" pitchFamily="34" charset="0"/>
                <a:ea typeface="Calibri" pitchFamily="34" charset="-122"/>
                <a:cs typeface="Calibri" pitchFamily="34" charset="-120"/>
              </a:rPr>
              <a:t>Domain knowledge and taxonomies</a:t>
            </a:r>
            <a:endParaRPr lang="en-US" sz="1200" dirty="0"/>
          </a:p>
          <a:p>
            <a:pPr marL="342900" indent="-342900">
              <a:spcAft>
                <a:spcPts val="600"/>
              </a:spcAft>
              <a:buSzPct val="100000"/>
              <a:buChar char="•"/>
            </a:pPr>
            <a:r>
              <a:rPr lang="en-US" sz="1200" dirty="0">
                <a:solidFill>
                  <a:srgbClr val="4A5568"/>
                </a:solidFill>
                <a:latin typeface="Calibri" pitchFamily="34" charset="0"/>
                <a:ea typeface="Calibri" pitchFamily="34" charset="-122"/>
                <a:cs typeface="Calibri" pitchFamily="34" charset="-120"/>
              </a:rPr>
              <a:t>Organization-level guidelines</a:t>
            </a:r>
            <a:endParaRPr lang="en-US" sz="1200" dirty="0"/>
          </a:p>
          <a:p>
            <a:pPr marL="342900" indent="-342900">
              <a:spcAft>
                <a:spcPts val="600"/>
              </a:spcAft>
              <a:buSzPct val="100000"/>
              <a:buChar char="•"/>
            </a:pPr>
            <a:r>
              <a:rPr lang="en-US" sz="1200" dirty="0">
                <a:solidFill>
                  <a:srgbClr val="4A5568"/>
                </a:solidFill>
                <a:latin typeface="Calibri" pitchFamily="34" charset="0"/>
                <a:ea typeface="Calibri" pitchFamily="34" charset="-122"/>
                <a:cs typeface="Calibri" pitchFamily="34" charset="-120"/>
              </a:rPr>
              <a:t>Runs inline — alongside conversation</a:t>
            </a:r>
            <a:endParaRPr lang="en-US" sz="1200" dirty="0"/>
          </a:p>
        </p:txBody>
      </p:sp>
      <p:sp>
        <p:nvSpPr>
          <p:cNvPr id="9" name="Shape 7"/>
          <p:cNvSpPr/>
          <p:nvPr/>
        </p:nvSpPr>
        <p:spPr>
          <a:xfrm>
            <a:off x="4800600" y="1097280"/>
            <a:ext cx="3794760" cy="34747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0" name="Shape 8"/>
          <p:cNvSpPr/>
          <p:nvPr/>
        </p:nvSpPr>
        <p:spPr>
          <a:xfrm>
            <a:off x="4800600" y="1097280"/>
            <a:ext cx="3794760" cy="54864"/>
          </a:xfrm>
          <a:prstGeom prst="rect">
            <a:avLst/>
          </a:prstGeom>
          <a:solidFill>
            <a:srgbClr val="10B981"/>
          </a:solidFill>
          <a:ln/>
        </p:spPr>
        <p:txBody>
          <a:bodyPr/>
          <a:lstStyle/>
          <a:p>
            <a:endParaRPr lang="en-US"/>
          </a:p>
        </p:txBody>
      </p:sp>
      <p:sp>
        <p:nvSpPr>
          <p:cNvPr id="11" name="Text 9"/>
          <p:cNvSpPr/>
          <p:nvPr/>
        </p:nvSpPr>
        <p:spPr>
          <a:xfrm>
            <a:off x="4983480" y="1280160"/>
            <a:ext cx="3383280" cy="365760"/>
          </a:xfrm>
          <a:prstGeom prst="rect">
            <a:avLst/>
          </a:prstGeom>
          <a:noFill/>
          <a:ln/>
        </p:spPr>
        <p:txBody>
          <a:bodyPr wrap="square" rtlCol="0" anchor="ctr"/>
          <a:lstStyle/>
          <a:p>
            <a:pPr marL="0" indent="0">
              <a:buNone/>
            </a:pPr>
            <a:r>
              <a:rPr lang="en-US" sz="1800" b="1" dirty="0">
                <a:solidFill>
                  <a:srgbClr val="10B981"/>
                </a:solidFill>
                <a:latin typeface="Georgia" pitchFamily="34" charset="0"/>
                <a:ea typeface="Georgia" pitchFamily="34" charset="-122"/>
                <a:cs typeface="Georgia" pitchFamily="34" charset="-120"/>
              </a:rPr>
              <a:t>Task Content</a:t>
            </a:r>
            <a:endParaRPr lang="en-US" sz="1800" dirty="0"/>
          </a:p>
        </p:txBody>
      </p:sp>
      <p:sp>
        <p:nvSpPr>
          <p:cNvPr id="12" name="Text 10"/>
          <p:cNvSpPr/>
          <p:nvPr/>
        </p:nvSpPr>
        <p:spPr>
          <a:xfrm>
            <a:off x="4983480" y="1691640"/>
            <a:ext cx="3383280" cy="320040"/>
          </a:xfrm>
          <a:prstGeom prst="rect">
            <a:avLst/>
          </a:prstGeom>
          <a:noFill/>
          <a:ln/>
        </p:spPr>
        <p:txBody>
          <a:bodyPr wrap="square"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Step-by-step actions for a specific workflow</a:t>
            </a:r>
            <a:endParaRPr lang="en-US" sz="1100" dirty="0"/>
          </a:p>
        </p:txBody>
      </p:sp>
      <p:sp>
        <p:nvSpPr>
          <p:cNvPr id="13" name="Text 11"/>
          <p:cNvSpPr/>
          <p:nvPr/>
        </p:nvSpPr>
        <p:spPr>
          <a:xfrm>
            <a:off x="4983480" y="2148840"/>
            <a:ext cx="3383280" cy="2011680"/>
          </a:xfrm>
          <a:prstGeom prst="rect">
            <a:avLst/>
          </a:prstGeom>
          <a:noFill/>
          <a:ln/>
        </p:spPr>
        <p:txBody>
          <a:bodyPr wrap="square" rtlCol="0" anchor="ctr"/>
          <a:lstStyle/>
          <a:p>
            <a:pPr marL="342900" indent="-342900">
              <a:spcAft>
                <a:spcPts val="600"/>
              </a:spcAft>
              <a:buSzPct val="100000"/>
              <a:buChar char="•"/>
            </a:pPr>
            <a:r>
              <a:rPr lang="en-US" sz="1200" dirty="0">
                <a:solidFill>
                  <a:srgbClr val="4A5568"/>
                </a:solidFill>
                <a:latin typeface="Calibri" pitchFamily="34" charset="0"/>
                <a:ea typeface="Calibri" pitchFamily="34" charset="-122"/>
                <a:cs typeface="Calibri" pitchFamily="34" charset="-120"/>
              </a:rPr>
              <a:t>Literature review protocols</a:t>
            </a:r>
            <a:endParaRPr lang="en-US" sz="1200" dirty="0"/>
          </a:p>
          <a:p>
            <a:pPr marL="342900" indent="-342900">
              <a:spcAft>
                <a:spcPts val="600"/>
              </a:spcAft>
              <a:buSzPct val="100000"/>
              <a:buChar char="•"/>
            </a:pPr>
            <a:r>
              <a:rPr lang="en-US" sz="1200" dirty="0">
                <a:solidFill>
                  <a:srgbClr val="4A5568"/>
                </a:solidFill>
                <a:latin typeface="Calibri" pitchFamily="34" charset="0"/>
                <a:ea typeface="Calibri" pitchFamily="34" charset="-122"/>
                <a:cs typeface="Calibri" pitchFamily="34" charset="-120"/>
              </a:rPr>
              <a:t>Data analysis pipelines</a:t>
            </a:r>
            <a:endParaRPr lang="en-US" sz="1200" dirty="0"/>
          </a:p>
          <a:p>
            <a:pPr marL="342900" indent="-342900">
              <a:spcAft>
                <a:spcPts val="600"/>
              </a:spcAft>
              <a:buSzPct val="100000"/>
              <a:buChar char="•"/>
            </a:pPr>
            <a:r>
              <a:rPr lang="en-US" sz="1200" dirty="0">
                <a:solidFill>
                  <a:srgbClr val="4A5568"/>
                </a:solidFill>
                <a:latin typeface="Calibri" pitchFamily="34" charset="0"/>
                <a:ea typeface="Calibri" pitchFamily="34" charset="-122"/>
                <a:cs typeface="Calibri" pitchFamily="34" charset="-120"/>
              </a:rPr>
              <a:t>Code generation workflows</a:t>
            </a:r>
            <a:endParaRPr lang="en-US" sz="1200" dirty="0"/>
          </a:p>
          <a:p>
            <a:pPr marL="342900" indent="-342900">
              <a:spcAft>
                <a:spcPts val="600"/>
              </a:spcAft>
              <a:buSzPct val="100000"/>
              <a:buChar char="•"/>
            </a:pPr>
            <a:r>
              <a:rPr lang="en-US" sz="1200" dirty="0">
                <a:solidFill>
                  <a:srgbClr val="4A5568"/>
                </a:solidFill>
                <a:latin typeface="Calibri" pitchFamily="34" charset="0"/>
                <a:ea typeface="Calibri" pitchFamily="34" charset="-122"/>
                <a:cs typeface="Calibri" pitchFamily="34" charset="-120"/>
              </a:rPr>
              <a:t>Deployment and CI/CD scripts</a:t>
            </a:r>
            <a:endParaRPr lang="en-US" sz="1200" dirty="0"/>
          </a:p>
          <a:p>
            <a:pPr marL="342900" indent="-342900">
              <a:spcAft>
                <a:spcPts val="600"/>
              </a:spcAft>
              <a:buSzPct val="100000"/>
              <a:buChar char="•"/>
            </a:pPr>
            <a:r>
              <a:rPr lang="en-US" sz="1200" dirty="0">
                <a:solidFill>
                  <a:srgbClr val="4A5568"/>
                </a:solidFill>
                <a:latin typeface="Calibri" pitchFamily="34" charset="0"/>
                <a:ea typeface="Calibri" pitchFamily="34" charset="-122"/>
                <a:cs typeface="Calibri" pitchFamily="34" charset="-120"/>
              </a:rPr>
              <a:t>Often invoke manually with /name</a:t>
            </a:r>
            <a:endParaRPr lang="en-US" sz="1200" dirty="0"/>
          </a:p>
        </p:txBody>
      </p:sp>
      <p:sp>
        <p:nvSpPr>
          <p:cNvPr id="14" name="Text 12"/>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15" name="Text 13"/>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Controlling Who Invokes a Skill</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1874520"/>
        </p:xfrm>
        <a:graphic>
          <a:graphicData uri="http://schemas.openxmlformats.org/drawingml/2006/table">
            <a:tbl>
              <a:tblPr/>
              <a:tblGrid>
                <a:gridCol w="27432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Configuration</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solidFill>
                      <a:srgbClr val="00B4D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You Invoke</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solidFill>
                      <a:srgbClr val="00B4D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Claude Invokes</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solidFill>
                      <a:srgbClr val="00B4D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Use Case</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solidFill>
                      <a:srgbClr val="00B4D8"/>
                    </a:solidFill>
                  </a:tcPr>
                </a:tc>
                <a:extLst>
                  <a:ext uri="{0D108BD9-81ED-4DB2-BD59-A6C34878D82A}">
                    <a16:rowId xmlns:a16="http://schemas.microsoft.com/office/drawing/2014/main" val="10000"/>
                  </a:ext>
                </a:extLst>
              </a:tr>
              <a:tr h="411480">
                <a:tc>
                  <a:txBody>
                    <a:bodyPr/>
                    <a:lstStyle/>
                    <a:p>
                      <a:pPr marL="0" indent="0">
                        <a:buNone/>
                      </a:pPr>
                      <a:r>
                        <a:rPr lang="en-US" sz="1200" dirty="0">
                          <a:solidFill>
                            <a:srgbClr val="CBD5E1"/>
                          </a:solidFill>
                          <a:latin typeface="Calibri" pitchFamily="34" charset="0"/>
                          <a:ea typeface="Calibri" pitchFamily="34" charset="-122"/>
                          <a:cs typeface="Calibri" pitchFamily="34" charset="-120"/>
                        </a:rPr>
                        <a:t>(default)</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lgn="ctr">
                        <a:buNone/>
                      </a:pPr>
                      <a:r>
                        <a:rPr lang="en-US" sz="1200" b="1"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lgn="ctr">
                        <a:buNone/>
                      </a:pPr>
                      <a:r>
                        <a:rPr lang="en-US" sz="1200" b="1"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buNone/>
                      </a:pPr>
                      <a:r>
                        <a:rPr lang="en-US" sz="1200" dirty="0">
                          <a:solidFill>
                            <a:srgbClr val="CBD5E1"/>
                          </a:solidFill>
                          <a:latin typeface="Calibri" pitchFamily="34" charset="0"/>
                          <a:ea typeface="Calibri" pitchFamily="34" charset="-122"/>
                          <a:cs typeface="Calibri" pitchFamily="34" charset="-120"/>
                        </a:rPr>
                        <a:t>General-purpose skills</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900" dirty="0">
                          <a:solidFill>
                            <a:srgbClr val="FBBF24"/>
                          </a:solidFill>
                          <a:latin typeface="Consolas" pitchFamily="34" charset="0"/>
                          <a:ea typeface="Consolas" pitchFamily="34" charset="-122"/>
                          <a:cs typeface="Consolas" pitchFamily="34" charset="-120"/>
                        </a:rPr>
                        <a:t>disable-model-invocation: true</a:t>
                      </a:r>
                      <a:endParaRPr lang="en-US" sz="900" dirty="0">
                        <a:latin typeface="Consolas" charset="0"/>
                        <a:ea typeface="Consolas" charset="0"/>
                        <a:cs typeface="Consolas"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lgn="ctr">
                        <a:buNone/>
                      </a:pPr>
                      <a:r>
                        <a:rPr lang="en-US" sz="1200" b="1"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lgn="ctr">
                        <a:buNone/>
                      </a:pPr>
                      <a:r>
                        <a:rPr lang="en-US" sz="1200" b="1" dirty="0">
                          <a:solidFill>
                            <a:srgbClr val="FF6B6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buNone/>
                      </a:pPr>
                      <a:r>
                        <a:rPr lang="en-US" sz="1200" dirty="0">
                          <a:solidFill>
                            <a:srgbClr val="CBD5E1"/>
                          </a:solidFill>
                          <a:latin typeface="Calibri" pitchFamily="34" charset="0"/>
                          <a:ea typeface="Calibri" pitchFamily="34" charset="-122"/>
                          <a:cs typeface="Calibri" pitchFamily="34" charset="-120"/>
                        </a:rPr>
                        <a:t>Deploy, commit, send emails</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900" dirty="0">
                          <a:solidFill>
                            <a:srgbClr val="FBBF24"/>
                          </a:solidFill>
                          <a:latin typeface="Consolas" pitchFamily="34" charset="0"/>
                          <a:ea typeface="Consolas" pitchFamily="34" charset="-122"/>
                          <a:cs typeface="Consolas" pitchFamily="34" charset="-120"/>
                        </a:rPr>
                        <a:t>user-invocable: false</a:t>
                      </a:r>
                      <a:endParaRPr lang="en-US" sz="900" dirty="0">
                        <a:latin typeface="Consolas" charset="0"/>
                        <a:ea typeface="Consolas" charset="0"/>
                        <a:cs typeface="Consolas"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lgn="ctr">
                        <a:buNone/>
                      </a:pPr>
                      <a:r>
                        <a:rPr lang="en-US" sz="1200" b="1" dirty="0">
                          <a:solidFill>
                            <a:srgbClr val="FF6B6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lgn="ctr">
                        <a:buNone/>
                      </a:pPr>
                      <a:r>
                        <a:rPr lang="en-US" sz="1200" b="1" dirty="0">
                          <a:solidFill>
                            <a:srgbClr val="10B98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tc>
                  <a:txBody>
                    <a:bodyPr/>
                    <a:lstStyle/>
                    <a:p>
                      <a:pPr marL="0" indent="0">
                        <a:buNone/>
                      </a:pPr>
                      <a:r>
                        <a:rPr lang="en-US" sz="1200" dirty="0">
                          <a:solidFill>
                            <a:srgbClr val="CBD5E1"/>
                          </a:solidFill>
                          <a:latin typeface="Calibri" pitchFamily="34" charset="0"/>
                          <a:ea typeface="Calibri" pitchFamily="34" charset="-122"/>
                          <a:cs typeface="Calibri" pitchFamily="34" charset="-120"/>
                        </a:rPr>
                        <a:t>Background knowledge</a:t>
                      </a:r>
                      <a:endParaRPr lang="en-US" sz="1200" dirty="0">
                        <a:latin typeface="Calibri" charset="0"/>
                        <a:ea typeface="Calibri" charset="0"/>
                        <a:cs typeface="Calibri" charset="0"/>
                      </a:endParaRPr>
                    </a:p>
                  </a:txBody>
                  <a:tcPr>
                    <a:lnL w="6350" cap="flat" cmpd="sng" algn="ctr">
                      <a:solidFill>
                        <a:srgbClr val="2F3558"/>
                      </a:solidFill>
                      <a:prstDash val="solid"/>
                      <a:round/>
                      <a:headEnd type="none" w="med" len="med"/>
                      <a:tailEnd type="none" w="med" len="med"/>
                    </a:lnL>
                    <a:lnR w="6350" cap="flat" cmpd="sng" algn="ctr">
                      <a:solidFill>
                        <a:srgbClr val="2F3558"/>
                      </a:solidFill>
                      <a:prstDash val="solid"/>
                      <a:round/>
                      <a:headEnd type="none" w="med" len="med"/>
                      <a:tailEnd type="none" w="med" len="med"/>
                    </a:lnR>
                    <a:lnT w="6350" cap="flat" cmpd="sng" algn="ctr">
                      <a:solidFill>
                        <a:srgbClr val="2F3558"/>
                      </a:solidFill>
                      <a:prstDash val="solid"/>
                      <a:round/>
                      <a:headEnd type="none" w="med" len="med"/>
                      <a:tailEnd type="none" w="med" len="med"/>
                    </a:lnT>
                    <a:lnB w="6350" cap="flat" cmpd="sng" algn="ctr">
                      <a:solidFill>
                        <a:srgbClr val="2F355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731520" y="3200400"/>
            <a:ext cx="7680960" cy="365760"/>
          </a:xfrm>
          <a:prstGeom prst="rect">
            <a:avLst/>
          </a:prstGeom>
          <a:noFill/>
          <a:ln/>
        </p:spPr>
        <p:txBody>
          <a:bodyPr wrap="square" rtlCol="0" anchor="ctr"/>
          <a:lstStyle/>
          <a:p>
            <a:pPr marL="0" indent="0">
              <a:buNone/>
            </a:pPr>
            <a:r>
              <a:rPr lang="en-US" sz="1600" b="1" dirty="0">
                <a:solidFill>
                  <a:srgbClr val="00B4D8"/>
                </a:solidFill>
                <a:latin typeface="Georgia" pitchFamily="34" charset="0"/>
                <a:ea typeface="Georgia" pitchFamily="34" charset="-122"/>
                <a:cs typeface="Georgia" pitchFamily="34" charset="-120"/>
              </a:rPr>
              <a:t>Key Insight</a:t>
            </a:r>
            <a:endParaRPr lang="en-US" sz="1600" dirty="0"/>
          </a:p>
        </p:txBody>
      </p:sp>
      <p:sp>
        <p:nvSpPr>
          <p:cNvPr id="6" name="Text 3"/>
          <p:cNvSpPr/>
          <p:nvPr/>
        </p:nvSpPr>
        <p:spPr>
          <a:xfrm>
            <a:off x="731520" y="3611880"/>
            <a:ext cx="7680960" cy="640080"/>
          </a:xfrm>
          <a:prstGeom prst="rect">
            <a:avLst/>
          </a:prstGeom>
          <a:noFill/>
          <a:ln/>
        </p:spPr>
        <p:txBody>
          <a:bodyPr wrap="square" rtlCol="0" anchor="ctr"/>
          <a:lstStyle/>
          <a:p>
            <a:pPr marL="0" indent="0">
              <a:buNone/>
            </a:pPr>
            <a:r>
              <a:rPr lang="en-US" sz="1300" dirty="0">
                <a:solidFill>
                  <a:srgbClr val="CBD5E1"/>
                </a:solidFill>
                <a:latin typeface="Calibri" pitchFamily="34" charset="0"/>
                <a:ea typeface="Calibri" pitchFamily="34" charset="-122"/>
                <a:cs typeface="Calibri" pitchFamily="34" charset="-120"/>
              </a:rPr>
              <a:t>For research tasks, default is usually best — Claude detects when your skill is relevant and loads it automatically. Use disable-model-invocation for skills with side effects.</a:t>
            </a:r>
            <a:endParaRPr lang="en-US" sz="1300" dirty="0"/>
          </a:p>
        </p:txBody>
      </p:sp>
      <p:sp>
        <p:nvSpPr>
          <p:cNvPr id="7" name="Text 4"/>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8" name="Text 5"/>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1A1F3D"/>
                </a:solidFill>
                <a:latin typeface="Georgia" pitchFamily="34" charset="0"/>
                <a:ea typeface="Georgia" pitchFamily="34" charset="-122"/>
                <a:cs typeface="Georgia" pitchFamily="34" charset="-120"/>
              </a:rPr>
              <a:t>Passing Arguments</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2012405493"/>
              </p:ext>
            </p:extLst>
          </p:nvPr>
        </p:nvGraphicFramePr>
        <p:xfrm>
          <a:off x="457200" y="1005840"/>
          <a:ext cx="8229600" cy="3458583"/>
        </p:xfrm>
        <a:graphic>
          <a:graphicData uri="http://schemas.openxmlformats.org/drawingml/2006/table">
            <a:tbl>
              <a:tblPr/>
              <a:tblGrid>
                <a:gridCol w="21031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620771">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Variable</a:t>
                      </a:r>
                      <a:endParaRPr lang="en-US" sz="1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Description</a:t>
                      </a:r>
                      <a:endParaRPr lang="en-US" sz="1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Example</a:t>
                      </a:r>
                      <a:endParaRPr lang="en-US" sz="1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extLst>
                  <a:ext uri="{0D108BD9-81ED-4DB2-BD59-A6C34878D82A}">
                    <a16:rowId xmlns:a16="http://schemas.microsoft.com/office/drawing/2014/main" val="10000"/>
                  </a:ext>
                </a:extLst>
              </a:tr>
              <a:tr h="709453">
                <a:tc>
                  <a:txBody>
                    <a:bodyPr/>
                    <a:lstStyle/>
                    <a:p>
                      <a:pPr marL="0" indent="0">
                        <a:buNone/>
                      </a:pPr>
                      <a:r>
                        <a:rPr lang="en-US" sz="1100" dirty="0">
                          <a:solidFill>
                            <a:srgbClr val="4A5568"/>
                          </a:solidFill>
                          <a:latin typeface="Consolas" pitchFamily="34" charset="0"/>
                          <a:ea typeface="Consolas" pitchFamily="34" charset="-122"/>
                          <a:cs typeface="Consolas" pitchFamily="34" charset="-120"/>
                        </a:rPr>
                        <a:t>$ARGUMENTS</a:t>
                      </a:r>
                      <a:endParaRPr lang="en-US" sz="11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4A5568"/>
                          </a:solidFill>
                          <a:latin typeface="Calibri" pitchFamily="34" charset="0"/>
                          <a:ea typeface="Calibri" pitchFamily="34" charset="-122"/>
                          <a:cs typeface="Calibri" pitchFamily="34" charset="-120"/>
                        </a:rPr>
                        <a:t>All arguments passed to the skill</a:t>
                      </a:r>
                      <a:endParaRPr lang="en-US" sz="1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4A5568"/>
                          </a:solidFill>
                          <a:latin typeface="Calibri" pitchFamily="34" charset="0"/>
                          <a:ea typeface="Calibri" pitchFamily="34" charset="-122"/>
                          <a:cs typeface="Calibri" pitchFamily="34" charset="-120"/>
                        </a:rPr>
                        <a:t>/review ML in oncology → $ARGUMENTS = 'ML in oncology'</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709453">
                <a:tc>
                  <a:txBody>
                    <a:bodyPr/>
                    <a:lstStyle/>
                    <a:p>
                      <a:pPr marL="0" indent="0">
                        <a:buNone/>
                      </a:pPr>
                      <a:r>
                        <a:rPr lang="en-US" sz="1100" dirty="0">
                          <a:solidFill>
                            <a:srgbClr val="4A5568"/>
                          </a:solidFill>
                          <a:latin typeface="Consolas" pitchFamily="34" charset="0"/>
                          <a:ea typeface="Consolas" pitchFamily="34" charset="-122"/>
                          <a:cs typeface="Consolas" pitchFamily="34" charset="-120"/>
                        </a:rPr>
                        <a:t>$ARGUMENTS[N]</a:t>
                      </a:r>
                      <a:endParaRPr lang="en-US" sz="11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4A5568"/>
                          </a:solidFill>
                          <a:latin typeface="Calibri" pitchFamily="34" charset="0"/>
                          <a:ea typeface="Calibri" pitchFamily="34" charset="-122"/>
                          <a:cs typeface="Calibri" pitchFamily="34" charset="-120"/>
                        </a:rPr>
                        <a:t>Specific argument by index (0-based)</a:t>
                      </a:r>
                      <a:endParaRPr lang="en-US" sz="1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4A5568"/>
                          </a:solidFill>
                          <a:latin typeface="Calibri" pitchFamily="34" charset="0"/>
                          <a:ea typeface="Calibri" pitchFamily="34" charset="-122"/>
                          <a:cs typeface="Calibri" pitchFamily="34" charset="-120"/>
                        </a:rPr>
                        <a:t>/migrate React Vue → $ARGUMENTS[0] = 'React'</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709453">
                <a:tc>
                  <a:txBody>
                    <a:bodyPr/>
                    <a:lstStyle/>
                    <a:p>
                      <a:pPr marL="0" indent="0">
                        <a:buNone/>
                      </a:pPr>
                      <a:r>
                        <a:rPr lang="en-US" sz="1100" dirty="0">
                          <a:solidFill>
                            <a:srgbClr val="4A5568"/>
                          </a:solidFill>
                          <a:latin typeface="Consolas" pitchFamily="34" charset="0"/>
                          <a:ea typeface="Consolas" pitchFamily="34" charset="-122"/>
                          <a:cs typeface="Consolas" pitchFamily="34" charset="-120"/>
                        </a:rPr>
                        <a:t>$0, $1, $2...</a:t>
                      </a:r>
                      <a:endParaRPr lang="en-US" sz="11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4A5568"/>
                          </a:solidFill>
                          <a:latin typeface="Calibri" pitchFamily="34" charset="0"/>
                          <a:ea typeface="Calibri" pitchFamily="34" charset="-122"/>
                          <a:cs typeface="Calibri" pitchFamily="34" charset="-120"/>
                        </a:rPr>
                        <a:t>Shorthand for $ARGUMENTS[N]</a:t>
                      </a:r>
                      <a:endParaRPr lang="en-US" sz="1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4A5568"/>
                          </a:solidFill>
                          <a:latin typeface="Calibri" pitchFamily="34" charset="0"/>
                          <a:ea typeface="Calibri" pitchFamily="34" charset="-122"/>
                          <a:cs typeface="Calibri" pitchFamily="34" charset="-120"/>
                        </a:rPr>
                        <a:t>$0 = first arg, $1 = second arg</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709453">
                <a:tc>
                  <a:txBody>
                    <a:bodyPr/>
                    <a:lstStyle/>
                    <a:p>
                      <a:pPr marL="0" indent="0">
                        <a:buNone/>
                      </a:pPr>
                      <a:r>
                        <a:rPr lang="en-US" sz="1100" dirty="0">
                          <a:solidFill>
                            <a:srgbClr val="4A5568"/>
                          </a:solidFill>
                          <a:latin typeface="Consolas" pitchFamily="34" charset="0"/>
                          <a:ea typeface="Consolas" pitchFamily="34" charset="-122"/>
                          <a:cs typeface="Consolas" pitchFamily="34" charset="-120"/>
                        </a:rPr>
                        <a:t>${CLAUDE_SESSION_ID}</a:t>
                      </a:r>
                      <a:endParaRPr lang="en-US" sz="1100" dirty="0">
                        <a:latin typeface="Consolas" charset="0"/>
                        <a:ea typeface="Consolas" charset="0"/>
                        <a:cs typeface="Consolas"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400" dirty="0">
                          <a:solidFill>
                            <a:srgbClr val="4A5568"/>
                          </a:solidFill>
                          <a:latin typeface="Calibri" pitchFamily="34" charset="0"/>
                          <a:ea typeface="Calibri" pitchFamily="34" charset="-122"/>
                          <a:cs typeface="Calibri" pitchFamily="34" charset="-120"/>
                        </a:rPr>
                        <a:t>Current session ID for logging</a:t>
                      </a:r>
                      <a:endParaRPr lang="en-US" sz="14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050" dirty="0">
                          <a:solidFill>
                            <a:srgbClr val="4A5568"/>
                          </a:solidFill>
                          <a:latin typeface="Calibri" pitchFamily="34" charset="0"/>
                          <a:ea typeface="Calibri" pitchFamily="34" charset="-122"/>
                          <a:cs typeface="Calibri" pitchFamily="34" charset="-120"/>
                        </a:rPr>
                        <a:t>Useful for session-specific logs</a:t>
                      </a:r>
                      <a:endParaRPr lang="en-US" sz="10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 8"/>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12" name="Text 9"/>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Skills Beyond Research</a:t>
            </a:r>
            <a:endParaRPr lang="en-US" sz="3000" dirty="0"/>
          </a:p>
        </p:txBody>
      </p:sp>
      <p:sp>
        <p:nvSpPr>
          <p:cNvPr id="4" name="Text 2"/>
          <p:cNvSpPr/>
          <p:nvPr/>
        </p:nvSpPr>
        <p:spPr>
          <a:xfrm>
            <a:off x="731520" y="822960"/>
            <a:ext cx="7680960" cy="365760"/>
          </a:xfrm>
          <a:prstGeom prst="rect">
            <a:avLst/>
          </a:prstGeom>
          <a:noFill/>
          <a:ln/>
        </p:spPr>
        <p:txBody>
          <a:bodyPr wrap="square" rtlCol="0" anchor="ctr"/>
          <a:lstStyle/>
          <a:p>
            <a:pPr marL="0" indent="0">
              <a:buNone/>
            </a:pPr>
            <a:r>
              <a:rPr lang="en-US" sz="1300" i="1" dirty="0">
                <a:solidFill>
                  <a:srgbClr val="8892B0"/>
                </a:solidFill>
                <a:latin typeface="Calibri" pitchFamily="34" charset="0"/>
                <a:ea typeface="Calibri" pitchFamily="34" charset="-122"/>
                <a:cs typeface="Calibri" pitchFamily="34" charset="-120"/>
              </a:rPr>
              <a:t>Skills can guide how Claude approaches coding, design, organization standards, and more</a:t>
            </a:r>
            <a:endParaRPr lang="en-US" sz="1300" dirty="0"/>
          </a:p>
        </p:txBody>
      </p:sp>
      <p:sp>
        <p:nvSpPr>
          <p:cNvPr id="5" name="Shape 3"/>
          <p:cNvSpPr/>
          <p:nvPr/>
        </p:nvSpPr>
        <p:spPr>
          <a:xfrm>
            <a:off x="548640" y="137160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548640" y="1371600"/>
            <a:ext cx="3931920" cy="45720"/>
          </a:xfrm>
          <a:prstGeom prst="rect">
            <a:avLst/>
          </a:prstGeom>
          <a:solidFill>
            <a:srgbClr val="00B4D8"/>
          </a:solidFill>
          <a:ln/>
        </p:spPr>
        <p:txBody>
          <a:bodyPr/>
          <a:lstStyle/>
          <a:p>
            <a:endParaRPr lang="en-US"/>
          </a:p>
        </p:txBody>
      </p:sp>
      <p:sp>
        <p:nvSpPr>
          <p:cNvPr id="7" name="Text 5"/>
          <p:cNvSpPr/>
          <p:nvPr/>
        </p:nvSpPr>
        <p:spPr>
          <a:xfrm>
            <a:off x="685800" y="1508760"/>
            <a:ext cx="457200" cy="411480"/>
          </a:xfrm>
          <a:prstGeom prst="rect">
            <a:avLst/>
          </a:prstGeom>
          <a:noFill/>
          <a:ln/>
        </p:spPr>
        <p:txBody>
          <a:bodyPr wrap="square" rtlCol="0" anchor="ctr"/>
          <a:lstStyle/>
          <a:p>
            <a:pPr marL="0" indent="0" algn="ctr">
              <a:buNone/>
            </a:pPr>
            <a:r>
              <a:rPr lang="en-US" sz="2000" dirty="0">
                <a:solidFill>
                  <a:srgbClr val="00B4D8"/>
                </a:solidFill>
              </a:rPr>
              <a:t>{ }</a:t>
            </a:r>
            <a:endParaRPr lang="en-US" sz="2000" dirty="0"/>
          </a:p>
        </p:txBody>
      </p:sp>
      <p:sp>
        <p:nvSpPr>
          <p:cNvPr id="8" name="Text 6"/>
          <p:cNvSpPr/>
          <p:nvPr/>
        </p:nvSpPr>
        <p:spPr>
          <a:xfrm>
            <a:off x="1188720" y="150876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Coding Standards</a:t>
            </a:r>
            <a:endParaRPr lang="en-US" sz="1500" dirty="0"/>
          </a:p>
        </p:txBody>
      </p:sp>
      <p:sp>
        <p:nvSpPr>
          <p:cNvPr id="9" name="Text 7"/>
          <p:cNvSpPr/>
          <p:nvPr/>
        </p:nvSpPr>
        <p:spPr>
          <a:xfrm>
            <a:off x="1188720" y="187452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Enforce naming conventions, architecture patterns, testing requirements, code review checklists</a:t>
            </a:r>
            <a:endParaRPr lang="en-US" sz="1100" dirty="0"/>
          </a:p>
        </p:txBody>
      </p:sp>
      <p:sp>
        <p:nvSpPr>
          <p:cNvPr id="10" name="Shape 8"/>
          <p:cNvSpPr/>
          <p:nvPr/>
        </p:nvSpPr>
        <p:spPr>
          <a:xfrm>
            <a:off x="4846320" y="137160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4846320" y="1371600"/>
            <a:ext cx="3931920" cy="45720"/>
          </a:xfrm>
          <a:prstGeom prst="rect">
            <a:avLst/>
          </a:prstGeom>
          <a:solidFill>
            <a:srgbClr val="10B981"/>
          </a:solidFill>
          <a:ln/>
        </p:spPr>
        <p:txBody>
          <a:bodyPr/>
          <a:lstStyle/>
          <a:p>
            <a:endParaRPr lang="en-US"/>
          </a:p>
        </p:txBody>
      </p:sp>
      <p:sp>
        <p:nvSpPr>
          <p:cNvPr id="12" name="Text 10"/>
          <p:cNvSpPr/>
          <p:nvPr/>
        </p:nvSpPr>
        <p:spPr>
          <a:xfrm>
            <a:off x="4983480" y="1508760"/>
            <a:ext cx="457200" cy="411480"/>
          </a:xfrm>
          <a:prstGeom prst="rect">
            <a:avLst/>
          </a:prstGeom>
          <a:noFill/>
          <a:ln/>
        </p:spPr>
        <p:txBody>
          <a:bodyPr wrap="square" rtlCol="0" anchor="ctr"/>
          <a:lstStyle/>
          <a:p>
            <a:pPr marL="0" indent="0" algn="ctr">
              <a:buNone/>
            </a:pPr>
            <a:r>
              <a:rPr lang="en-US" sz="2000" dirty="0">
                <a:solidFill>
                  <a:srgbClr val="10B981"/>
                </a:solidFill>
              </a:rPr>
              <a:t>◈</a:t>
            </a:r>
            <a:endParaRPr lang="en-US" sz="2000" dirty="0"/>
          </a:p>
        </p:txBody>
      </p:sp>
      <p:sp>
        <p:nvSpPr>
          <p:cNvPr id="13" name="Text 11"/>
          <p:cNvSpPr/>
          <p:nvPr/>
        </p:nvSpPr>
        <p:spPr>
          <a:xfrm>
            <a:off x="5486400" y="150876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Design Preferences</a:t>
            </a:r>
            <a:endParaRPr lang="en-US" sz="1500" dirty="0"/>
          </a:p>
        </p:txBody>
      </p:sp>
      <p:sp>
        <p:nvSpPr>
          <p:cNvPr id="14" name="Text 12"/>
          <p:cNvSpPr/>
          <p:nvPr/>
        </p:nvSpPr>
        <p:spPr>
          <a:xfrm>
            <a:off x="5486400" y="187452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Color palettes, typography, component library usage, accessibility requirements</a:t>
            </a:r>
            <a:endParaRPr lang="en-US" sz="1100" dirty="0"/>
          </a:p>
        </p:txBody>
      </p:sp>
      <p:sp>
        <p:nvSpPr>
          <p:cNvPr id="15" name="Shape 13"/>
          <p:cNvSpPr/>
          <p:nvPr/>
        </p:nvSpPr>
        <p:spPr>
          <a:xfrm>
            <a:off x="548640" y="288036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548640" y="2880360"/>
            <a:ext cx="3931920" cy="45720"/>
          </a:xfrm>
          <a:prstGeom prst="rect">
            <a:avLst/>
          </a:prstGeom>
          <a:solidFill>
            <a:srgbClr val="A78BFA"/>
          </a:solidFill>
          <a:ln/>
        </p:spPr>
        <p:txBody>
          <a:bodyPr/>
          <a:lstStyle/>
          <a:p>
            <a:endParaRPr lang="en-US"/>
          </a:p>
        </p:txBody>
      </p:sp>
      <p:sp>
        <p:nvSpPr>
          <p:cNvPr id="17" name="Text 15"/>
          <p:cNvSpPr/>
          <p:nvPr/>
        </p:nvSpPr>
        <p:spPr>
          <a:xfrm>
            <a:off x="685800" y="3017520"/>
            <a:ext cx="457200" cy="411480"/>
          </a:xfrm>
          <a:prstGeom prst="rect">
            <a:avLst/>
          </a:prstGeom>
          <a:noFill/>
          <a:ln/>
        </p:spPr>
        <p:txBody>
          <a:bodyPr wrap="square" rtlCol="0" anchor="ctr"/>
          <a:lstStyle/>
          <a:p>
            <a:pPr marL="0" indent="0" algn="ctr">
              <a:buNone/>
            </a:pPr>
            <a:r>
              <a:rPr lang="en-US" sz="2000" dirty="0">
                <a:solidFill>
                  <a:srgbClr val="A78BFA"/>
                </a:solidFill>
              </a:rPr>
              <a:t>⬡</a:t>
            </a:r>
            <a:endParaRPr lang="en-US" sz="2000" dirty="0"/>
          </a:p>
        </p:txBody>
      </p:sp>
      <p:sp>
        <p:nvSpPr>
          <p:cNvPr id="18" name="Text 16"/>
          <p:cNvSpPr/>
          <p:nvPr/>
        </p:nvSpPr>
        <p:spPr>
          <a:xfrm>
            <a:off x="1188720" y="301752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Org Guidelines</a:t>
            </a:r>
            <a:endParaRPr lang="en-US" sz="1500" dirty="0"/>
          </a:p>
        </p:txBody>
      </p:sp>
      <p:sp>
        <p:nvSpPr>
          <p:cNvPr id="19" name="Text 17"/>
          <p:cNvSpPr/>
          <p:nvPr/>
        </p:nvSpPr>
        <p:spPr>
          <a:xfrm>
            <a:off x="1188720" y="338328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Branding standards, documentation templates, compliance rules, security policies</a:t>
            </a:r>
            <a:endParaRPr lang="en-US" sz="1100" dirty="0"/>
          </a:p>
        </p:txBody>
      </p:sp>
      <p:sp>
        <p:nvSpPr>
          <p:cNvPr id="20" name="Shape 18"/>
          <p:cNvSpPr/>
          <p:nvPr/>
        </p:nvSpPr>
        <p:spPr>
          <a:xfrm>
            <a:off x="4846320" y="288036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4846320" y="2880360"/>
            <a:ext cx="3931920" cy="45720"/>
          </a:xfrm>
          <a:prstGeom prst="rect">
            <a:avLst/>
          </a:prstGeom>
          <a:solidFill>
            <a:srgbClr val="FBBF24"/>
          </a:solidFill>
          <a:ln/>
        </p:spPr>
        <p:txBody>
          <a:bodyPr/>
          <a:lstStyle/>
          <a:p>
            <a:endParaRPr lang="en-US"/>
          </a:p>
        </p:txBody>
      </p:sp>
      <p:sp>
        <p:nvSpPr>
          <p:cNvPr id="22" name="Text 20"/>
          <p:cNvSpPr/>
          <p:nvPr/>
        </p:nvSpPr>
        <p:spPr>
          <a:xfrm>
            <a:off x="4983480" y="3017520"/>
            <a:ext cx="457200" cy="411480"/>
          </a:xfrm>
          <a:prstGeom prst="rect">
            <a:avLst/>
          </a:prstGeom>
          <a:noFill/>
          <a:ln/>
        </p:spPr>
        <p:txBody>
          <a:bodyPr wrap="square" rtlCol="0" anchor="ctr"/>
          <a:lstStyle/>
          <a:p>
            <a:pPr marL="0" indent="0" algn="ctr">
              <a:buNone/>
            </a:pPr>
            <a:r>
              <a:rPr lang="en-US" sz="2000" dirty="0">
                <a:solidFill>
                  <a:srgbClr val="FBBF24"/>
                </a:solidFill>
              </a:rPr>
              <a:t>⟳</a:t>
            </a:r>
            <a:endParaRPr lang="en-US" sz="2000" dirty="0"/>
          </a:p>
        </p:txBody>
      </p:sp>
      <p:sp>
        <p:nvSpPr>
          <p:cNvPr id="23" name="Text 21"/>
          <p:cNvSpPr/>
          <p:nvPr/>
        </p:nvSpPr>
        <p:spPr>
          <a:xfrm>
            <a:off x="5486400" y="301752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Workflow Rules</a:t>
            </a:r>
            <a:endParaRPr lang="en-US" sz="1500" dirty="0"/>
          </a:p>
        </p:txBody>
      </p:sp>
      <p:sp>
        <p:nvSpPr>
          <p:cNvPr id="24" name="Text 22"/>
          <p:cNvSpPr/>
          <p:nvPr/>
        </p:nvSpPr>
        <p:spPr>
          <a:xfrm>
            <a:off x="5486400" y="338328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Git commit conventions, PR templates, deployment checklists, CI/CD pipelines</a:t>
            </a:r>
            <a:endParaRPr lang="en-US" sz="1100" dirty="0"/>
          </a:p>
        </p:txBody>
      </p:sp>
      <p:sp>
        <p:nvSpPr>
          <p:cNvPr id="25" name="Text 23"/>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6" name="Text 24"/>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2600" b="1" dirty="0">
                <a:solidFill>
                  <a:srgbClr val="1A1F3D"/>
                </a:solidFill>
                <a:latin typeface="Georgia" pitchFamily="34" charset="0"/>
                <a:ea typeface="Georgia" pitchFamily="34" charset="-122"/>
                <a:cs typeface="Georgia" pitchFamily="34" charset="-120"/>
              </a:rPr>
              <a:t>Case Study: Accessible Housing Research Skill</a:t>
            </a:r>
            <a:endParaRPr lang="en-US" sz="2600" dirty="0"/>
          </a:p>
        </p:txBody>
      </p:sp>
      <p:sp>
        <p:nvSpPr>
          <p:cNvPr id="4" name="Text 2"/>
          <p:cNvSpPr/>
          <p:nvPr/>
        </p:nvSpPr>
        <p:spPr>
          <a:xfrm>
            <a:off x="731520" y="914400"/>
            <a:ext cx="7680960" cy="548640"/>
          </a:xfrm>
          <a:prstGeom prst="rect">
            <a:avLst/>
          </a:prstGeom>
          <a:noFill/>
          <a:ln/>
        </p:spPr>
        <p:txBody>
          <a:bodyPr wrap="square"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A real Agent Skill that automates complex database-building research across government agencies, nonprofits, and specialized providers</a:t>
            </a:r>
            <a:endParaRPr lang="en-US" sz="1300" dirty="0"/>
          </a:p>
        </p:txBody>
      </p:sp>
      <p:sp>
        <p:nvSpPr>
          <p:cNvPr id="5" name="Shape 3"/>
          <p:cNvSpPr/>
          <p:nvPr/>
        </p:nvSpPr>
        <p:spPr>
          <a:xfrm>
            <a:off x="548640" y="1645920"/>
            <a:ext cx="1920240" cy="14630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6" name="Text 4"/>
          <p:cNvSpPr/>
          <p:nvPr/>
        </p:nvSpPr>
        <p:spPr>
          <a:xfrm>
            <a:off x="548640" y="1737360"/>
            <a:ext cx="1920240" cy="640080"/>
          </a:xfrm>
          <a:prstGeom prst="rect">
            <a:avLst/>
          </a:prstGeom>
          <a:noFill/>
          <a:ln/>
        </p:spPr>
        <p:txBody>
          <a:bodyPr wrap="square" rtlCol="0" anchor="ctr"/>
          <a:lstStyle/>
          <a:p>
            <a:pPr marL="0" indent="0" algn="ctr">
              <a:buNone/>
            </a:pPr>
            <a:r>
              <a:rPr lang="en-US" sz="3600" b="1" dirty="0">
                <a:solidFill>
                  <a:srgbClr val="00B4D8"/>
                </a:solidFill>
                <a:latin typeface="Georgia" pitchFamily="34" charset="0"/>
                <a:ea typeface="Georgia" pitchFamily="34" charset="-122"/>
                <a:cs typeface="Georgia" pitchFamily="34" charset="-120"/>
              </a:rPr>
              <a:t>35</a:t>
            </a:r>
            <a:endParaRPr lang="en-US" sz="3600" dirty="0"/>
          </a:p>
        </p:txBody>
      </p:sp>
      <p:sp>
        <p:nvSpPr>
          <p:cNvPr id="7" name="Text 5"/>
          <p:cNvSpPr/>
          <p:nvPr/>
        </p:nvSpPr>
        <p:spPr>
          <a:xfrm>
            <a:off x="548640" y="2377440"/>
            <a:ext cx="1920240" cy="59436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Data Fields</a:t>
            </a:r>
            <a:endParaRPr lang="en-US" sz="1100" dirty="0"/>
          </a:p>
          <a:p>
            <a:pPr marL="0" indent="0" algn="ctr">
              <a:buNone/>
            </a:pPr>
            <a:r>
              <a:rPr lang="en-US" sz="1100" dirty="0">
                <a:solidFill>
                  <a:srgbClr val="4A5568"/>
                </a:solidFill>
                <a:latin typeface="Calibri" pitchFamily="34" charset="0"/>
                <a:ea typeface="Calibri" pitchFamily="34" charset="-122"/>
                <a:cs typeface="Calibri" pitchFamily="34" charset="-120"/>
              </a:rPr>
              <a:t>per Record</a:t>
            </a:r>
            <a:endParaRPr lang="en-US" sz="1100" dirty="0"/>
          </a:p>
        </p:txBody>
      </p:sp>
      <p:sp>
        <p:nvSpPr>
          <p:cNvPr id="8" name="Shape 6"/>
          <p:cNvSpPr/>
          <p:nvPr/>
        </p:nvSpPr>
        <p:spPr>
          <a:xfrm>
            <a:off x="2697480" y="1645920"/>
            <a:ext cx="1920240" cy="14630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9" name="Text 7"/>
          <p:cNvSpPr/>
          <p:nvPr/>
        </p:nvSpPr>
        <p:spPr>
          <a:xfrm>
            <a:off x="2697480" y="1737360"/>
            <a:ext cx="1920240" cy="640080"/>
          </a:xfrm>
          <a:prstGeom prst="rect">
            <a:avLst/>
          </a:prstGeom>
          <a:noFill/>
          <a:ln/>
        </p:spPr>
        <p:txBody>
          <a:bodyPr wrap="square" rtlCol="0" anchor="ctr"/>
          <a:lstStyle/>
          <a:p>
            <a:pPr marL="0" indent="0" algn="ctr">
              <a:buNone/>
            </a:pPr>
            <a:r>
              <a:rPr lang="en-US" sz="3600" b="1" dirty="0">
                <a:solidFill>
                  <a:srgbClr val="10B981"/>
                </a:solidFill>
                <a:latin typeface="Georgia" pitchFamily="34" charset="0"/>
                <a:ea typeface="Georgia" pitchFamily="34" charset="-122"/>
                <a:cs typeface="Georgia" pitchFamily="34" charset="-120"/>
              </a:rPr>
              <a:t>28</a:t>
            </a:r>
            <a:endParaRPr lang="en-US" sz="3600" dirty="0"/>
          </a:p>
        </p:txBody>
      </p:sp>
      <p:sp>
        <p:nvSpPr>
          <p:cNvPr id="10" name="Text 8"/>
          <p:cNvSpPr/>
          <p:nvPr/>
        </p:nvSpPr>
        <p:spPr>
          <a:xfrm>
            <a:off x="2697480" y="2377440"/>
            <a:ext cx="1920240" cy="59436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Research</a:t>
            </a:r>
            <a:endParaRPr lang="en-US" sz="1100" dirty="0"/>
          </a:p>
          <a:p>
            <a:pPr marL="0" indent="0" algn="ctr">
              <a:buNone/>
            </a:pPr>
            <a:r>
              <a:rPr lang="en-US" sz="1100" dirty="0">
                <a:solidFill>
                  <a:srgbClr val="4A5568"/>
                </a:solidFill>
                <a:latin typeface="Calibri" pitchFamily="34" charset="0"/>
                <a:ea typeface="Calibri" pitchFamily="34" charset="-122"/>
                <a:cs typeface="Calibri" pitchFamily="34" charset="-120"/>
              </a:rPr>
              <a:t>Sources</a:t>
            </a:r>
            <a:endParaRPr lang="en-US" sz="1100" dirty="0"/>
          </a:p>
        </p:txBody>
      </p:sp>
      <p:sp>
        <p:nvSpPr>
          <p:cNvPr id="11" name="Shape 9"/>
          <p:cNvSpPr/>
          <p:nvPr/>
        </p:nvSpPr>
        <p:spPr>
          <a:xfrm>
            <a:off x="4846320" y="1645920"/>
            <a:ext cx="1920240" cy="14630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2" name="Text 10"/>
          <p:cNvSpPr/>
          <p:nvPr/>
        </p:nvSpPr>
        <p:spPr>
          <a:xfrm>
            <a:off x="4846320" y="1737360"/>
            <a:ext cx="1920240" cy="640080"/>
          </a:xfrm>
          <a:prstGeom prst="rect">
            <a:avLst/>
          </a:prstGeom>
          <a:noFill/>
          <a:ln/>
        </p:spPr>
        <p:txBody>
          <a:bodyPr wrap="square" rtlCol="0" anchor="ctr"/>
          <a:lstStyle/>
          <a:p>
            <a:pPr marL="0" indent="0" algn="ctr">
              <a:buNone/>
            </a:pPr>
            <a:r>
              <a:rPr lang="en-US" sz="3600" b="1" dirty="0">
                <a:solidFill>
                  <a:srgbClr val="A78BFA"/>
                </a:solidFill>
                <a:latin typeface="Georgia" pitchFamily="34" charset="0"/>
                <a:ea typeface="Georgia" pitchFamily="34" charset="-122"/>
                <a:cs typeface="Georgia" pitchFamily="34" charset="-120"/>
              </a:rPr>
              <a:t>10</a:t>
            </a:r>
            <a:endParaRPr lang="en-US" sz="3600" dirty="0"/>
          </a:p>
        </p:txBody>
      </p:sp>
      <p:sp>
        <p:nvSpPr>
          <p:cNvPr id="13" name="Text 11"/>
          <p:cNvSpPr/>
          <p:nvPr/>
        </p:nvSpPr>
        <p:spPr>
          <a:xfrm>
            <a:off x="4846320" y="2377440"/>
            <a:ext cx="1920240" cy="59436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Complete</a:t>
            </a:r>
            <a:endParaRPr lang="en-US" sz="1100" dirty="0"/>
          </a:p>
          <a:p>
            <a:pPr marL="0" indent="0" algn="ctr">
              <a:buNone/>
            </a:pPr>
            <a:r>
              <a:rPr lang="en-US" sz="1100" dirty="0">
                <a:solidFill>
                  <a:srgbClr val="4A5568"/>
                </a:solidFill>
                <a:latin typeface="Calibri" pitchFamily="34" charset="0"/>
                <a:ea typeface="Calibri" pitchFamily="34" charset="-122"/>
                <a:cs typeface="Calibri" pitchFamily="34" charset="-120"/>
              </a:rPr>
              <a:t>Taxonomies</a:t>
            </a:r>
            <a:endParaRPr lang="en-US" sz="1100" dirty="0"/>
          </a:p>
        </p:txBody>
      </p:sp>
      <p:sp>
        <p:nvSpPr>
          <p:cNvPr id="14" name="Shape 12"/>
          <p:cNvSpPr/>
          <p:nvPr/>
        </p:nvSpPr>
        <p:spPr>
          <a:xfrm>
            <a:off x="6995160" y="1645920"/>
            <a:ext cx="1920240" cy="14630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5" name="Text 13"/>
          <p:cNvSpPr/>
          <p:nvPr/>
        </p:nvSpPr>
        <p:spPr>
          <a:xfrm>
            <a:off x="6995160" y="1737360"/>
            <a:ext cx="1920240" cy="640080"/>
          </a:xfrm>
          <a:prstGeom prst="rect">
            <a:avLst/>
          </a:prstGeom>
          <a:noFill/>
          <a:ln/>
        </p:spPr>
        <p:txBody>
          <a:bodyPr wrap="square" rtlCol="0" anchor="ctr"/>
          <a:lstStyle/>
          <a:p>
            <a:pPr marL="0" indent="0" algn="ctr">
              <a:buNone/>
            </a:pPr>
            <a:r>
              <a:rPr lang="en-US" sz="3600" b="1" dirty="0">
                <a:solidFill>
                  <a:srgbClr val="FF6B6B"/>
                </a:solidFill>
                <a:latin typeface="Georgia" pitchFamily="34" charset="0"/>
                <a:ea typeface="Georgia" pitchFamily="34" charset="-122"/>
                <a:cs typeface="Georgia" pitchFamily="34" charset="-120"/>
              </a:rPr>
              <a:t>17</a:t>
            </a:r>
            <a:endParaRPr lang="en-US" sz="3600" dirty="0"/>
          </a:p>
        </p:txBody>
      </p:sp>
      <p:sp>
        <p:nvSpPr>
          <p:cNvPr id="16" name="Text 14"/>
          <p:cNvSpPr/>
          <p:nvPr/>
        </p:nvSpPr>
        <p:spPr>
          <a:xfrm>
            <a:off x="6995160" y="2377440"/>
            <a:ext cx="1920240" cy="594360"/>
          </a:xfrm>
          <a:prstGeom prst="rect">
            <a:avLst/>
          </a:prstGeom>
          <a:noFill/>
          <a:ln/>
        </p:spPr>
        <p:txBody>
          <a:bodyPr wrap="square"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Quality</a:t>
            </a:r>
            <a:endParaRPr lang="en-US" sz="1100" dirty="0"/>
          </a:p>
          <a:p>
            <a:pPr marL="0" indent="0" algn="ctr">
              <a:buNone/>
            </a:pPr>
            <a:r>
              <a:rPr lang="en-US" sz="1100" dirty="0">
                <a:solidFill>
                  <a:srgbClr val="4A5568"/>
                </a:solidFill>
                <a:latin typeface="Calibri" pitchFamily="34" charset="0"/>
                <a:ea typeface="Calibri" pitchFamily="34" charset="-122"/>
                <a:cs typeface="Calibri" pitchFamily="34" charset="-120"/>
              </a:rPr>
              <a:t>Checklist Items</a:t>
            </a:r>
            <a:endParaRPr lang="en-US" sz="1100" dirty="0"/>
          </a:p>
        </p:txBody>
      </p:sp>
      <p:sp>
        <p:nvSpPr>
          <p:cNvPr id="17" name="Shape 15"/>
          <p:cNvSpPr/>
          <p:nvPr/>
        </p:nvSpPr>
        <p:spPr>
          <a:xfrm>
            <a:off x="548640" y="3383280"/>
            <a:ext cx="8046720" cy="10058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8" name="Shape 16"/>
          <p:cNvSpPr/>
          <p:nvPr/>
        </p:nvSpPr>
        <p:spPr>
          <a:xfrm>
            <a:off x="548640" y="3383280"/>
            <a:ext cx="64008" cy="1005840"/>
          </a:xfrm>
          <a:prstGeom prst="rect">
            <a:avLst/>
          </a:prstGeom>
          <a:solidFill>
            <a:srgbClr val="00B4D8"/>
          </a:solidFill>
          <a:ln/>
        </p:spPr>
        <p:txBody>
          <a:bodyPr/>
          <a:lstStyle/>
          <a:p>
            <a:endParaRPr lang="en-US"/>
          </a:p>
        </p:txBody>
      </p:sp>
      <p:sp>
        <p:nvSpPr>
          <p:cNvPr id="19" name="Text 17"/>
          <p:cNvSpPr/>
          <p:nvPr/>
        </p:nvSpPr>
        <p:spPr>
          <a:xfrm>
            <a:off x="822960" y="3429000"/>
            <a:ext cx="7498080" cy="320040"/>
          </a:xfrm>
          <a:prstGeom prst="rect">
            <a:avLst/>
          </a:prstGeom>
          <a:noFill/>
          <a:ln/>
        </p:spPr>
        <p:txBody>
          <a:bodyPr wrap="square" rtlCol="0" anchor="ctr"/>
          <a:lstStyle/>
          <a:p>
            <a:pPr marL="0" indent="0">
              <a:buNone/>
            </a:pPr>
            <a:r>
              <a:rPr lang="en-US" sz="1300" b="1" dirty="0">
                <a:solidFill>
                  <a:srgbClr val="1A1F3D"/>
                </a:solidFill>
                <a:latin typeface="Consolas" pitchFamily="34" charset="0"/>
                <a:ea typeface="Consolas" pitchFamily="34" charset="-122"/>
                <a:cs typeface="Consolas" pitchFamily="34" charset="-120"/>
              </a:rPr>
              <a:t>Invocation:  /accessible-housing Nashville, Tennessee</a:t>
            </a:r>
            <a:endParaRPr lang="en-US" sz="1300" dirty="0"/>
          </a:p>
        </p:txBody>
      </p:sp>
      <p:sp>
        <p:nvSpPr>
          <p:cNvPr id="20" name="Text 18"/>
          <p:cNvSpPr/>
          <p:nvPr/>
        </p:nvSpPr>
        <p:spPr>
          <a:xfrm>
            <a:off x="822960" y="3794760"/>
            <a:ext cx="7498080" cy="5029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Claude researches government agencies, nonprofits, and private providers — then produces a structured spreadsheet with 35 fields per housing option, complete with verified data confidence ratings.</a:t>
            </a:r>
            <a:endParaRPr lang="en-US" sz="1100" dirty="0"/>
          </a:p>
        </p:txBody>
      </p:sp>
      <p:sp>
        <p:nvSpPr>
          <p:cNvPr id="21" name="Text 19"/>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2" name="Text 20"/>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How the Housing Skill is Structured</a:t>
            </a:r>
            <a:endParaRPr lang="en-US" sz="2800" dirty="0"/>
          </a:p>
        </p:txBody>
      </p:sp>
      <p:sp>
        <p:nvSpPr>
          <p:cNvPr id="4" name="Shape 2"/>
          <p:cNvSpPr/>
          <p:nvPr/>
        </p:nvSpPr>
        <p:spPr>
          <a:xfrm>
            <a:off x="548640" y="1005840"/>
            <a:ext cx="4114800" cy="1828800"/>
          </a:xfrm>
          <a:prstGeom prst="rect">
            <a:avLst/>
          </a:prstGeom>
          <a:solidFill>
            <a:srgbClr val="0D1117"/>
          </a:solidFill>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640080" y="1024128"/>
            <a:ext cx="3840480" cy="274320"/>
          </a:xfrm>
          <a:prstGeom prst="rect">
            <a:avLst/>
          </a:prstGeom>
          <a:noFill/>
          <a:ln/>
        </p:spPr>
        <p:txBody>
          <a:bodyPr wrap="square" rtlCol="0" anchor="ctr"/>
          <a:lstStyle/>
          <a:p>
            <a:pPr marL="0" indent="0">
              <a:buNone/>
            </a:pPr>
            <a:r>
              <a:rPr lang="en-US" sz="1100" b="1" dirty="0">
                <a:solidFill>
                  <a:srgbClr val="FBBF24"/>
                </a:solidFill>
                <a:latin typeface="Calibri" pitchFamily="34" charset="0"/>
                <a:ea typeface="Calibri" pitchFamily="34" charset="-122"/>
                <a:cs typeface="Calibri" pitchFamily="34" charset="-120"/>
              </a:rPr>
              <a:t>YAML Frontmatter (Required)</a:t>
            </a:r>
            <a:endParaRPr lang="en-US" sz="1100" dirty="0"/>
          </a:p>
        </p:txBody>
      </p:sp>
      <p:sp>
        <p:nvSpPr>
          <p:cNvPr id="6" name="Text 4"/>
          <p:cNvSpPr/>
          <p:nvPr/>
        </p:nvSpPr>
        <p:spPr>
          <a:xfrm>
            <a:off x="731520" y="1325880"/>
            <a:ext cx="3840480" cy="1463040"/>
          </a:xfrm>
          <a:prstGeom prst="rect">
            <a:avLst/>
          </a:prstGeom>
          <a:noFill/>
          <a:ln/>
        </p:spPr>
        <p:txBody>
          <a:bodyPr wrap="square" rtlCol="0" anchor="ctr"/>
          <a:lstStyle/>
          <a:p>
            <a:pPr marL="0" indent="0">
              <a:spcAft>
                <a:spcPts val="100"/>
              </a:spcAft>
              <a:buNone/>
            </a:pPr>
            <a:r>
              <a:rPr lang="en-US" sz="1000" dirty="0">
                <a:solidFill>
                  <a:srgbClr val="8892B0"/>
                </a:solidFill>
                <a:latin typeface="Consolas" pitchFamily="34" charset="0"/>
                <a:ea typeface="Consolas" pitchFamily="34" charset="-122"/>
                <a:cs typeface="Consolas" pitchFamily="34" charset="-120"/>
              </a:rPr>
              <a:t>---</a:t>
            </a:r>
            <a:endParaRPr lang="en-US" sz="1000" dirty="0"/>
          </a:p>
          <a:p>
            <a:pPr marL="0" indent="0">
              <a:spcAft>
                <a:spcPts val="100"/>
              </a:spcAft>
              <a:buNone/>
            </a:pPr>
            <a:r>
              <a:rPr lang="en-US" sz="1000" dirty="0">
                <a:solidFill>
                  <a:srgbClr val="10B981"/>
                </a:solidFill>
                <a:latin typeface="Consolas" pitchFamily="34" charset="0"/>
                <a:ea typeface="Consolas" pitchFamily="34" charset="-122"/>
                <a:cs typeface="Consolas" pitchFamily="34" charset="-120"/>
              </a:rPr>
              <a:t>name: accessible-housing</a:t>
            </a:r>
            <a:endParaRPr lang="en-US" sz="1000" dirty="0"/>
          </a:p>
          <a:p>
            <a:pPr marL="0" indent="0">
              <a:spcAft>
                <a:spcPts val="100"/>
              </a:spcAft>
              <a:buNone/>
            </a:pPr>
            <a:r>
              <a:rPr lang="en-US" sz="1000" dirty="0">
                <a:solidFill>
                  <a:srgbClr val="10B981"/>
                </a:solidFill>
                <a:latin typeface="Consolas" pitchFamily="34" charset="0"/>
                <a:ea typeface="Consolas" pitchFamily="34" charset="-122"/>
                <a:cs typeface="Consolas" pitchFamily="34" charset="-120"/>
              </a:rPr>
              <a:t>description: Researches and catalogs</a:t>
            </a:r>
            <a:endParaRPr lang="en-US" sz="1000" dirty="0"/>
          </a:p>
          <a:p>
            <a:pPr marL="0" indent="0">
              <a:spcAft>
                <a:spcPts val="100"/>
              </a:spcAft>
              <a:buNone/>
            </a:pPr>
            <a:r>
              <a:rPr lang="en-US" sz="1000" dirty="0">
                <a:solidFill>
                  <a:srgbClr val="10B981"/>
                </a:solidFill>
                <a:latin typeface="Consolas" pitchFamily="34" charset="0"/>
                <a:ea typeface="Consolas" pitchFamily="34" charset="-122"/>
                <a:cs typeface="Consolas" pitchFamily="34" charset="-120"/>
              </a:rPr>
              <a:t>  accessible housing solutions for</a:t>
            </a:r>
            <a:endParaRPr lang="en-US" sz="1000" dirty="0"/>
          </a:p>
          <a:p>
            <a:pPr marL="0" indent="0">
              <a:spcAft>
                <a:spcPts val="100"/>
              </a:spcAft>
              <a:buNone/>
            </a:pPr>
            <a:r>
              <a:rPr lang="en-US" sz="1000" dirty="0">
                <a:solidFill>
                  <a:srgbClr val="10B981"/>
                </a:solidFill>
                <a:latin typeface="Consolas" pitchFamily="34" charset="0"/>
                <a:ea typeface="Consolas" pitchFamily="34" charset="-122"/>
                <a:cs typeface="Consolas" pitchFamily="34" charset="-120"/>
              </a:rPr>
              <a:t>  adults with disabilities in a US area</a:t>
            </a:r>
            <a:endParaRPr lang="en-US" sz="1000" dirty="0"/>
          </a:p>
          <a:p>
            <a:pPr marL="0" indent="0">
              <a:spcAft>
                <a:spcPts val="100"/>
              </a:spcAft>
              <a:buNone/>
            </a:pPr>
            <a:r>
              <a:rPr lang="en-US" sz="1000" dirty="0">
                <a:solidFill>
                  <a:srgbClr val="10B981"/>
                </a:solidFill>
                <a:latin typeface="Consolas" pitchFamily="34" charset="0"/>
                <a:ea typeface="Consolas" pitchFamily="34" charset="-122"/>
                <a:cs typeface="Consolas" pitchFamily="34" charset="-120"/>
              </a:rPr>
              <a:t>argument-hint: [location]</a:t>
            </a:r>
            <a:endParaRPr lang="en-US" sz="1000" dirty="0"/>
          </a:p>
          <a:p>
            <a:pPr marL="0" indent="0">
              <a:spcAft>
                <a:spcPts val="100"/>
              </a:spcAft>
              <a:buNone/>
            </a:pPr>
            <a:r>
              <a:rPr lang="en-US" sz="1000" dirty="0">
                <a:solidFill>
                  <a:srgbClr val="10B981"/>
                </a:solidFill>
                <a:latin typeface="Consolas" pitchFamily="34" charset="0"/>
                <a:ea typeface="Consolas" pitchFamily="34" charset="-122"/>
                <a:cs typeface="Consolas" pitchFamily="34" charset="-120"/>
              </a:rPr>
              <a:t>allowed-tools: Read, Grep, </a:t>
            </a:r>
            <a:r>
              <a:rPr lang="en-US" sz="1000" dirty="0" err="1">
                <a:solidFill>
                  <a:srgbClr val="10B981"/>
                </a:solidFill>
                <a:latin typeface="Consolas" pitchFamily="34" charset="0"/>
                <a:ea typeface="Consolas" pitchFamily="34" charset="-122"/>
                <a:cs typeface="Consolas" pitchFamily="34" charset="-120"/>
              </a:rPr>
              <a:t>WebSearch</a:t>
            </a:r>
            <a:r>
              <a:rPr lang="en-US" sz="1000" dirty="0">
                <a:solidFill>
                  <a:srgbClr val="10B981"/>
                </a:solidFill>
                <a:latin typeface="Consolas" pitchFamily="34" charset="0"/>
                <a:ea typeface="Consolas" pitchFamily="34" charset="-122"/>
                <a:cs typeface="Consolas" pitchFamily="34" charset="-120"/>
              </a:rPr>
              <a:t>…</a:t>
            </a:r>
            <a:endParaRPr lang="en-US" sz="1000" dirty="0"/>
          </a:p>
          <a:p>
            <a:pPr marL="0" indent="0">
              <a:spcAft>
                <a:spcPts val="100"/>
              </a:spcAft>
              <a:buNone/>
            </a:pPr>
            <a:r>
              <a:rPr lang="en-US" sz="1000" dirty="0">
                <a:solidFill>
                  <a:srgbClr val="8892B0"/>
                </a:solidFill>
                <a:latin typeface="Consolas" pitchFamily="34" charset="0"/>
                <a:ea typeface="Consolas" pitchFamily="34" charset="-122"/>
                <a:cs typeface="Consolas" pitchFamily="34" charset="-120"/>
              </a:rPr>
              <a:t>---</a:t>
            </a:r>
            <a:endParaRPr lang="en-US" sz="1000" dirty="0"/>
          </a:p>
        </p:txBody>
      </p:sp>
      <p:sp>
        <p:nvSpPr>
          <p:cNvPr id="7" name="Shape 5"/>
          <p:cNvSpPr/>
          <p:nvPr/>
        </p:nvSpPr>
        <p:spPr>
          <a:xfrm>
            <a:off x="4937760" y="1005840"/>
            <a:ext cx="3657600" cy="548640"/>
          </a:xfrm>
          <a:prstGeom prst="rect">
            <a:avLst/>
          </a:prstGeom>
          <a:solidFill>
            <a:srgbClr val="252A4A"/>
          </a:solidFill>
          <a:ln/>
        </p:spPr>
        <p:txBody>
          <a:bodyPr/>
          <a:lstStyle/>
          <a:p>
            <a:endParaRPr lang="en-US"/>
          </a:p>
        </p:txBody>
      </p:sp>
      <p:sp>
        <p:nvSpPr>
          <p:cNvPr id="8" name="Shape 6"/>
          <p:cNvSpPr/>
          <p:nvPr/>
        </p:nvSpPr>
        <p:spPr>
          <a:xfrm>
            <a:off x="4937760" y="1005840"/>
            <a:ext cx="54864" cy="548640"/>
          </a:xfrm>
          <a:prstGeom prst="rect">
            <a:avLst/>
          </a:prstGeom>
          <a:solidFill>
            <a:srgbClr val="00B4D8"/>
          </a:solidFill>
          <a:ln/>
        </p:spPr>
        <p:txBody>
          <a:bodyPr/>
          <a:lstStyle/>
          <a:p>
            <a:endParaRPr lang="en-US"/>
          </a:p>
        </p:txBody>
      </p:sp>
      <p:sp>
        <p:nvSpPr>
          <p:cNvPr id="9" name="Text 7"/>
          <p:cNvSpPr/>
          <p:nvPr/>
        </p:nvSpPr>
        <p:spPr>
          <a:xfrm>
            <a:off x="5166360" y="1024128"/>
            <a:ext cx="3200400" cy="228600"/>
          </a:xfrm>
          <a:prstGeom prst="rect">
            <a:avLst/>
          </a:prstGeom>
          <a:noFill/>
          <a:ln/>
        </p:spPr>
        <p:txBody>
          <a:bodyPr wrap="square" lIns="0" tIns="0" rIns="0" bIns="0" rtlCol="0" anchor="ctr"/>
          <a:lstStyle/>
          <a:p>
            <a:pPr marL="0" indent="0">
              <a:buNone/>
            </a:pPr>
            <a:r>
              <a:rPr lang="en-US" sz="1200" b="1" dirty="0">
                <a:solidFill>
                  <a:srgbClr val="00B4D8"/>
                </a:solidFill>
                <a:latin typeface="Georgia" pitchFamily="34" charset="0"/>
                <a:ea typeface="Georgia" pitchFamily="34" charset="-122"/>
                <a:cs typeface="Georgia" pitchFamily="34" charset="-120"/>
              </a:rPr>
              <a:t>Parse Location</a:t>
            </a:r>
            <a:endParaRPr lang="en-US" sz="1200" dirty="0"/>
          </a:p>
        </p:txBody>
      </p:sp>
      <p:sp>
        <p:nvSpPr>
          <p:cNvPr id="10" name="Text 8"/>
          <p:cNvSpPr/>
          <p:nvPr/>
        </p:nvSpPr>
        <p:spPr>
          <a:xfrm>
            <a:off x="5166360" y="1261872"/>
            <a:ext cx="3200400" cy="256032"/>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Extracts geographic area from $ARGUMENTS, defaults to Nashville</a:t>
            </a:r>
            <a:endParaRPr lang="en-US" sz="1000" dirty="0"/>
          </a:p>
        </p:txBody>
      </p:sp>
      <p:sp>
        <p:nvSpPr>
          <p:cNvPr id="11" name="Shape 9"/>
          <p:cNvSpPr/>
          <p:nvPr/>
        </p:nvSpPr>
        <p:spPr>
          <a:xfrm>
            <a:off x="4937760" y="1691640"/>
            <a:ext cx="3657600" cy="548640"/>
          </a:xfrm>
          <a:prstGeom prst="rect">
            <a:avLst/>
          </a:prstGeom>
          <a:solidFill>
            <a:srgbClr val="252A4A"/>
          </a:solidFill>
          <a:ln/>
        </p:spPr>
        <p:txBody>
          <a:bodyPr/>
          <a:lstStyle/>
          <a:p>
            <a:endParaRPr lang="en-US"/>
          </a:p>
        </p:txBody>
      </p:sp>
      <p:sp>
        <p:nvSpPr>
          <p:cNvPr id="12" name="Shape 10"/>
          <p:cNvSpPr/>
          <p:nvPr/>
        </p:nvSpPr>
        <p:spPr>
          <a:xfrm>
            <a:off x="4937760" y="1691640"/>
            <a:ext cx="54864" cy="548640"/>
          </a:xfrm>
          <a:prstGeom prst="rect">
            <a:avLst/>
          </a:prstGeom>
          <a:solidFill>
            <a:srgbClr val="10B981"/>
          </a:solidFill>
          <a:ln/>
        </p:spPr>
        <p:txBody>
          <a:bodyPr/>
          <a:lstStyle/>
          <a:p>
            <a:endParaRPr lang="en-US"/>
          </a:p>
        </p:txBody>
      </p:sp>
      <p:sp>
        <p:nvSpPr>
          <p:cNvPr id="13" name="Text 11"/>
          <p:cNvSpPr/>
          <p:nvPr/>
        </p:nvSpPr>
        <p:spPr>
          <a:xfrm>
            <a:off x="5166360" y="1709928"/>
            <a:ext cx="3200400" cy="228600"/>
          </a:xfrm>
          <a:prstGeom prst="rect">
            <a:avLst/>
          </a:prstGeom>
          <a:noFill/>
          <a:ln/>
        </p:spPr>
        <p:txBody>
          <a:bodyPr wrap="square" lIns="0" tIns="0" rIns="0" bIns="0" rtlCol="0" anchor="ctr"/>
          <a:lstStyle/>
          <a:p>
            <a:pPr marL="0" indent="0">
              <a:buNone/>
            </a:pPr>
            <a:r>
              <a:rPr lang="en-US" sz="1200" b="1" dirty="0">
                <a:solidFill>
                  <a:srgbClr val="10B981"/>
                </a:solidFill>
                <a:latin typeface="Georgia" pitchFamily="34" charset="0"/>
                <a:ea typeface="Georgia" pitchFamily="34" charset="-122"/>
                <a:cs typeface="Georgia" pitchFamily="34" charset="-120"/>
              </a:rPr>
              <a:t>Research Process</a:t>
            </a:r>
            <a:endParaRPr lang="en-US" sz="1200" dirty="0"/>
          </a:p>
        </p:txBody>
      </p:sp>
      <p:sp>
        <p:nvSpPr>
          <p:cNvPr id="14" name="Text 12"/>
          <p:cNvSpPr/>
          <p:nvPr/>
        </p:nvSpPr>
        <p:spPr>
          <a:xfrm>
            <a:off x="5166360" y="1947672"/>
            <a:ext cx="3200400" cy="256032"/>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24+ prioritized sources: government, nonprofit, private, additional</a:t>
            </a:r>
            <a:endParaRPr lang="en-US" sz="1000" dirty="0"/>
          </a:p>
        </p:txBody>
      </p:sp>
      <p:sp>
        <p:nvSpPr>
          <p:cNvPr id="15" name="Shape 13"/>
          <p:cNvSpPr/>
          <p:nvPr/>
        </p:nvSpPr>
        <p:spPr>
          <a:xfrm>
            <a:off x="4937760" y="2377440"/>
            <a:ext cx="3657600" cy="548640"/>
          </a:xfrm>
          <a:prstGeom prst="rect">
            <a:avLst/>
          </a:prstGeom>
          <a:solidFill>
            <a:srgbClr val="252A4A"/>
          </a:solidFill>
          <a:ln/>
        </p:spPr>
        <p:txBody>
          <a:bodyPr/>
          <a:lstStyle/>
          <a:p>
            <a:endParaRPr lang="en-US"/>
          </a:p>
        </p:txBody>
      </p:sp>
      <p:sp>
        <p:nvSpPr>
          <p:cNvPr id="16" name="Shape 14"/>
          <p:cNvSpPr/>
          <p:nvPr/>
        </p:nvSpPr>
        <p:spPr>
          <a:xfrm>
            <a:off x="4937760" y="2377440"/>
            <a:ext cx="54864" cy="548640"/>
          </a:xfrm>
          <a:prstGeom prst="rect">
            <a:avLst/>
          </a:prstGeom>
          <a:solidFill>
            <a:srgbClr val="A78BFA"/>
          </a:solidFill>
          <a:ln/>
        </p:spPr>
        <p:txBody>
          <a:bodyPr/>
          <a:lstStyle/>
          <a:p>
            <a:endParaRPr lang="en-US"/>
          </a:p>
        </p:txBody>
      </p:sp>
      <p:sp>
        <p:nvSpPr>
          <p:cNvPr id="17" name="Text 15"/>
          <p:cNvSpPr/>
          <p:nvPr/>
        </p:nvSpPr>
        <p:spPr>
          <a:xfrm>
            <a:off x="5166360" y="2395728"/>
            <a:ext cx="3200400" cy="228600"/>
          </a:xfrm>
          <a:prstGeom prst="rect">
            <a:avLst/>
          </a:prstGeom>
          <a:noFill/>
          <a:ln/>
        </p:spPr>
        <p:txBody>
          <a:bodyPr wrap="square" lIns="0" tIns="0" rIns="0" bIns="0" rtlCol="0" anchor="ctr"/>
          <a:lstStyle/>
          <a:p>
            <a:pPr marL="0" indent="0">
              <a:buNone/>
            </a:pPr>
            <a:r>
              <a:rPr lang="en-US" sz="1200" b="1" dirty="0">
                <a:solidFill>
                  <a:srgbClr val="A78BFA"/>
                </a:solidFill>
                <a:latin typeface="Georgia" pitchFamily="34" charset="0"/>
                <a:ea typeface="Georgia" pitchFamily="34" charset="-122"/>
                <a:cs typeface="Georgia" pitchFamily="34" charset="-120"/>
              </a:rPr>
              <a:t>Data Schema</a:t>
            </a:r>
            <a:endParaRPr lang="en-US" sz="1200" dirty="0"/>
          </a:p>
        </p:txBody>
      </p:sp>
      <p:sp>
        <p:nvSpPr>
          <p:cNvPr id="18" name="Text 16"/>
          <p:cNvSpPr/>
          <p:nvPr/>
        </p:nvSpPr>
        <p:spPr>
          <a:xfrm>
            <a:off x="5166360" y="2633472"/>
            <a:ext cx="3200400" cy="256032"/>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35-field schema with required/optional fields, consistent taxonomy</a:t>
            </a:r>
            <a:endParaRPr lang="en-US" sz="1000" dirty="0"/>
          </a:p>
        </p:txBody>
      </p:sp>
      <p:sp>
        <p:nvSpPr>
          <p:cNvPr id="19" name="Shape 17"/>
          <p:cNvSpPr/>
          <p:nvPr/>
        </p:nvSpPr>
        <p:spPr>
          <a:xfrm>
            <a:off x="4937760" y="3063240"/>
            <a:ext cx="3657600" cy="548640"/>
          </a:xfrm>
          <a:prstGeom prst="rect">
            <a:avLst/>
          </a:prstGeom>
          <a:solidFill>
            <a:srgbClr val="252A4A"/>
          </a:solidFill>
          <a:ln/>
        </p:spPr>
        <p:txBody>
          <a:bodyPr/>
          <a:lstStyle/>
          <a:p>
            <a:endParaRPr lang="en-US"/>
          </a:p>
        </p:txBody>
      </p:sp>
      <p:sp>
        <p:nvSpPr>
          <p:cNvPr id="20" name="Shape 18"/>
          <p:cNvSpPr/>
          <p:nvPr/>
        </p:nvSpPr>
        <p:spPr>
          <a:xfrm>
            <a:off x="4937760" y="3063240"/>
            <a:ext cx="54864" cy="548640"/>
          </a:xfrm>
          <a:prstGeom prst="rect">
            <a:avLst/>
          </a:prstGeom>
          <a:solidFill>
            <a:srgbClr val="FF6B6B"/>
          </a:solidFill>
          <a:ln/>
        </p:spPr>
        <p:txBody>
          <a:bodyPr/>
          <a:lstStyle/>
          <a:p>
            <a:endParaRPr lang="en-US"/>
          </a:p>
        </p:txBody>
      </p:sp>
      <p:sp>
        <p:nvSpPr>
          <p:cNvPr id="21" name="Text 19"/>
          <p:cNvSpPr/>
          <p:nvPr/>
        </p:nvSpPr>
        <p:spPr>
          <a:xfrm>
            <a:off x="5166360" y="3081528"/>
            <a:ext cx="3200400" cy="228600"/>
          </a:xfrm>
          <a:prstGeom prst="rect">
            <a:avLst/>
          </a:prstGeom>
          <a:noFill/>
          <a:ln/>
        </p:spPr>
        <p:txBody>
          <a:bodyPr wrap="square" lIns="0" tIns="0" rIns="0" bIns="0" rtlCol="0" anchor="ctr"/>
          <a:lstStyle/>
          <a:p>
            <a:pPr marL="0" indent="0">
              <a:buNone/>
            </a:pPr>
            <a:r>
              <a:rPr lang="en-US" sz="1200" b="1" dirty="0">
                <a:solidFill>
                  <a:srgbClr val="FF6B6B"/>
                </a:solidFill>
                <a:latin typeface="Georgia" pitchFamily="34" charset="0"/>
                <a:ea typeface="Georgia" pitchFamily="34" charset="-122"/>
                <a:cs typeface="Georgia" pitchFamily="34" charset="-120"/>
              </a:rPr>
              <a:t>Quality Checklist</a:t>
            </a:r>
            <a:endParaRPr lang="en-US" sz="1200" dirty="0"/>
          </a:p>
        </p:txBody>
      </p:sp>
      <p:sp>
        <p:nvSpPr>
          <p:cNvPr id="22" name="Text 20"/>
          <p:cNvSpPr/>
          <p:nvPr/>
        </p:nvSpPr>
        <p:spPr>
          <a:xfrm>
            <a:off x="5166360" y="3319272"/>
            <a:ext cx="3200400" cy="256032"/>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17 verification items before finalizing output</a:t>
            </a:r>
            <a:endParaRPr lang="en-US" sz="1000" dirty="0"/>
          </a:p>
        </p:txBody>
      </p:sp>
      <p:sp>
        <p:nvSpPr>
          <p:cNvPr id="23" name="Shape 21"/>
          <p:cNvSpPr/>
          <p:nvPr/>
        </p:nvSpPr>
        <p:spPr>
          <a:xfrm>
            <a:off x="274320" y="3108960"/>
            <a:ext cx="4572000" cy="13716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24" name="Text 22"/>
          <p:cNvSpPr/>
          <p:nvPr/>
        </p:nvSpPr>
        <p:spPr>
          <a:xfrm>
            <a:off x="274320" y="3142578"/>
            <a:ext cx="7680960" cy="320040"/>
          </a:xfrm>
          <a:prstGeom prst="rect">
            <a:avLst/>
          </a:prstGeom>
          <a:noFill/>
          <a:ln/>
        </p:spPr>
        <p:txBody>
          <a:bodyPr wrap="square"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Key Design Patterns from This Skill</a:t>
            </a:r>
            <a:endParaRPr lang="en-US" sz="1400" dirty="0"/>
          </a:p>
        </p:txBody>
      </p:sp>
      <p:sp>
        <p:nvSpPr>
          <p:cNvPr id="25" name="Text 23"/>
          <p:cNvSpPr/>
          <p:nvPr/>
        </p:nvSpPr>
        <p:spPr>
          <a:xfrm>
            <a:off x="274320" y="3538728"/>
            <a:ext cx="7680960" cy="914400"/>
          </a:xfrm>
          <a:prstGeom prst="rect">
            <a:avLst/>
          </a:prstGeom>
          <a:noFill/>
          <a:ln/>
        </p:spPr>
        <p:txBody>
          <a:bodyPr wrap="square" rtlCol="0" anchor="ctr"/>
          <a:lstStyle/>
          <a:p>
            <a:pPr marL="0" indent="0">
              <a:spcAft>
                <a:spcPts val="400"/>
              </a:spcAft>
              <a:buNone/>
            </a:pPr>
            <a:r>
              <a:rPr lang="en-US" sz="1100" dirty="0">
                <a:solidFill>
                  <a:srgbClr val="10B981"/>
                </a:solidFill>
                <a:latin typeface="Calibri" pitchFamily="34" charset="0"/>
                <a:ea typeface="Calibri" pitchFamily="34" charset="-122"/>
                <a:cs typeface="Calibri" pitchFamily="34" charset="-120"/>
              </a:rPr>
              <a:t>✓ Canonical taxonomies — exact terms Claude must use, preventing variation</a:t>
            </a:r>
            <a:endParaRPr lang="en-US" sz="1100" dirty="0"/>
          </a:p>
          <a:p>
            <a:pPr marL="0" indent="0">
              <a:spcAft>
                <a:spcPts val="400"/>
              </a:spcAft>
              <a:buNone/>
            </a:pPr>
            <a:r>
              <a:rPr lang="en-US" sz="1100" dirty="0">
                <a:solidFill>
                  <a:srgbClr val="10B981"/>
                </a:solidFill>
                <a:latin typeface="Calibri" pitchFamily="34" charset="0"/>
                <a:ea typeface="Calibri" pitchFamily="34" charset="-122"/>
                <a:cs typeface="Calibri" pitchFamily="34" charset="-120"/>
              </a:rPr>
              <a:t>✓ Do This / Not That table — explicit guardrails for common mistakes</a:t>
            </a:r>
            <a:endParaRPr lang="en-US" sz="1100" dirty="0"/>
          </a:p>
          <a:p>
            <a:pPr marL="0" indent="0">
              <a:spcAft>
                <a:spcPts val="400"/>
              </a:spcAft>
              <a:buNone/>
            </a:pPr>
            <a:r>
              <a:rPr lang="en-US" sz="1100" dirty="0">
                <a:solidFill>
                  <a:srgbClr val="10B981"/>
                </a:solidFill>
                <a:latin typeface="Calibri" pitchFamily="34" charset="0"/>
                <a:ea typeface="Calibri" pitchFamily="34" charset="-122"/>
                <a:cs typeface="Calibri" pitchFamily="34" charset="-120"/>
              </a:rPr>
              <a:t>✓ Data confidence ratings — transparent about certainty levels</a:t>
            </a:r>
            <a:endParaRPr lang="en-US" sz="1100" dirty="0"/>
          </a:p>
          <a:p>
            <a:pPr marL="0" indent="0">
              <a:spcAft>
                <a:spcPts val="400"/>
              </a:spcAft>
              <a:buNone/>
            </a:pPr>
            <a:r>
              <a:rPr lang="en-US" sz="1100" dirty="0">
                <a:solidFill>
                  <a:srgbClr val="10B981"/>
                </a:solidFill>
                <a:latin typeface="Calibri" pitchFamily="34" charset="0"/>
                <a:ea typeface="Calibri" pitchFamily="34" charset="-122"/>
                <a:cs typeface="Calibri" pitchFamily="34" charset="-120"/>
              </a:rPr>
              <a:t>✓ Plain-language definitions — every technical term explained for end users</a:t>
            </a:r>
            <a:endParaRPr lang="en-US" sz="1100" dirty="0"/>
          </a:p>
        </p:txBody>
      </p:sp>
      <p:sp>
        <p:nvSpPr>
          <p:cNvPr id="26" name="Text 24"/>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7" name="Text 25"/>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The Skill-Building Framework</a:t>
            </a:r>
            <a:endParaRPr lang="en-US" sz="3000" dirty="0"/>
          </a:p>
        </p:txBody>
      </p:sp>
      <p:sp>
        <p:nvSpPr>
          <p:cNvPr id="4" name="Text 2"/>
          <p:cNvSpPr/>
          <p:nvPr/>
        </p:nvSpPr>
        <p:spPr>
          <a:xfrm>
            <a:off x="731520" y="822960"/>
            <a:ext cx="7680960" cy="365760"/>
          </a:xfrm>
          <a:prstGeom prst="rect">
            <a:avLst/>
          </a:prstGeom>
          <a:noFill/>
          <a:ln/>
        </p:spPr>
        <p:txBody>
          <a:bodyPr wrap="square" rtlCol="0" anchor="ctr"/>
          <a:lstStyle/>
          <a:p>
            <a:pPr marL="0" indent="0">
              <a:buNone/>
            </a:pPr>
            <a:r>
              <a:rPr lang="en-US" sz="1300" i="1" dirty="0">
                <a:solidFill>
                  <a:srgbClr val="8892B0"/>
                </a:solidFill>
                <a:latin typeface="Calibri" pitchFamily="34" charset="0"/>
                <a:ea typeface="Calibri" pitchFamily="34" charset="-122"/>
                <a:cs typeface="Calibri" pitchFamily="34" charset="-120"/>
              </a:rPr>
              <a:t>This process works at any scale. For complex skills with multiple tools and MCP, the Skill Creator automates testing and optimization.</a:t>
            </a:r>
            <a:endParaRPr lang="en-US" sz="1300" dirty="0"/>
          </a:p>
        </p:txBody>
      </p:sp>
      <p:sp>
        <p:nvSpPr>
          <p:cNvPr id="5" name="Shape 3"/>
          <p:cNvSpPr/>
          <p:nvPr/>
        </p:nvSpPr>
        <p:spPr>
          <a:xfrm>
            <a:off x="548640" y="137160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548640" y="1371600"/>
            <a:ext cx="3931920" cy="45720"/>
          </a:xfrm>
          <a:prstGeom prst="rect">
            <a:avLst/>
          </a:prstGeom>
          <a:solidFill>
            <a:srgbClr val="00B4D8"/>
          </a:solidFill>
          <a:ln/>
        </p:spPr>
        <p:txBody>
          <a:bodyPr/>
          <a:lstStyle/>
          <a:p>
            <a:endParaRPr lang="en-US"/>
          </a:p>
        </p:txBody>
      </p:sp>
      <p:sp>
        <p:nvSpPr>
          <p:cNvPr id="7" name="Text 5"/>
          <p:cNvSpPr/>
          <p:nvPr/>
        </p:nvSpPr>
        <p:spPr>
          <a:xfrm>
            <a:off x="685800" y="1508760"/>
            <a:ext cx="457200" cy="411480"/>
          </a:xfrm>
          <a:prstGeom prst="rect">
            <a:avLst/>
          </a:prstGeom>
          <a:noFill/>
          <a:ln/>
        </p:spPr>
        <p:txBody>
          <a:bodyPr wrap="square" rtlCol="0" anchor="ctr"/>
          <a:lstStyle/>
          <a:p>
            <a:pPr marL="0" indent="0" algn="ctr">
              <a:buNone/>
            </a:pPr>
            <a:r>
              <a:rPr lang="en-US" sz="2000" dirty="0">
                <a:solidFill>
                  <a:srgbClr val="00B4D8"/>
                </a:solidFill>
              </a:rPr>
              <a:t>01</a:t>
            </a:r>
            <a:endParaRPr lang="en-US" sz="2000" dirty="0"/>
          </a:p>
        </p:txBody>
      </p:sp>
      <p:sp>
        <p:nvSpPr>
          <p:cNvPr id="8" name="Text 6"/>
          <p:cNvSpPr/>
          <p:nvPr/>
        </p:nvSpPr>
        <p:spPr>
          <a:xfrm>
            <a:off x="1188720" y="150876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Draft Your Skill</a:t>
            </a:r>
            <a:endParaRPr lang="en-US" sz="1500" dirty="0"/>
          </a:p>
        </p:txBody>
      </p:sp>
      <p:sp>
        <p:nvSpPr>
          <p:cNvPr id="9" name="Text 7"/>
          <p:cNvSpPr/>
          <p:nvPr/>
        </p:nvSpPr>
        <p:spPr>
          <a:xfrm>
            <a:off x="1188720" y="187452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Start with intent: what should it do, when should it trigger, what output format? Write a SKILL.md with frontmatter and instructions. For simple skills, this is all you need.</a:t>
            </a:r>
            <a:endParaRPr lang="en-US" sz="1100" dirty="0"/>
          </a:p>
        </p:txBody>
      </p:sp>
      <p:sp>
        <p:nvSpPr>
          <p:cNvPr id="10" name="Shape 8"/>
          <p:cNvSpPr/>
          <p:nvPr/>
        </p:nvSpPr>
        <p:spPr>
          <a:xfrm>
            <a:off x="4846320" y="137160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4846320" y="1371600"/>
            <a:ext cx="3931920" cy="45720"/>
          </a:xfrm>
          <a:prstGeom prst="rect">
            <a:avLst/>
          </a:prstGeom>
          <a:solidFill>
            <a:srgbClr val="10B981"/>
          </a:solidFill>
          <a:ln/>
        </p:spPr>
        <p:txBody>
          <a:bodyPr/>
          <a:lstStyle/>
          <a:p>
            <a:endParaRPr lang="en-US"/>
          </a:p>
        </p:txBody>
      </p:sp>
      <p:sp>
        <p:nvSpPr>
          <p:cNvPr id="12" name="Text 10"/>
          <p:cNvSpPr/>
          <p:nvPr/>
        </p:nvSpPr>
        <p:spPr>
          <a:xfrm>
            <a:off x="4983480" y="1508760"/>
            <a:ext cx="457200" cy="411480"/>
          </a:xfrm>
          <a:prstGeom prst="rect">
            <a:avLst/>
          </a:prstGeom>
          <a:noFill/>
          <a:ln/>
        </p:spPr>
        <p:txBody>
          <a:bodyPr wrap="square" rtlCol="0" anchor="ctr"/>
          <a:lstStyle/>
          <a:p>
            <a:pPr marL="0" indent="0" algn="ctr">
              <a:buNone/>
            </a:pPr>
            <a:r>
              <a:rPr lang="en-US" sz="2000" dirty="0">
                <a:solidFill>
                  <a:srgbClr val="10B981"/>
                </a:solidFill>
              </a:rPr>
              <a:t>02</a:t>
            </a:r>
            <a:endParaRPr lang="en-US" sz="2000" dirty="0"/>
          </a:p>
        </p:txBody>
      </p:sp>
      <p:sp>
        <p:nvSpPr>
          <p:cNvPr id="13" name="Text 11"/>
          <p:cNvSpPr/>
          <p:nvPr/>
        </p:nvSpPr>
        <p:spPr>
          <a:xfrm>
            <a:off x="5486400" y="150876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Test &amp; Evaluate</a:t>
            </a:r>
            <a:endParaRPr lang="en-US" sz="1500" dirty="0"/>
          </a:p>
        </p:txBody>
      </p:sp>
      <p:sp>
        <p:nvSpPr>
          <p:cNvPr id="14" name="Text 12"/>
          <p:cNvSpPr/>
          <p:nvPr/>
        </p:nvSpPr>
        <p:spPr>
          <a:xfrm>
            <a:off x="5486400" y="187452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Try realistic prompts and eyeball the output. For complex skills, the Skill Creator runs with-skill vs. without-skill baselines, quantitative benchmarks, and automated grading.</a:t>
            </a:r>
            <a:endParaRPr lang="en-US" sz="1100" dirty="0"/>
          </a:p>
        </p:txBody>
      </p:sp>
      <p:sp>
        <p:nvSpPr>
          <p:cNvPr id="15" name="Shape 13"/>
          <p:cNvSpPr/>
          <p:nvPr/>
        </p:nvSpPr>
        <p:spPr>
          <a:xfrm>
            <a:off x="548640" y="288036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548640" y="2880360"/>
            <a:ext cx="3931920" cy="45720"/>
          </a:xfrm>
          <a:prstGeom prst="rect">
            <a:avLst/>
          </a:prstGeom>
          <a:solidFill>
            <a:srgbClr val="A78BFA"/>
          </a:solidFill>
          <a:ln/>
        </p:spPr>
        <p:txBody>
          <a:bodyPr/>
          <a:lstStyle/>
          <a:p>
            <a:endParaRPr lang="en-US"/>
          </a:p>
        </p:txBody>
      </p:sp>
      <p:sp>
        <p:nvSpPr>
          <p:cNvPr id="17" name="Text 15"/>
          <p:cNvSpPr/>
          <p:nvPr/>
        </p:nvSpPr>
        <p:spPr>
          <a:xfrm>
            <a:off x="685800" y="3017520"/>
            <a:ext cx="457200" cy="411480"/>
          </a:xfrm>
          <a:prstGeom prst="rect">
            <a:avLst/>
          </a:prstGeom>
          <a:noFill/>
          <a:ln/>
        </p:spPr>
        <p:txBody>
          <a:bodyPr wrap="square" rtlCol="0" anchor="ctr"/>
          <a:lstStyle/>
          <a:p>
            <a:pPr marL="0" indent="0" algn="ctr">
              <a:buNone/>
            </a:pPr>
            <a:r>
              <a:rPr lang="en-US" sz="2000" dirty="0">
                <a:solidFill>
                  <a:srgbClr val="A78BFA"/>
                </a:solidFill>
              </a:rPr>
              <a:t>03</a:t>
            </a:r>
            <a:endParaRPr lang="en-US" sz="2000" dirty="0"/>
          </a:p>
        </p:txBody>
      </p:sp>
      <p:sp>
        <p:nvSpPr>
          <p:cNvPr id="18" name="Text 16"/>
          <p:cNvSpPr/>
          <p:nvPr/>
        </p:nvSpPr>
        <p:spPr>
          <a:xfrm>
            <a:off x="1188720" y="301752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Iterate &amp; Refine</a:t>
            </a:r>
            <a:endParaRPr lang="en-US" sz="1500" dirty="0"/>
          </a:p>
        </p:txBody>
      </p:sp>
      <p:sp>
        <p:nvSpPr>
          <p:cNvPr id="19" name="Text 17"/>
          <p:cNvSpPr/>
          <p:nvPr/>
        </p:nvSpPr>
        <p:spPr>
          <a:xfrm>
            <a:off x="1188720" y="338328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Review outputs, identify gaps, refine instructions. Generalize rather than overfit. Explain the why — Claude responds better to reasoning than rigid rules.</a:t>
            </a:r>
            <a:endParaRPr lang="en-US" sz="1100" dirty="0"/>
          </a:p>
        </p:txBody>
      </p:sp>
      <p:sp>
        <p:nvSpPr>
          <p:cNvPr id="20" name="Shape 18"/>
          <p:cNvSpPr/>
          <p:nvPr/>
        </p:nvSpPr>
        <p:spPr>
          <a:xfrm>
            <a:off x="4846320" y="288036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4846320" y="2880360"/>
            <a:ext cx="3931920" cy="45720"/>
          </a:xfrm>
          <a:prstGeom prst="rect">
            <a:avLst/>
          </a:prstGeom>
          <a:solidFill>
            <a:srgbClr val="FBBF24"/>
          </a:solidFill>
          <a:ln/>
        </p:spPr>
        <p:txBody>
          <a:bodyPr/>
          <a:lstStyle/>
          <a:p>
            <a:endParaRPr lang="en-US"/>
          </a:p>
        </p:txBody>
      </p:sp>
      <p:sp>
        <p:nvSpPr>
          <p:cNvPr id="22" name="Text 20"/>
          <p:cNvSpPr/>
          <p:nvPr/>
        </p:nvSpPr>
        <p:spPr>
          <a:xfrm>
            <a:off x="4983480" y="3017520"/>
            <a:ext cx="457200" cy="411480"/>
          </a:xfrm>
          <a:prstGeom prst="rect">
            <a:avLst/>
          </a:prstGeom>
          <a:noFill/>
          <a:ln/>
        </p:spPr>
        <p:txBody>
          <a:bodyPr wrap="square" rtlCol="0" anchor="ctr"/>
          <a:lstStyle/>
          <a:p>
            <a:pPr marL="0" indent="0" algn="ctr">
              <a:buNone/>
            </a:pPr>
            <a:r>
              <a:rPr lang="en-US" sz="2000" dirty="0">
                <a:solidFill>
                  <a:srgbClr val="FBBF24"/>
                </a:solidFill>
              </a:rPr>
              <a:t>04</a:t>
            </a:r>
            <a:endParaRPr lang="en-US" sz="2000" dirty="0"/>
          </a:p>
        </p:txBody>
      </p:sp>
      <p:sp>
        <p:nvSpPr>
          <p:cNvPr id="23" name="Text 21"/>
          <p:cNvSpPr/>
          <p:nvPr/>
        </p:nvSpPr>
        <p:spPr>
          <a:xfrm>
            <a:off x="5486400" y="301752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Optimize Triggers</a:t>
            </a:r>
            <a:endParaRPr lang="en-US" sz="1500" dirty="0"/>
          </a:p>
        </p:txBody>
      </p:sp>
      <p:sp>
        <p:nvSpPr>
          <p:cNvPr id="24" name="Text 22"/>
          <p:cNvSpPr/>
          <p:nvPr/>
        </p:nvSpPr>
        <p:spPr>
          <a:xfrm>
            <a:off x="5486400" y="338328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Fine-tune your description so Claude loads the skill at the right time. The Skill Creator automates this with test queries and optimization loops across many prompts.</a:t>
            </a:r>
            <a:endParaRPr lang="en-US" sz="1100" dirty="0"/>
          </a:p>
        </p:txBody>
      </p:sp>
      <p:sp>
        <p:nvSpPr>
          <p:cNvPr id="25" name="Text 23"/>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6" name="Text 24"/>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Define Success Criteria">
    <p:bg>
      <p:bgPr>
        <a:solidFill>
          <a:srgbClr val="F0F2F8"/>
        </a:solidFill>
        <a:effectLst/>
      </p:bgPr>
    </p:bg>
    <p:spTree>
      <p:nvGrpSpPr>
        <p:cNvPr id="1" name=""/>
        <p:cNvGrpSpPr/>
        <p:nvPr/>
      </p:nvGrpSpPr>
      <p:grpSpPr>
        <a:xfrm>
          <a:off x="0" y="0"/>
          <a:ext cx="0" cy="0"/>
          <a:chOff x="0" y="0"/>
          <a:chExt cx="0" cy="0"/>
        </a:xfrm>
      </p:grpSpPr>
      <p:sp>
        <p:nvSpPr>
          <p:cNvPr id="2" name="AccentBar"/>
          <p:cNvSpPr/>
          <p:nvPr/>
        </p:nvSpPr>
        <p:spPr>
          <a:xfrm>
            <a:off x="0" y="0"/>
            <a:ext cx="9144000" cy="54864"/>
          </a:xfrm>
          <a:prstGeom prst="rect">
            <a:avLst/>
          </a:prstGeom>
          <a:solidFill>
            <a:srgbClr val="00B4D8"/>
          </a:solidFill>
          <a:ln/>
        </p:spPr>
        <p:txBody>
          <a:bodyPr/>
          <a:lstStyle/>
          <a:p>
            <a:endParaRPr lang="en-US"/>
          </a:p>
        </p:txBody>
      </p:sp>
      <p:sp>
        <p:nvSpPr>
          <p:cNvPr id="3" name="Title"/>
          <p:cNvSpPr/>
          <p:nvPr/>
        </p:nvSpPr>
        <p:spPr>
          <a:xfrm>
            <a:off x="457200" y="274320"/>
            <a:ext cx="8229600" cy="54864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Define Success Criteria</a:t>
            </a:r>
            <a:endParaRPr lang="en-US" sz="3000" dirty="0"/>
          </a:p>
        </p:txBody>
      </p:sp>
      <p:sp>
        <p:nvSpPr>
          <p:cNvPr id="4" name="Subtitle"/>
          <p:cNvSpPr/>
          <p:nvPr/>
        </p:nvSpPr>
        <p:spPr>
          <a:xfrm>
            <a:off x="457200" y="868320"/>
            <a:ext cx="8229600" cy="365760"/>
          </a:xfrm>
          <a:prstGeom prst="rect">
            <a:avLst/>
          </a:prstGeom>
          <a:noFill/>
          <a:ln/>
        </p:spPr>
        <p:txBody>
          <a:bodyPr wrap="square" rtlCol="0" anchor="ctr"/>
          <a:lstStyle/>
          <a:p>
            <a:pPr marL="0" indent="0">
              <a:buNone/>
            </a:pPr>
            <a:r>
              <a:rPr lang="en-US" sz="1200" dirty="0">
                <a:solidFill>
                  <a:srgbClr val="4A5568"/>
                </a:solidFill>
                <a:latin typeface="Calibri" pitchFamily="34" charset="0"/>
                <a:ea typeface="Calibri" pitchFamily="34" charset="-122"/>
                <a:cs typeface="Calibri" pitchFamily="34" charset="-120"/>
              </a:rPr>
              <a:t>How will you know your skill is working?</a:t>
            </a:r>
            <a:endParaRPr lang="en-US" sz="1200" dirty="0"/>
          </a:p>
        </p:txBody>
      </p:sp>
      <p:sp>
        <p:nvSpPr>
          <p:cNvPr id="5" name="LeftCardBg"/>
          <p:cNvSpPr/>
          <p:nvPr/>
        </p:nvSpPr>
        <p:spPr>
          <a:xfrm>
            <a:off x="457200" y="1371600"/>
            <a:ext cx="4000000" cy="300000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6" name="LeftAccent"/>
          <p:cNvSpPr/>
          <p:nvPr/>
        </p:nvSpPr>
        <p:spPr>
          <a:xfrm>
            <a:off x="457200" y="1371600"/>
            <a:ext cx="4000000" cy="45720"/>
          </a:xfrm>
          <a:prstGeom prst="rect">
            <a:avLst/>
          </a:prstGeom>
          <a:solidFill>
            <a:srgbClr val="00B4D8"/>
          </a:solidFill>
          <a:ln/>
        </p:spPr>
        <p:txBody>
          <a:bodyPr/>
          <a:lstStyle/>
          <a:p>
            <a:endParaRPr lang="en-US"/>
          </a:p>
        </p:txBody>
      </p:sp>
      <p:sp>
        <p:nvSpPr>
          <p:cNvPr id="7" name="LeftHeader"/>
          <p:cNvSpPr/>
          <p:nvPr/>
        </p:nvSpPr>
        <p:spPr>
          <a:xfrm>
            <a:off x="594360" y="1508760"/>
            <a:ext cx="3726480" cy="274320"/>
          </a:xfrm>
          <a:prstGeom prst="rect">
            <a:avLst/>
          </a:prstGeom>
          <a:noFill/>
          <a:ln/>
        </p:spPr>
        <p:txBody>
          <a:bodyPr wrap="square"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Quantitative Metrics</a:t>
            </a:r>
            <a:endParaRPr lang="en-US" sz="1600" dirty="0"/>
          </a:p>
        </p:txBody>
      </p:sp>
      <p:sp>
        <p:nvSpPr>
          <p:cNvPr id="8" name="LeftMetric1Name"/>
          <p:cNvSpPr/>
          <p:nvPr/>
        </p:nvSpPr>
        <p:spPr>
          <a:xfrm>
            <a:off x="594360" y="1850400"/>
            <a:ext cx="3726480" cy="228600"/>
          </a:xfrm>
          <a:prstGeom prst="rect">
            <a:avLst/>
          </a:prstGeom>
          <a:noFill/>
          <a:ln/>
        </p:spPr>
        <p:txBody>
          <a:bodyPr wrap="square" rtlCol="0" anchor="ctr"/>
          <a:lstStyle/>
          <a:p>
            <a:pPr marL="0" indent="0">
              <a:buNone/>
            </a:pPr>
            <a:r>
              <a:rPr lang="en-US" sz="1100" b="1" dirty="0">
                <a:solidFill>
                  <a:srgbClr val="1A1F3D"/>
                </a:solidFill>
                <a:latin typeface="Calibri" pitchFamily="34" charset="0"/>
                <a:ea typeface="Calibri" pitchFamily="34" charset="-122"/>
                <a:cs typeface="Calibri" pitchFamily="34" charset="-120"/>
              </a:rPr>
              <a:t>Skill triggers on 90% of relevant queries</a:t>
            </a:r>
            <a:endParaRPr lang="en-US" sz="1100" dirty="0"/>
          </a:p>
        </p:txBody>
      </p:sp>
      <p:sp>
        <p:nvSpPr>
          <p:cNvPr id="9" name="LeftMetric1Detail"/>
          <p:cNvSpPr/>
          <p:nvPr/>
        </p:nvSpPr>
        <p:spPr>
          <a:xfrm>
            <a:off x="594360" y="2078800"/>
            <a:ext cx="3726480" cy="22860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Run 10-20 test queries; track auto-load vs manual</a:t>
            </a:r>
            <a:endParaRPr lang="en-US" sz="1000" dirty="0"/>
          </a:p>
        </p:txBody>
      </p:sp>
      <p:sp>
        <p:nvSpPr>
          <p:cNvPr id="10" name="LeftMetric2Name"/>
          <p:cNvSpPr/>
          <p:nvPr/>
        </p:nvSpPr>
        <p:spPr>
          <a:xfrm>
            <a:off x="594360" y="2365200"/>
            <a:ext cx="3726480" cy="228600"/>
          </a:xfrm>
          <a:prstGeom prst="rect">
            <a:avLst/>
          </a:prstGeom>
          <a:noFill/>
          <a:ln/>
        </p:spPr>
        <p:txBody>
          <a:bodyPr wrap="square" rtlCol="0" anchor="ctr"/>
          <a:lstStyle/>
          <a:p>
            <a:pPr marL="0" indent="0">
              <a:buNone/>
            </a:pPr>
            <a:r>
              <a:rPr lang="en-US" sz="1100" b="1" dirty="0">
                <a:solidFill>
                  <a:srgbClr val="1A1F3D"/>
                </a:solidFill>
                <a:latin typeface="Calibri" pitchFamily="34" charset="0"/>
                <a:ea typeface="Calibri" pitchFamily="34" charset="-122"/>
                <a:cs typeface="Calibri" pitchFamily="34" charset="-120"/>
              </a:rPr>
              <a:t>Completes workflow in X tool calls</a:t>
            </a:r>
            <a:endParaRPr lang="en-US" sz="1100" dirty="0"/>
          </a:p>
        </p:txBody>
      </p:sp>
      <p:sp>
        <p:nvSpPr>
          <p:cNvPr id="11" name="LeftMetric2Detail"/>
          <p:cNvSpPr/>
          <p:nvPr/>
        </p:nvSpPr>
        <p:spPr>
          <a:xfrm>
            <a:off x="594360" y="2593600"/>
            <a:ext cx="3726480" cy="22860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Compare with-skill vs without-skill token usage</a:t>
            </a:r>
            <a:endParaRPr lang="en-US" sz="1000" dirty="0"/>
          </a:p>
        </p:txBody>
      </p:sp>
      <p:sp>
        <p:nvSpPr>
          <p:cNvPr id="12" name="LeftMetric3Name"/>
          <p:cNvSpPr/>
          <p:nvPr/>
        </p:nvSpPr>
        <p:spPr>
          <a:xfrm>
            <a:off x="594360" y="2880000"/>
            <a:ext cx="3726480" cy="228600"/>
          </a:xfrm>
          <a:prstGeom prst="rect">
            <a:avLst/>
          </a:prstGeom>
          <a:noFill/>
          <a:ln/>
        </p:spPr>
        <p:txBody>
          <a:bodyPr wrap="square" rtlCol="0" anchor="ctr"/>
          <a:lstStyle/>
          <a:p>
            <a:pPr marL="0" indent="0">
              <a:buNone/>
            </a:pPr>
            <a:r>
              <a:rPr lang="en-US" sz="1100" b="1" dirty="0">
                <a:solidFill>
                  <a:srgbClr val="1A1F3D"/>
                </a:solidFill>
                <a:latin typeface="Calibri" pitchFamily="34" charset="0"/>
                <a:ea typeface="Calibri" pitchFamily="34" charset="-122"/>
                <a:cs typeface="Calibri" pitchFamily="34" charset="-120"/>
              </a:rPr>
              <a:t>0 failed API calls per workflow</a:t>
            </a:r>
            <a:endParaRPr lang="en-US" sz="1100" dirty="0"/>
          </a:p>
        </p:txBody>
      </p:sp>
      <p:sp>
        <p:nvSpPr>
          <p:cNvPr id="13" name="LeftMetric3Detail"/>
          <p:cNvSpPr/>
          <p:nvPr/>
        </p:nvSpPr>
        <p:spPr>
          <a:xfrm>
            <a:off x="594360" y="3108400"/>
            <a:ext cx="3726480" cy="22860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Monitor MCP server logs for retry rates and errors</a:t>
            </a:r>
            <a:endParaRPr lang="en-US" sz="1000" dirty="0"/>
          </a:p>
        </p:txBody>
      </p:sp>
      <p:sp>
        <p:nvSpPr>
          <p:cNvPr id="14" name="RightCardBg"/>
          <p:cNvSpPr/>
          <p:nvPr/>
        </p:nvSpPr>
        <p:spPr>
          <a:xfrm>
            <a:off x="4686600" y="1371600"/>
            <a:ext cx="4000000" cy="300000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5" name="RightAccent"/>
          <p:cNvSpPr/>
          <p:nvPr/>
        </p:nvSpPr>
        <p:spPr>
          <a:xfrm>
            <a:off x="4686600" y="1371600"/>
            <a:ext cx="4000000" cy="45720"/>
          </a:xfrm>
          <a:prstGeom prst="rect">
            <a:avLst/>
          </a:prstGeom>
          <a:solidFill>
            <a:srgbClr val="10B981"/>
          </a:solidFill>
          <a:ln/>
        </p:spPr>
        <p:txBody>
          <a:bodyPr/>
          <a:lstStyle/>
          <a:p>
            <a:endParaRPr lang="en-US"/>
          </a:p>
        </p:txBody>
      </p:sp>
      <p:sp>
        <p:nvSpPr>
          <p:cNvPr id="16" name="RightHeader"/>
          <p:cNvSpPr/>
          <p:nvPr/>
        </p:nvSpPr>
        <p:spPr>
          <a:xfrm>
            <a:off x="4823760" y="1508760"/>
            <a:ext cx="3726480" cy="274320"/>
          </a:xfrm>
          <a:prstGeom prst="rect">
            <a:avLst/>
          </a:prstGeom>
          <a:noFill/>
          <a:ln/>
        </p:spPr>
        <p:txBody>
          <a:bodyPr wrap="square"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Qualitative Metrics</a:t>
            </a:r>
            <a:endParaRPr lang="en-US" sz="1600" dirty="0"/>
          </a:p>
        </p:txBody>
      </p:sp>
      <p:sp>
        <p:nvSpPr>
          <p:cNvPr id="17" name="RightMetric1Name"/>
          <p:cNvSpPr/>
          <p:nvPr/>
        </p:nvSpPr>
        <p:spPr>
          <a:xfrm>
            <a:off x="4823760" y="1850400"/>
            <a:ext cx="3726480" cy="228600"/>
          </a:xfrm>
          <a:prstGeom prst="rect">
            <a:avLst/>
          </a:prstGeom>
          <a:noFill/>
          <a:ln/>
        </p:spPr>
        <p:txBody>
          <a:bodyPr wrap="square" rtlCol="0" anchor="ctr"/>
          <a:lstStyle/>
          <a:p>
            <a:pPr marL="0" indent="0">
              <a:buNone/>
            </a:pPr>
            <a:r>
              <a:rPr lang="en-US" sz="1100" b="1" dirty="0">
                <a:solidFill>
                  <a:srgbClr val="1A1F3D"/>
                </a:solidFill>
                <a:latin typeface="Calibri" pitchFamily="34" charset="0"/>
                <a:ea typeface="Calibri" pitchFamily="34" charset="-122"/>
                <a:cs typeface="Calibri" pitchFamily="34" charset="-120"/>
              </a:rPr>
              <a:t>Users don't need to prompt about next steps</a:t>
            </a:r>
            <a:endParaRPr lang="en-US" sz="1100" dirty="0"/>
          </a:p>
        </p:txBody>
      </p:sp>
      <p:sp>
        <p:nvSpPr>
          <p:cNvPr id="18" name="RightMetric1Detail"/>
          <p:cNvSpPr/>
          <p:nvPr/>
        </p:nvSpPr>
        <p:spPr>
          <a:xfrm>
            <a:off x="4823760" y="2078800"/>
            <a:ext cx="3726480" cy="22860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During testing, note how often you redirect or clarify</a:t>
            </a:r>
            <a:endParaRPr lang="en-US" sz="1000" dirty="0"/>
          </a:p>
        </p:txBody>
      </p:sp>
      <p:sp>
        <p:nvSpPr>
          <p:cNvPr id="19" name="RightMetric2Name"/>
          <p:cNvSpPr/>
          <p:nvPr/>
        </p:nvSpPr>
        <p:spPr>
          <a:xfrm>
            <a:off x="4823760" y="2365200"/>
            <a:ext cx="3726480" cy="228600"/>
          </a:xfrm>
          <a:prstGeom prst="rect">
            <a:avLst/>
          </a:prstGeom>
          <a:noFill/>
          <a:ln/>
        </p:spPr>
        <p:txBody>
          <a:bodyPr wrap="square" rtlCol="0" anchor="ctr"/>
          <a:lstStyle/>
          <a:p>
            <a:pPr marL="0" indent="0">
              <a:buNone/>
            </a:pPr>
            <a:r>
              <a:rPr lang="en-US" sz="1100" b="1" dirty="0">
                <a:solidFill>
                  <a:srgbClr val="1A1F3D"/>
                </a:solidFill>
                <a:latin typeface="Calibri" pitchFamily="34" charset="0"/>
                <a:ea typeface="Calibri" pitchFamily="34" charset="-122"/>
                <a:cs typeface="Calibri" pitchFamily="34" charset="-120"/>
              </a:rPr>
              <a:t>Workflows complete without user correction</a:t>
            </a:r>
            <a:endParaRPr lang="en-US" sz="1100" dirty="0"/>
          </a:p>
        </p:txBody>
      </p:sp>
      <p:sp>
        <p:nvSpPr>
          <p:cNvPr id="20" name="RightMetric2Detail"/>
          <p:cNvSpPr/>
          <p:nvPr/>
        </p:nvSpPr>
        <p:spPr>
          <a:xfrm>
            <a:off x="4823760" y="2593600"/>
            <a:ext cx="3726480" cy="22860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Run same request 3-5 times; check structural consistency</a:t>
            </a:r>
            <a:endParaRPr lang="en-US" sz="1000" dirty="0"/>
          </a:p>
        </p:txBody>
      </p:sp>
      <p:sp>
        <p:nvSpPr>
          <p:cNvPr id="21" name="RightMetric3Name"/>
          <p:cNvSpPr/>
          <p:nvPr/>
        </p:nvSpPr>
        <p:spPr>
          <a:xfrm>
            <a:off x="4823760" y="2880000"/>
            <a:ext cx="3726480" cy="228600"/>
          </a:xfrm>
          <a:prstGeom prst="rect">
            <a:avLst/>
          </a:prstGeom>
          <a:noFill/>
          <a:ln/>
        </p:spPr>
        <p:txBody>
          <a:bodyPr wrap="square" rtlCol="0" anchor="ctr"/>
          <a:lstStyle/>
          <a:p>
            <a:pPr marL="0" indent="0">
              <a:buNone/>
            </a:pPr>
            <a:r>
              <a:rPr lang="en-US" sz="1100" b="1" dirty="0">
                <a:solidFill>
                  <a:srgbClr val="1A1F3D"/>
                </a:solidFill>
                <a:latin typeface="Calibri" pitchFamily="34" charset="0"/>
                <a:ea typeface="Calibri" pitchFamily="34" charset="-122"/>
                <a:cs typeface="Calibri" pitchFamily="34" charset="-120"/>
              </a:rPr>
              <a:t>Consistent results across sessions</a:t>
            </a:r>
            <a:endParaRPr lang="en-US" sz="1100" dirty="0"/>
          </a:p>
        </p:txBody>
      </p:sp>
      <p:sp>
        <p:nvSpPr>
          <p:cNvPr id="22" name="RightMetric3Detail"/>
          <p:cNvSpPr/>
          <p:nvPr/>
        </p:nvSpPr>
        <p:spPr>
          <a:xfrm>
            <a:off x="4823760" y="3108400"/>
            <a:ext cx="3726480" cy="22860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Can a new user accomplish the task on first try?</a:t>
            </a:r>
            <a:endParaRPr lang="en-US" sz="1000" dirty="0"/>
          </a:p>
        </p:txBody>
      </p:sp>
      <p:sp>
        <p:nvSpPr>
          <p:cNvPr id="23" name="FooterText"/>
          <p:cNvSpPr/>
          <p:nvPr/>
        </p:nvSpPr>
        <p:spPr>
          <a:xfrm>
            <a:off x="457200" y="4502940"/>
            <a:ext cx="8229600" cy="320040"/>
          </a:xfrm>
          <a:prstGeom prst="rect">
            <a:avLst/>
          </a:prstGeom>
          <a:noFill/>
          <a:ln/>
        </p:spPr>
        <p:txBody>
          <a:bodyPr wrap="square"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These are aspirational targets — rough benchmarks rather than precise thresholds. We are actively developing more robust measurement guidance and tooling.</a:t>
            </a:r>
            <a:endParaRPr lang="en-US" sz="1000" dirty="0"/>
          </a:p>
        </p:txBody>
      </p:sp>
      <p:sp>
        <p:nvSpPr>
          <p:cNvPr id="24" name="PresentationTitle"/>
          <p:cNvSpPr/>
          <p:nvPr/>
        </p:nvSpPr>
        <p:spPr>
          <a:xfrm>
            <a:off x="457200" y="4869180"/>
            <a:ext cx="5000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5" name="PageNumber"/>
          <p:cNvSpPr/>
          <p:nvPr/>
        </p:nvSpPr>
        <p:spPr>
          <a:xfrm>
            <a:off x="8046720" y="4954320"/>
            <a:ext cx="64008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The Skill Creator Skill</a:t>
            </a:r>
            <a:endParaRPr lang="en-US" sz="3000" dirty="0"/>
          </a:p>
        </p:txBody>
      </p:sp>
      <p:sp>
        <p:nvSpPr>
          <p:cNvPr id="4" name="Text 2"/>
          <p:cNvSpPr/>
          <p:nvPr/>
        </p:nvSpPr>
        <p:spPr>
          <a:xfrm>
            <a:off x="731520" y="822960"/>
            <a:ext cx="7680960" cy="365760"/>
          </a:xfrm>
          <a:prstGeom prst="rect">
            <a:avLst/>
          </a:prstGeom>
          <a:noFill/>
          <a:ln/>
        </p:spPr>
        <p:txBody>
          <a:bodyPr wrap="square" rtlCol="0" anchor="ctr"/>
          <a:lstStyle/>
          <a:p>
            <a:pPr marL="0" indent="0">
              <a:buNone/>
            </a:pPr>
            <a:r>
              <a:rPr lang="en-US" sz="1300" i="1" dirty="0">
                <a:solidFill>
                  <a:srgbClr val="8892B0"/>
                </a:solidFill>
                <a:latin typeface="Calibri" pitchFamily="34" charset="0"/>
                <a:ea typeface="Calibri" pitchFamily="34" charset="-122"/>
                <a:cs typeface="Calibri" pitchFamily="34" charset="-120"/>
              </a:rPr>
              <a:t>Built into Claude.ai and Claude Code — a robust creation tool for complex skills with multiple tools and MCP integrations</a:t>
            </a:r>
            <a:endParaRPr lang="en-US" sz="1300" dirty="0"/>
          </a:p>
        </p:txBody>
      </p:sp>
      <p:sp>
        <p:nvSpPr>
          <p:cNvPr id="5" name="Shape 3"/>
          <p:cNvSpPr/>
          <p:nvPr/>
        </p:nvSpPr>
        <p:spPr>
          <a:xfrm>
            <a:off x="548640" y="137160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548640" y="1371600"/>
            <a:ext cx="3931920" cy="45720"/>
          </a:xfrm>
          <a:prstGeom prst="rect">
            <a:avLst/>
          </a:prstGeom>
          <a:solidFill>
            <a:srgbClr val="00B4D8"/>
          </a:solidFill>
          <a:ln/>
        </p:spPr>
        <p:txBody>
          <a:bodyPr/>
          <a:lstStyle/>
          <a:p>
            <a:endParaRPr lang="en-US"/>
          </a:p>
        </p:txBody>
      </p:sp>
      <p:sp>
        <p:nvSpPr>
          <p:cNvPr id="7" name="Text 5"/>
          <p:cNvSpPr/>
          <p:nvPr/>
        </p:nvSpPr>
        <p:spPr>
          <a:xfrm>
            <a:off x="685800" y="1508760"/>
            <a:ext cx="457200" cy="411480"/>
          </a:xfrm>
          <a:prstGeom prst="rect">
            <a:avLst/>
          </a:prstGeom>
          <a:noFill/>
          <a:ln/>
        </p:spPr>
        <p:txBody>
          <a:bodyPr wrap="square" rtlCol="0" anchor="ctr"/>
          <a:lstStyle/>
          <a:p>
            <a:pPr marL="0" indent="0" algn="ctr">
              <a:buNone/>
            </a:pPr>
            <a:r>
              <a:rPr lang="en-US" sz="2000" dirty="0">
                <a:solidFill>
                  <a:srgbClr val="00B4D8"/>
                </a:solidFill>
              </a:rPr>
              <a:t>~</a:t>
            </a:r>
            <a:endParaRPr lang="en-US" sz="2000" dirty="0"/>
          </a:p>
        </p:txBody>
      </p:sp>
      <p:sp>
        <p:nvSpPr>
          <p:cNvPr id="8" name="Text 6"/>
          <p:cNvSpPr/>
          <p:nvPr/>
        </p:nvSpPr>
        <p:spPr>
          <a:xfrm>
            <a:off x="1188720" y="150876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Automated Eval Loops</a:t>
            </a:r>
            <a:endParaRPr lang="en-US" sz="1500" dirty="0"/>
          </a:p>
        </p:txBody>
      </p:sp>
      <p:sp>
        <p:nvSpPr>
          <p:cNvPr id="9" name="Text 7"/>
          <p:cNvSpPr/>
          <p:nvPr/>
        </p:nvSpPr>
        <p:spPr>
          <a:xfrm>
            <a:off x="1188720" y="187452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Spawns parallel test runs, compares with-skill vs. without-skill baselines, grades outputs against assertions you define</a:t>
            </a:r>
            <a:endParaRPr lang="en-US" sz="1100" dirty="0"/>
          </a:p>
        </p:txBody>
      </p:sp>
      <p:sp>
        <p:nvSpPr>
          <p:cNvPr id="10" name="Shape 8"/>
          <p:cNvSpPr/>
          <p:nvPr/>
        </p:nvSpPr>
        <p:spPr>
          <a:xfrm>
            <a:off x="4846320" y="137160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4846320" y="1371600"/>
            <a:ext cx="3931920" cy="45720"/>
          </a:xfrm>
          <a:prstGeom prst="rect">
            <a:avLst/>
          </a:prstGeom>
          <a:solidFill>
            <a:srgbClr val="10B981"/>
          </a:solidFill>
          <a:ln/>
        </p:spPr>
        <p:txBody>
          <a:bodyPr/>
          <a:lstStyle/>
          <a:p>
            <a:endParaRPr lang="en-US"/>
          </a:p>
        </p:txBody>
      </p:sp>
      <p:sp>
        <p:nvSpPr>
          <p:cNvPr id="12" name="Text 10"/>
          <p:cNvSpPr/>
          <p:nvPr/>
        </p:nvSpPr>
        <p:spPr>
          <a:xfrm>
            <a:off x="4983480" y="1508760"/>
            <a:ext cx="457200" cy="411480"/>
          </a:xfrm>
          <a:prstGeom prst="rect">
            <a:avLst/>
          </a:prstGeom>
          <a:noFill/>
          <a:ln/>
        </p:spPr>
        <p:txBody>
          <a:bodyPr wrap="square" rtlCol="0" anchor="ctr"/>
          <a:lstStyle/>
          <a:p>
            <a:pPr marL="0" indent="0" algn="ctr">
              <a:buNone/>
            </a:pPr>
            <a:r>
              <a:rPr lang="en-US" sz="2000" dirty="0">
                <a:solidFill>
                  <a:srgbClr val="10B981"/>
                </a:solidFill>
              </a:rPr>
              <a:t>%</a:t>
            </a:r>
            <a:endParaRPr lang="en-US" sz="2000" dirty="0"/>
          </a:p>
        </p:txBody>
      </p:sp>
      <p:sp>
        <p:nvSpPr>
          <p:cNvPr id="13" name="Text 11"/>
          <p:cNvSpPr/>
          <p:nvPr/>
        </p:nvSpPr>
        <p:spPr>
          <a:xfrm>
            <a:off x="5486400" y="150876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Quantitative Benchmarks</a:t>
            </a:r>
            <a:endParaRPr lang="en-US" sz="1500" dirty="0"/>
          </a:p>
        </p:txBody>
      </p:sp>
      <p:sp>
        <p:nvSpPr>
          <p:cNvPr id="14" name="Text 12"/>
          <p:cNvSpPr/>
          <p:nvPr/>
        </p:nvSpPr>
        <p:spPr>
          <a:xfrm>
            <a:off x="5486400" y="187452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Pass rates, timing, token usage with mean and standard deviation — not just vibes, actual data on skill quality</a:t>
            </a:r>
            <a:endParaRPr lang="en-US" sz="1100" dirty="0"/>
          </a:p>
        </p:txBody>
      </p:sp>
      <p:sp>
        <p:nvSpPr>
          <p:cNvPr id="15" name="Shape 13"/>
          <p:cNvSpPr/>
          <p:nvPr/>
        </p:nvSpPr>
        <p:spPr>
          <a:xfrm>
            <a:off x="548640" y="288036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6" name="Shape 14"/>
          <p:cNvSpPr/>
          <p:nvPr/>
        </p:nvSpPr>
        <p:spPr>
          <a:xfrm>
            <a:off x="548640" y="2880360"/>
            <a:ext cx="3931920" cy="45720"/>
          </a:xfrm>
          <a:prstGeom prst="rect">
            <a:avLst/>
          </a:prstGeom>
          <a:solidFill>
            <a:srgbClr val="A78BFA"/>
          </a:solidFill>
          <a:ln/>
        </p:spPr>
        <p:txBody>
          <a:bodyPr/>
          <a:lstStyle/>
          <a:p>
            <a:endParaRPr lang="en-US"/>
          </a:p>
        </p:txBody>
      </p:sp>
      <p:sp>
        <p:nvSpPr>
          <p:cNvPr id="17" name="Text 15"/>
          <p:cNvSpPr/>
          <p:nvPr/>
        </p:nvSpPr>
        <p:spPr>
          <a:xfrm>
            <a:off x="685800" y="3017520"/>
            <a:ext cx="457200" cy="411480"/>
          </a:xfrm>
          <a:prstGeom prst="rect">
            <a:avLst/>
          </a:prstGeom>
          <a:noFill/>
          <a:ln/>
        </p:spPr>
        <p:txBody>
          <a:bodyPr wrap="square" rtlCol="0" anchor="ctr"/>
          <a:lstStyle/>
          <a:p>
            <a:pPr marL="0" indent="0" algn="ctr">
              <a:buNone/>
            </a:pPr>
            <a:r>
              <a:rPr lang="en-US" sz="2000" dirty="0">
                <a:solidFill>
                  <a:srgbClr val="A78BFA"/>
                </a:solidFill>
              </a:rPr>
              <a:t>↔</a:t>
            </a:r>
            <a:endParaRPr lang="en-US" sz="2000" dirty="0"/>
          </a:p>
        </p:txBody>
      </p:sp>
      <p:sp>
        <p:nvSpPr>
          <p:cNvPr id="18" name="Text 16"/>
          <p:cNvSpPr/>
          <p:nvPr/>
        </p:nvSpPr>
        <p:spPr>
          <a:xfrm>
            <a:off x="1188720" y="301752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Description Optimizer</a:t>
            </a:r>
            <a:endParaRPr lang="en-US" sz="1500" dirty="0"/>
          </a:p>
        </p:txBody>
      </p:sp>
      <p:sp>
        <p:nvSpPr>
          <p:cNvPr id="19" name="Text 17"/>
          <p:cNvSpPr/>
          <p:nvPr/>
        </p:nvSpPr>
        <p:spPr>
          <a:xfrm>
            <a:off x="1188720" y="338328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Generates 20 trigger queries (should-trigger and should-not), then iterates on your description to maximize accuracy</a:t>
            </a:r>
            <a:endParaRPr lang="en-US" sz="1100" dirty="0"/>
          </a:p>
        </p:txBody>
      </p:sp>
      <p:sp>
        <p:nvSpPr>
          <p:cNvPr id="20" name="Shape 18"/>
          <p:cNvSpPr/>
          <p:nvPr/>
        </p:nvSpPr>
        <p:spPr>
          <a:xfrm>
            <a:off x="4846320" y="2880360"/>
            <a:ext cx="3931920" cy="123444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4846320" y="2880360"/>
            <a:ext cx="3931920" cy="45720"/>
          </a:xfrm>
          <a:prstGeom prst="rect">
            <a:avLst/>
          </a:prstGeom>
          <a:solidFill>
            <a:srgbClr val="FBBF24"/>
          </a:solidFill>
          <a:ln/>
        </p:spPr>
        <p:txBody>
          <a:bodyPr/>
          <a:lstStyle/>
          <a:p>
            <a:endParaRPr lang="en-US"/>
          </a:p>
        </p:txBody>
      </p:sp>
      <p:sp>
        <p:nvSpPr>
          <p:cNvPr id="22" name="Text 20"/>
          <p:cNvSpPr/>
          <p:nvPr/>
        </p:nvSpPr>
        <p:spPr>
          <a:xfrm>
            <a:off x="4983480" y="3017520"/>
            <a:ext cx="457200" cy="411480"/>
          </a:xfrm>
          <a:prstGeom prst="rect">
            <a:avLst/>
          </a:prstGeom>
          <a:noFill/>
          <a:ln/>
        </p:spPr>
        <p:txBody>
          <a:bodyPr wrap="square" rtlCol="0" anchor="ctr"/>
          <a:lstStyle/>
          <a:p>
            <a:pPr marL="0" indent="0" algn="ctr">
              <a:buNone/>
            </a:pPr>
            <a:r>
              <a:rPr lang="en-US" sz="2000" dirty="0">
                <a:solidFill>
                  <a:srgbClr val="FBBF24"/>
                </a:solidFill>
              </a:rPr>
              <a:t>+</a:t>
            </a:r>
            <a:endParaRPr lang="en-US" sz="2000" dirty="0"/>
          </a:p>
        </p:txBody>
      </p:sp>
      <p:sp>
        <p:nvSpPr>
          <p:cNvPr id="23" name="Text 21"/>
          <p:cNvSpPr/>
          <p:nvPr/>
        </p:nvSpPr>
        <p:spPr>
          <a:xfrm>
            <a:off x="5486400" y="3017520"/>
            <a:ext cx="3017520" cy="32004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When to Use It</a:t>
            </a:r>
            <a:endParaRPr lang="en-US" sz="1500" dirty="0"/>
          </a:p>
        </p:txBody>
      </p:sp>
      <p:sp>
        <p:nvSpPr>
          <p:cNvPr id="24" name="Text 22"/>
          <p:cNvSpPr/>
          <p:nvPr/>
        </p:nvSpPr>
        <p:spPr>
          <a:xfrm>
            <a:off x="5486400" y="3383280"/>
            <a:ext cx="3108960" cy="59436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Complex skills with multiple MCP tools, multi-step workflows, or production use where you need confidence it works reliably</a:t>
            </a:r>
            <a:endParaRPr lang="en-US" sz="1100" dirty="0"/>
          </a:p>
        </p:txBody>
      </p:sp>
      <p:sp>
        <p:nvSpPr>
          <p:cNvPr id="25" name="Text 23"/>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6" name="Text 24"/>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
        <p:nvSpPr>
          <p:cNvPr id="27" name="TextBox 26">
            <a:extLst>
              <a:ext uri="{FF2B5EF4-FFF2-40B4-BE49-F238E27FC236}">
                <a16:creationId xmlns:a16="http://schemas.microsoft.com/office/drawing/2014/main" id="{20E88561-D082-6817-1B2B-C33D12BB3394}"/>
              </a:ext>
            </a:extLst>
          </p:cNvPr>
          <p:cNvSpPr txBox="1"/>
          <p:nvPr/>
        </p:nvSpPr>
        <p:spPr>
          <a:xfrm>
            <a:off x="548640" y="4339828"/>
            <a:ext cx="7282956" cy="369332"/>
          </a:xfrm>
          <a:prstGeom prst="rect">
            <a:avLst/>
          </a:prstGeom>
          <a:noFill/>
        </p:spPr>
        <p:txBody>
          <a:bodyPr wrap="none" rtlCol="0">
            <a:spAutoFit/>
          </a:bodyPr>
          <a:lstStyle/>
          <a:p>
            <a:r>
              <a:rPr lang="en-US" dirty="0">
                <a:solidFill>
                  <a:schemeClr val="bg1"/>
                </a:solidFill>
              </a:rPr>
              <a:t>https://</a:t>
            </a:r>
            <a:r>
              <a:rPr lang="en-US" dirty="0" err="1">
                <a:solidFill>
                  <a:schemeClr val="bg1"/>
                </a:solidFill>
              </a:rPr>
              <a:t>github.com</a:t>
            </a:r>
            <a:r>
              <a:rPr lang="en-US" dirty="0">
                <a:solidFill>
                  <a:schemeClr val="bg1"/>
                </a:solidFill>
              </a:rPr>
              <a:t>/</a:t>
            </a:r>
            <a:r>
              <a:rPr lang="en-US" dirty="0" err="1">
                <a:solidFill>
                  <a:schemeClr val="bg1"/>
                </a:solidFill>
              </a:rPr>
              <a:t>anthropics</a:t>
            </a:r>
            <a:r>
              <a:rPr lang="en-US" dirty="0">
                <a:solidFill>
                  <a:schemeClr val="bg1"/>
                </a:solidFill>
              </a:rPr>
              <a:t>/skills/blob/main/skills/skill-creator/</a:t>
            </a:r>
            <a:r>
              <a:rPr lang="en-US" dirty="0" err="1">
                <a:solidFill>
                  <a:schemeClr val="bg1"/>
                </a:solidFill>
              </a:rPr>
              <a:t>SKILL.md</a:t>
            </a:r>
            <a:endParaRPr lang="en-US"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1A1F3D"/>
                </a:solidFill>
                <a:latin typeface="Georgia" pitchFamily="34" charset="0"/>
                <a:ea typeface="Georgia" pitchFamily="34" charset="-122"/>
                <a:cs typeface="Georgia" pitchFamily="34" charset="-120"/>
              </a:rPr>
              <a:t>The Power of Taxonomies in Skills</a:t>
            </a:r>
            <a:endParaRPr lang="en-US" sz="2800" dirty="0"/>
          </a:p>
        </p:txBody>
      </p:sp>
      <p:sp>
        <p:nvSpPr>
          <p:cNvPr id="4" name="Text 2"/>
          <p:cNvSpPr/>
          <p:nvPr/>
        </p:nvSpPr>
        <p:spPr>
          <a:xfrm>
            <a:off x="731520" y="914400"/>
            <a:ext cx="7680960" cy="320040"/>
          </a:xfrm>
          <a:prstGeom prst="rect">
            <a:avLst/>
          </a:prstGeom>
          <a:noFill/>
          <a:ln/>
        </p:spPr>
        <p:txBody>
          <a:bodyPr wrap="square"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From the Housing Skill — Housing Control Model taxonomy:</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1600200"/>
        </p:xfrm>
        <a:graphic>
          <a:graphicData uri="http://schemas.openxmlformats.org/drawingml/2006/table">
            <a:tbl>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200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Plain-Language Definition</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1F3D"/>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Consumer-controlled</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The home and services are not connected. You can change services while staying in the home.</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Hybrid</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Some control is yours and some belongs to the provider.</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Provider-controlled</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buNone/>
                      </a:pPr>
                      <a:r>
                        <a:rPr lang="en-US" sz="1100" dirty="0">
                          <a:solidFill>
                            <a:srgbClr val="4A5568"/>
                          </a:solidFill>
                          <a:latin typeface="Calibri" pitchFamily="34" charset="0"/>
                          <a:ea typeface="Calibri" pitchFamily="34" charset="-122"/>
                          <a:cs typeface="Calibri" pitchFamily="34" charset="-120"/>
                        </a:rPr>
                        <a:t>Services are connected to the home. If you leave the home, you lose services.</a:t>
                      </a:r>
                      <a:endParaRPr lang="en-US" sz="11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731520" y="3291840"/>
            <a:ext cx="7680960" cy="320040"/>
          </a:xfrm>
          <a:prstGeom prst="rect">
            <a:avLst/>
          </a:prstGeom>
          <a:noFill/>
          <a:ln/>
        </p:spPr>
        <p:txBody>
          <a:bodyPr wrap="square" rtlCol="0" anchor="ctr"/>
          <a:lstStyle/>
          <a:p>
            <a:pPr marL="0" indent="0">
              <a:buNone/>
            </a:pPr>
            <a:r>
              <a:rPr lang="en-US" sz="1500" b="1" dirty="0">
                <a:solidFill>
                  <a:srgbClr val="1A1F3D"/>
                </a:solidFill>
                <a:latin typeface="Georgia" pitchFamily="34" charset="0"/>
                <a:ea typeface="Georgia" pitchFamily="34" charset="-122"/>
                <a:cs typeface="Georgia" pitchFamily="34" charset="-120"/>
              </a:rPr>
              <a:t>Why this matters for your skills:</a:t>
            </a:r>
            <a:endParaRPr lang="en-US" sz="1500" dirty="0"/>
          </a:p>
        </p:txBody>
      </p:sp>
      <p:sp>
        <p:nvSpPr>
          <p:cNvPr id="7" name="Shape 4"/>
          <p:cNvSpPr/>
          <p:nvPr/>
        </p:nvSpPr>
        <p:spPr>
          <a:xfrm>
            <a:off x="548640" y="3703320"/>
            <a:ext cx="2606040" cy="777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8" name="Text 5"/>
          <p:cNvSpPr/>
          <p:nvPr/>
        </p:nvSpPr>
        <p:spPr>
          <a:xfrm>
            <a:off x="640080" y="3730752"/>
            <a:ext cx="2423160" cy="274320"/>
          </a:xfrm>
          <a:prstGeom prst="rect">
            <a:avLst/>
          </a:prstGeom>
          <a:noFill/>
          <a:ln/>
        </p:spPr>
        <p:txBody>
          <a:bodyPr wrap="square" rtlCol="0" anchor="ctr"/>
          <a:lstStyle/>
          <a:p>
            <a:pPr marL="0" indent="0">
              <a:buNone/>
            </a:pPr>
            <a:r>
              <a:rPr lang="en-US" sz="1300" b="1" dirty="0">
                <a:solidFill>
                  <a:srgbClr val="00B4D8"/>
                </a:solidFill>
                <a:latin typeface="Georgia" pitchFamily="34" charset="0"/>
                <a:ea typeface="Georgia" pitchFamily="34" charset="-122"/>
                <a:cs typeface="Georgia" pitchFamily="34" charset="-120"/>
              </a:rPr>
              <a:t>Consistency</a:t>
            </a:r>
            <a:endParaRPr lang="en-US" sz="1300" dirty="0"/>
          </a:p>
        </p:txBody>
      </p:sp>
      <p:sp>
        <p:nvSpPr>
          <p:cNvPr id="9" name="Text 6"/>
          <p:cNvSpPr/>
          <p:nvPr/>
        </p:nvSpPr>
        <p:spPr>
          <a:xfrm>
            <a:off x="640080" y="4023360"/>
            <a:ext cx="2423160" cy="41148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Claude uses exact terms — no synonym drift across outputs</a:t>
            </a:r>
            <a:endParaRPr lang="en-US" sz="1000" dirty="0"/>
          </a:p>
        </p:txBody>
      </p:sp>
      <p:sp>
        <p:nvSpPr>
          <p:cNvPr id="10" name="Shape 7"/>
          <p:cNvSpPr/>
          <p:nvPr/>
        </p:nvSpPr>
        <p:spPr>
          <a:xfrm>
            <a:off x="3383280" y="3703320"/>
            <a:ext cx="2606040" cy="777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1" name="Text 8"/>
          <p:cNvSpPr/>
          <p:nvPr/>
        </p:nvSpPr>
        <p:spPr>
          <a:xfrm>
            <a:off x="3474720" y="3730752"/>
            <a:ext cx="2423160" cy="274320"/>
          </a:xfrm>
          <a:prstGeom prst="rect">
            <a:avLst/>
          </a:prstGeom>
          <a:noFill/>
          <a:ln/>
        </p:spPr>
        <p:txBody>
          <a:bodyPr wrap="square" rtlCol="0" anchor="ctr"/>
          <a:lstStyle/>
          <a:p>
            <a:pPr marL="0" indent="0">
              <a:buNone/>
            </a:pPr>
            <a:r>
              <a:rPr lang="en-US" sz="1300" b="1" dirty="0">
                <a:solidFill>
                  <a:srgbClr val="00B4D8"/>
                </a:solidFill>
                <a:latin typeface="Georgia" pitchFamily="34" charset="0"/>
                <a:ea typeface="Georgia" pitchFamily="34" charset="-122"/>
                <a:cs typeface="Georgia" pitchFamily="34" charset="-120"/>
              </a:rPr>
              <a:t>Accessibility</a:t>
            </a:r>
            <a:endParaRPr lang="en-US" sz="1300" dirty="0"/>
          </a:p>
        </p:txBody>
      </p:sp>
      <p:sp>
        <p:nvSpPr>
          <p:cNvPr id="12" name="Text 9"/>
          <p:cNvSpPr/>
          <p:nvPr/>
        </p:nvSpPr>
        <p:spPr>
          <a:xfrm>
            <a:off x="3474720" y="4023360"/>
            <a:ext cx="2423160" cy="41148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Plain-language definitions make outputs usable by non-experts</a:t>
            </a:r>
            <a:endParaRPr lang="en-US" sz="1000" dirty="0"/>
          </a:p>
        </p:txBody>
      </p:sp>
      <p:sp>
        <p:nvSpPr>
          <p:cNvPr id="13" name="Shape 10"/>
          <p:cNvSpPr/>
          <p:nvPr/>
        </p:nvSpPr>
        <p:spPr>
          <a:xfrm>
            <a:off x="6217920" y="3703320"/>
            <a:ext cx="2606040" cy="77724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4" name="Text 11"/>
          <p:cNvSpPr/>
          <p:nvPr/>
        </p:nvSpPr>
        <p:spPr>
          <a:xfrm>
            <a:off x="6309360" y="3730752"/>
            <a:ext cx="2423160" cy="274320"/>
          </a:xfrm>
          <a:prstGeom prst="rect">
            <a:avLst/>
          </a:prstGeom>
          <a:noFill/>
          <a:ln/>
        </p:spPr>
        <p:txBody>
          <a:bodyPr wrap="square" rtlCol="0" anchor="ctr"/>
          <a:lstStyle/>
          <a:p>
            <a:pPr marL="0" indent="0">
              <a:buNone/>
            </a:pPr>
            <a:r>
              <a:rPr lang="en-US" sz="1300" b="1" dirty="0">
                <a:solidFill>
                  <a:srgbClr val="00B4D8"/>
                </a:solidFill>
                <a:latin typeface="Georgia" pitchFamily="34" charset="0"/>
                <a:ea typeface="Georgia" pitchFamily="34" charset="-122"/>
                <a:cs typeface="Georgia" pitchFamily="34" charset="-120"/>
              </a:rPr>
              <a:t>Comparability</a:t>
            </a:r>
            <a:endParaRPr lang="en-US" sz="1300" dirty="0"/>
          </a:p>
        </p:txBody>
      </p:sp>
      <p:sp>
        <p:nvSpPr>
          <p:cNvPr id="15" name="Text 12"/>
          <p:cNvSpPr/>
          <p:nvPr/>
        </p:nvSpPr>
        <p:spPr>
          <a:xfrm>
            <a:off x="6309360" y="4023360"/>
            <a:ext cx="2423160" cy="41148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Standardized categories enable cross-record analysis</a:t>
            </a:r>
            <a:endParaRPr lang="en-US" sz="1000" dirty="0"/>
          </a:p>
        </p:txBody>
      </p:sp>
      <p:sp>
        <p:nvSpPr>
          <p:cNvPr id="16" name="Text 13"/>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17" name="Text 14"/>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Model Context Protocol (MCP)</a:t>
            </a:r>
            <a:endParaRPr lang="en-US" sz="3000" dirty="0"/>
          </a:p>
        </p:txBody>
      </p:sp>
      <p:sp>
        <p:nvSpPr>
          <p:cNvPr id="4" name="Text 2"/>
          <p:cNvSpPr/>
          <p:nvPr/>
        </p:nvSpPr>
        <p:spPr>
          <a:xfrm>
            <a:off x="731520" y="822960"/>
            <a:ext cx="7680960" cy="365760"/>
          </a:xfrm>
          <a:prstGeom prst="rect">
            <a:avLst/>
          </a:prstGeom>
          <a:noFill/>
          <a:ln/>
        </p:spPr>
        <p:txBody>
          <a:bodyPr wrap="square"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An open standard for connecting AI to your tools, databases, and APIs</a:t>
            </a:r>
            <a:endParaRPr lang="en-US" sz="1400" dirty="0"/>
          </a:p>
        </p:txBody>
      </p:sp>
      <p:sp>
        <p:nvSpPr>
          <p:cNvPr id="5" name="Shape 3"/>
          <p:cNvSpPr/>
          <p:nvPr/>
        </p:nvSpPr>
        <p:spPr>
          <a:xfrm>
            <a:off x="548640" y="1463040"/>
            <a:ext cx="2606040" cy="11430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6" name="Text 4"/>
          <p:cNvSpPr/>
          <p:nvPr/>
        </p:nvSpPr>
        <p:spPr>
          <a:xfrm>
            <a:off x="685800" y="1554480"/>
            <a:ext cx="2331720" cy="365760"/>
          </a:xfrm>
          <a:prstGeom prst="rect">
            <a:avLst/>
          </a:prstGeom>
          <a:noFill/>
          <a:ln/>
        </p:spPr>
        <p:txBody>
          <a:bodyPr wrap="square"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  Issue Trackers</a:t>
            </a:r>
            <a:endParaRPr lang="en-US" sz="1400" dirty="0"/>
          </a:p>
        </p:txBody>
      </p:sp>
      <p:sp>
        <p:nvSpPr>
          <p:cNvPr id="7" name="Text 5"/>
          <p:cNvSpPr/>
          <p:nvPr/>
        </p:nvSpPr>
        <p:spPr>
          <a:xfrm>
            <a:off x="685800" y="1965960"/>
            <a:ext cx="233172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Implement features from JIRA, GitHub Issues directly</a:t>
            </a:r>
            <a:endParaRPr lang="en-US" sz="1100" dirty="0"/>
          </a:p>
        </p:txBody>
      </p:sp>
      <p:sp>
        <p:nvSpPr>
          <p:cNvPr id="8" name="Shape 6"/>
          <p:cNvSpPr/>
          <p:nvPr/>
        </p:nvSpPr>
        <p:spPr>
          <a:xfrm>
            <a:off x="3383280" y="1463040"/>
            <a:ext cx="2606040" cy="11430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9" name="Text 7"/>
          <p:cNvSpPr/>
          <p:nvPr/>
        </p:nvSpPr>
        <p:spPr>
          <a:xfrm>
            <a:off x="3520440" y="1554480"/>
            <a:ext cx="2331720" cy="365760"/>
          </a:xfrm>
          <a:prstGeom prst="rect">
            <a:avLst/>
          </a:prstGeom>
          <a:noFill/>
          <a:ln/>
        </p:spPr>
        <p:txBody>
          <a:bodyPr wrap="square"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  Databases</a:t>
            </a:r>
            <a:endParaRPr lang="en-US" sz="1400" dirty="0"/>
          </a:p>
        </p:txBody>
      </p:sp>
      <p:sp>
        <p:nvSpPr>
          <p:cNvPr id="10" name="Text 8"/>
          <p:cNvSpPr/>
          <p:nvPr/>
        </p:nvSpPr>
        <p:spPr>
          <a:xfrm>
            <a:off x="3520440" y="1965960"/>
            <a:ext cx="233172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Query PostgreSQL, MySQL naturally in conversation</a:t>
            </a:r>
            <a:endParaRPr lang="en-US" sz="1100" dirty="0"/>
          </a:p>
        </p:txBody>
      </p:sp>
      <p:sp>
        <p:nvSpPr>
          <p:cNvPr id="11" name="Shape 9"/>
          <p:cNvSpPr/>
          <p:nvPr/>
        </p:nvSpPr>
        <p:spPr>
          <a:xfrm>
            <a:off x="6217920" y="1463040"/>
            <a:ext cx="2606040" cy="11430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2" name="Text 10"/>
          <p:cNvSpPr/>
          <p:nvPr/>
        </p:nvSpPr>
        <p:spPr>
          <a:xfrm>
            <a:off x="6355080" y="1554480"/>
            <a:ext cx="2331720" cy="365760"/>
          </a:xfrm>
          <a:prstGeom prst="rect">
            <a:avLst/>
          </a:prstGeom>
          <a:noFill/>
          <a:ln/>
        </p:spPr>
        <p:txBody>
          <a:bodyPr wrap="square"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  Monitoring</a:t>
            </a:r>
            <a:endParaRPr lang="en-US" sz="1400" dirty="0"/>
          </a:p>
        </p:txBody>
      </p:sp>
      <p:sp>
        <p:nvSpPr>
          <p:cNvPr id="13" name="Text 11"/>
          <p:cNvSpPr/>
          <p:nvPr/>
        </p:nvSpPr>
        <p:spPr>
          <a:xfrm>
            <a:off x="6355080" y="1965960"/>
            <a:ext cx="233172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Check Sentry errors, analyze logs, debug production</a:t>
            </a:r>
            <a:endParaRPr lang="en-US" sz="1100" dirty="0"/>
          </a:p>
        </p:txBody>
      </p:sp>
      <p:sp>
        <p:nvSpPr>
          <p:cNvPr id="14" name="Shape 12"/>
          <p:cNvSpPr/>
          <p:nvPr/>
        </p:nvSpPr>
        <p:spPr>
          <a:xfrm>
            <a:off x="548640" y="2880360"/>
            <a:ext cx="2606040" cy="11430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5" name="Text 13"/>
          <p:cNvSpPr/>
          <p:nvPr/>
        </p:nvSpPr>
        <p:spPr>
          <a:xfrm>
            <a:off x="685800" y="2971800"/>
            <a:ext cx="2331720" cy="365760"/>
          </a:xfrm>
          <a:prstGeom prst="rect">
            <a:avLst/>
          </a:prstGeom>
          <a:noFill/>
          <a:ln/>
        </p:spPr>
        <p:txBody>
          <a:bodyPr wrap="square"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  Code Repos</a:t>
            </a:r>
            <a:endParaRPr lang="en-US" sz="1400" dirty="0"/>
          </a:p>
        </p:txBody>
      </p:sp>
      <p:sp>
        <p:nvSpPr>
          <p:cNvPr id="16" name="Text 14"/>
          <p:cNvSpPr/>
          <p:nvPr/>
        </p:nvSpPr>
        <p:spPr>
          <a:xfrm>
            <a:off x="685800" y="3383280"/>
            <a:ext cx="233172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Review PRs, create issues, manage branches</a:t>
            </a:r>
            <a:endParaRPr lang="en-US" sz="1100" dirty="0"/>
          </a:p>
        </p:txBody>
      </p:sp>
      <p:sp>
        <p:nvSpPr>
          <p:cNvPr id="17" name="Shape 15"/>
          <p:cNvSpPr/>
          <p:nvPr/>
        </p:nvSpPr>
        <p:spPr>
          <a:xfrm>
            <a:off x="3383280" y="2880360"/>
            <a:ext cx="2606040" cy="11430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8" name="Text 16"/>
          <p:cNvSpPr/>
          <p:nvPr/>
        </p:nvSpPr>
        <p:spPr>
          <a:xfrm>
            <a:off x="3520440" y="2971800"/>
            <a:ext cx="2331720" cy="365760"/>
          </a:xfrm>
          <a:prstGeom prst="rect">
            <a:avLst/>
          </a:prstGeom>
          <a:noFill/>
          <a:ln/>
        </p:spPr>
        <p:txBody>
          <a:bodyPr wrap="square"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  Design Tools</a:t>
            </a:r>
            <a:endParaRPr lang="en-US" sz="1400" dirty="0"/>
          </a:p>
        </p:txBody>
      </p:sp>
      <p:sp>
        <p:nvSpPr>
          <p:cNvPr id="19" name="Text 17"/>
          <p:cNvSpPr/>
          <p:nvPr/>
        </p:nvSpPr>
        <p:spPr>
          <a:xfrm>
            <a:off x="3520440" y="3383280"/>
            <a:ext cx="233172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Pull Figma designs, implement specs directly</a:t>
            </a:r>
            <a:endParaRPr lang="en-US" sz="1100" dirty="0"/>
          </a:p>
        </p:txBody>
      </p:sp>
      <p:sp>
        <p:nvSpPr>
          <p:cNvPr id="20" name="Shape 18"/>
          <p:cNvSpPr/>
          <p:nvPr/>
        </p:nvSpPr>
        <p:spPr>
          <a:xfrm>
            <a:off x="6217920" y="2880360"/>
            <a:ext cx="2606040" cy="114300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21" name="Text 19"/>
          <p:cNvSpPr/>
          <p:nvPr/>
        </p:nvSpPr>
        <p:spPr>
          <a:xfrm>
            <a:off x="6355080" y="2971800"/>
            <a:ext cx="2331720" cy="365760"/>
          </a:xfrm>
          <a:prstGeom prst="rect">
            <a:avLst/>
          </a:prstGeom>
          <a:noFill/>
          <a:ln/>
        </p:spPr>
        <p:txBody>
          <a:bodyPr wrap="square"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  Communication</a:t>
            </a:r>
            <a:endParaRPr lang="en-US" sz="1400" dirty="0"/>
          </a:p>
        </p:txBody>
      </p:sp>
      <p:sp>
        <p:nvSpPr>
          <p:cNvPr id="22" name="Text 20"/>
          <p:cNvSpPr/>
          <p:nvPr/>
        </p:nvSpPr>
        <p:spPr>
          <a:xfrm>
            <a:off x="6355080" y="3383280"/>
            <a:ext cx="233172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Read Slack threads, draft emails, send updates</a:t>
            </a:r>
            <a:endParaRPr lang="en-US" sz="1100" dirty="0"/>
          </a:p>
        </p:txBody>
      </p:sp>
      <p:sp>
        <p:nvSpPr>
          <p:cNvPr id="23" name="Text 21"/>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4" name="Text 22"/>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Setting Up an MCP Server</a:t>
            </a:r>
            <a:endParaRPr lang="en-US" sz="3000" dirty="0"/>
          </a:p>
        </p:txBody>
      </p:sp>
      <p:sp>
        <p:nvSpPr>
          <p:cNvPr id="4" name="Text 2"/>
          <p:cNvSpPr/>
          <p:nvPr/>
        </p:nvSpPr>
        <p:spPr>
          <a:xfrm>
            <a:off x="731520" y="914400"/>
            <a:ext cx="7680960" cy="320040"/>
          </a:xfrm>
          <a:prstGeom prst="rect">
            <a:avLst/>
          </a:prstGeom>
          <a:noFill/>
          <a:ln/>
        </p:spPr>
        <p:txBody>
          <a:bodyPr wrap="square"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Setup (Transport) Options</a:t>
            </a:r>
            <a:endParaRPr lang="en-US" sz="1600" dirty="0"/>
          </a:p>
        </p:txBody>
      </p:sp>
      <p:sp>
        <p:nvSpPr>
          <p:cNvPr id="5" name="Shape 3"/>
          <p:cNvSpPr/>
          <p:nvPr/>
        </p:nvSpPr>
        <p:spPr>
          <a:xfrm>
            <a:off x="548640" y="1371600"/>
            <a:ext cx="8046720" cy="91440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6" name="Shape 4"/>
          <p:cNvSpPr/>
          <p:nvPr/>
        </p:nvSpPr>
        <p:spPr>
          <a:xfrm>
            <a:off x="548640" y="1371600"/>
            <a:ext cx="64008" cy="914400"/>
          </a:xfrm>
          <a:prstGeom prst="rect">
            <a:avLst/>
          </a:prstGeom>
          <a:solidFill>
            <a:srgbClr val="00B4D8"/>
          </a:solidFill>
          <a:ln/>
        </p:spPr>
        <p:txBody>
          <a:bodyPr/>
          <a:lstStyle/>
          <a:p>
            <a:endParaRPr lang="en-US"/>
          </a:p>
        </p:txBody>
      </p:sp>
      <p:sp>
        <p:nvSpPr>
          <p:cNvPr id="7" name="Text 5"/>
          <p:cNvSpPr/>
          <p:nvPr/>
        </p:nvSpPr>
        <p:spPr>
          <a:xfrm>
            <a:off x="822960" y="1389888"/>
            <a:ext cx="3913632" cy="274320"/>
          </a:xfrm>
          <a:prstGeom prst="rect">
            <a:avLst/>
          </a:prstGeom>
          <a:noFill/>
          <a:ln/>
        </p:spPr>
        <p:txBody>
          <a:bodyPr wrap="square" rtlCol="0" anchor="ctr"/>
          <a:lstStyle/>
          <a:p>
            <a:pPr marL="0" indent="0">
              <a:buNone/>
            </a:pPr>
            <a:r>
              <a:rPr lang="en-US" sz="1300" b="1" dirty="0">
                <a:solidFill>
                  <a:srgbClr val="00B4D8"/>
                </a:solidFill>
                <a:latin typeface="Georgia" pitchFamily="34" charset="0"/>
                <a:ea typeface="Georgia" pitchFamily="34" charset="-122"/>
                <a:cs typeface="Georgia" pitchFamily="34" charset="-120"/>
              </a:rPr>
              <a:t>HTTP (Recommended, online servers)</a:t>
            </a:r>
            <a:endParaRPr lang="en-US" sz="1300" dirty="0"/>
          </a:p>
        </p:txBody>
      </p:sp>
      <p:sp>
        <p:nvSpPr>
          <p:cNvPr id="8" name="Shape 6"/>
          <p:cNvSpPr/>
          <p:nvPr/>
        </p:nvSpPr>
        <p:spPr>
          <a:xfrm>
            <a:off x="822960" y="1719072"/>
            <a:ext cx="7589520" cy="411480"/>
          </a:xfrm>
          <a:prstGeom prst="rect">
            <a:avLst/>
          </a:prstGeom>
          <a:solidFill>
            <a:srgbClr val="0D1117"/>
          </a:solidFill>
          <a:ln/>
        </p:spPr>
        <p:txBody>
          <a:bodyPr/>
          <a:lstStyle/>
          <a:p>
            <a:endParaRPr lang="en-US"/>
          </a:p>
        </p:txBody>
      </p:sp>
      <p:sp>
        <p:nvSpPr>
          <p:cNvPr id="9" name="Text 7"/>
          <p:cNvSpPr/>
          <p:nvPr/>
        </p:nvSpPr>
        <p:spPr>
          <a:xfrm>
            <a:off x="1005840" y="1719072"/>
            <a:ext cx="7315200" cy="411480"/>
          </a:xfrm>
          <a:prstGeom prst="rect">
            <a:avLst/>
          </a:prstGeom>
          <a:noFill/>
          <a:ln/>
        </p:spPr>
        <p:txBody>
          <a:bodyPr wrap="square" rtlCol="0" anchor="ctr"/>
          <a:lstStyle/>
          <a:p>
            <a:r>
              <a:rPr lang="en-US" sz="1100" dirty="0" err="1">
                <a:solidFill>
                  <a:srgbClr val="00B4D8"/>
                </a:solidFill>
                <a:latin typeface="Consolas" pitchFamily="34" charset="0"/>
                <a:ea typeface="Consolas" pitchFamily="34" charset="-122"/>
                <a:cs typeface="Consolas" pitchFamily="34" charset="-120"/>
              </a:rPr>
              <a:t>claude</a:t>
            </a:r>
            <a:r>
              <a:rPr lang="en-US" sz="1100" dirty="0">
                <a:solidFill>
                  <a:srgbClr val="00B4D8"/>
                </a:solidFill>
                <a:latin typeface="Consolas" pitchFamily="34" charset="0"/>
                <a:ea typeface="Consolas" pitchFamily="34" charset="-122"/>
                <a:cs typeface="Consolas" pitchFamily="34" charset="-120"/>
              </a:rPr>
              <a:t> </a:t>
            </a:r>
            <a:r>
              <a:rPr lang="en-US" sz="1100" dirty="0" err="1">
                <a:solidFill>
                  <a:srgbClr val="00B4D8"/>
                </a:solidFill>
                <a:latin typeface="Consolas" pitchFamily="34" charset="0"/>
                <a:ea typeface="Consolas" pitchFamily="34" charset="-122"/>
                <a:cs typeface="Consolas" pitchFamily="34" charset="-120"/>
              </a:rPr>
              <a:t>mcp</a:t>
            </a:r>
            <a:r>
              <a:rPr lang="en-US" sz="1100" dirty="0">
                <a:solidFill>
                  <a:srgbClr val="00B4D8"/>
                </a:solidFill>
                <a:latin typeface="Consolas" pitchFamily="34" charset="0"/>
                <a:ea typeface="Consolas" pitchFamily="34" charset="-122"/>
                <a:cs typeface="Consolas" pitchFamily="34" charset="-120"/>
              </a:rPr>
              <a:t> add --transport http </a:t>
            </a:r>
            <a:r>
              <a:rPr lang="en-US" sz="1100" dirty="0" err="1">
                <a:solidFill>
                  <a:srgbClr val="00B4D8"/>
                </a:solidFill>
                <a:latin typeface="Consolas" pitchFamily="34" charset="0"/>
                <a:ea typeface="Consolas" pitchFamily="34" charset="-122"/>
                <a:cs typeface="Consolas" pitchFamily="34" charset="-120"/>
              </a:rPr>
              <a:t>github</a:t>
            </a:r>
            <a:r>
              <a:rPr lang="en-US" sz="1100" dirty="0">
                <a:solidFill>
                  <a:srgbClr val="00B4D8"/>
                </a:solidFill>
                <a:latin typeface="Consolas" pitchFamily="34" charset="0"/>
                <a:ea typeface="Consolas" pitchFamily="34" charset="-122"/>
                <a:cs typeface="Consolas" pitchFamily="34" charset="-120"/>
              </a:rPr>
              <a:t> https://</a:t>
            </a:r>
            <a:r>
              <a:rPr lang="en-US" sz="1100" dirty="0" err="1">
                <a:solidFill>
                  <a:srgbClr val="00B4D8"/>
                </a:solidFill>
                <a:latin typeface="Consolas" pitchFamily="34" charset="0"/>
                <a:ea typeface="Consolas" pitchFamily="34" charset="-122"/>
                <a:cs typeface="Consolas" pitchFamily="34" charset="-120"/>
              </a:rPr>
              <a:t>api.githubcopilot.com</a:t>
            </a:r>
            <a:r>
              <a:rPr lang="en-US" sz="1100" dirty="0">
                <a:solidFill>
                  <a:srgbClr val="00B4D8"/>
                </a:solidFill>
                <a:latin typeface="Consolas" pitchFamily="34" charset="0"/>
                <a:ea typeface="Consolas" pitchFamily="34" charset="-122"/>
                <a:cs typeface="Consolas" pitchFamily="34" charset="-120"/>
              </a:rPr>
              <a:t>/</a:t>
            </a:r>
            <a:r>
              <a:rPr lang="en-US" sz="1100" dirty="0" err="1">
                <a:solidFill>
                  <a:srgbClr val="00B4D8"/>
                </a:solidFill>
                <a:latin typeface="Consolas" pitchFamily="34" charset="0"/>
                <a:ea typeface="Consolas" pitchFamily="34" charset="-122"/>
                <a:cs typeface="Consolas" pitchFamily="34" charset="-120"/>
              </a:rPr>
              <a:t>mcp</a:t>
            </a:r>
            <a:r>
              <a:rPr lang="en-US" sz="1100" dirty="0">
                <a:solidFill>
                  <a:srgbClr val="00B4D8"/>
                </a:solidFill>
                <a:latin typeface="Consolas" pitchFamily="34" charset="0"/>
                <a:ea typeface="Consolas" pitchFamily="34" charset="-122"/>
                <a:cs typeface="Consolas" pitchFamily="34" charset="-120"/>
              </a:rPr>
              <a:t>/</a:t>
            </a:r>
            <a:endParaRPr lang="en-US" sz="1100" dirty="0"/>
          </a:p>
        </p:txBody>
      </p:sp>
      <p:sp>
        <p:nvSpPr>
          <p:cNvPr id="10" name="Shape 8"/>
          <p:cNvSpPr/>
          <p:nvPr/>
        </p:nvSpPr>
        <p:spPr>
          <a:xfrm>
            <a:off x="548640" y="2468880"/>
            <a:ext cx="8046720" cy="91440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548640" y="2468880"/>
            <a:ext cx="64008" cy="914400"/>
          </a:xfrm>
          <a:prstGeom prst="rect">
            <a:avLst/>
          </a:prstGeom>
          <a:solidFill>
            <a:srgbClr val="10B981"/>
          </a:solidFill>
          <a:ln/>
        </p:spPr>
        <p:txBody>
          <a:bodyPr/>
          <a:lstStyle/>
          <a:p>
            <a:endParaRPr lang="en-US"/>
          </a:p>
        </p:txBody>
      </p:sp>
      <p:sp>
        <p:nvSpPr>
          <p:cNvPr id="12" name="Text 10"/>
          <p:cNvSpPr/>
          <p:nvPr/>
        </p:nvSpPr>
        <p:spPr>
          <a:xfrm>
            <a:off x="822960" y="2487168"/>
            <a:ext cx="2743200" cy="274320"/>
          </a:xfrm>
          <a:prstGeom prst="rect">
            <a:avLst/>
          </a:prstGeom>
          <a:noFill/>
          <a:ln/>
        </p:spPr>
        <p:txBody>
          <a:bodyPr wrap="square" rtlCol="0" anchor="ctr"/>
          <a:lstStyle/>
          <a:p>
            <a:pPr marL="0" indent="0">
              <a:buNone/>
            </a:pPr>
            <a:r>
              <a:rPr lang="en-US" sz="1300" b="1" dirty="0">
                <a:solidFill>
                  <a:srgbClr val="10B981"/>
                </a:solidFill>
                <a:latin typeface="Georgia" pitchFamily="34" charset="0"/>
                <a:ea typeface="Georgia" pitchFamily="34" charset="-122"/>
                <a:cs typeface="Georgia" pitchFamily="34" charset="-120"/>
              </a:rPr>
              <a:t>Stdio (Local Processes)</a:t>
            </a:r>
            <a:endParaRPr lang="en-US" sz="1300" dirty="0"/>
          </a:p>
        </p:txBody>
      </p:sp>
      <p:sp>
        <p:nvSpPr>
          <p:cNvPr id="13" name="Shape 11"/>
          <p:cNvSpPr/>
          <p:nvPr/>
        </p:nvSpPr>
        <p:spPr>
          <a:xfrm>
            <a:off x="822960" y="2816352"/>
            <a:ext cx="7589520" cy="411480"/>
          </a:xfrm>
          <a:prstGeom prst="rect">
            <a:avLst/>
          </a:prstGeom>
          <a:solidFill>
            <a:srgbClr val="0D1117"/>
          </a:solidFill>
          <a:ln/>
        </p:spPr>
        <p:txBody>
          <a:bodyPr/>
          <a:lstStyle/>
          <a:p>
            <a:endParaRPr lang="en-US"/>
          </a:p>
        </p:txBody>
      </p:sp>
      <p:sp>
        <p:nvSpPr>
          <p:cNvPr id="14" name="Text 12"/>
          <p:cNvSpPr/>
          <p:nvPr/>
        </p:nvSpPr>
        <p:spPr>
          <a:xfrm>
            <a:off x="1005840" y="2816352"/>
            <a:ext cx="7315200" cy="411480"/>
          </a:xfrm>
          <a:prstGeom prst="rect">
            <a:avLst/>
          </a:prstGeom>
          <a:noFill/>
          <a:ln/>
        </p:spPr>
        <p:txBody>
          <a:bodyPr wrap="square" rtlCol="0" anchor="ctr"/>
          <a:lstStyle/>
          <a:p>
            <a:pPr marL="0" indent="0">
              <a:buNone/>
            </a:pPr>
            <a:r>
              <a:rPr lang="en-US" sz="1000" dirty="0">
                <a:solidFill>
                  <a:srgbClr val="10B981"/>
                </a:solidFill>
                <a:latin typeface="Consolas" pitchFamily="34" charset="0"/>
                <a:ea typeface="Consolas" pitchFamily="34" charset="-122"/>
                <a:cs typeface="Consolas" pitchFamily="34" charset="-120"/>
              </a:rPr>
              <a:t>claude mcp add --transport stdio --env API_KEY=xxx airtable -- npx -y airtable-mcp-server</a:t>
            </a:r>
            <a:endParaRPr lang="en-US" sz="1000" dirty="0"/>
          </a:p>
        </p:txBody>
      </p:sp>
      <p:sp>
        <p:nvSpPr>
          <p:cNvPr id="15" name="Text 13"/>
          <p:cNvSpPr/>
          <p:nvPr/>
        </p:nvSpPr>
        <p:spPr>
          <a:xfrm>
            <a:off x="731520" y="3657600"/>
            <a:ext cx="7680960" cy="320040"/>
          </a:xfrm>
          <a:prstGeom prst="rect">
            <a:avLst/>
          </a:prstGeom>
          <a:noFill/>
          <a:ln/>
        </p:spPr>
        <p:txBody>
          <a:bodyPr wrap="square" rtlCol="0" anchor="ctr"/>
          <a:lstStyle/>
          <a:p>
            <a:pPr marL="0" indent="0">
              <a:buNone/>
            </a:pPr>
            <a:r>
              <a:rPr lang="en-US" sz="1600" b="1" dirty="0">
                <a:solidFill>
                  <a:srgbClr val="1A1F3D"/>
                </a:solidFill>
                <a:latin typeface="Georgia" pitchFamily="34" charset="0"/>
                <a:ea typeface="Georgia" pitchFamily="34" charset="-122"/>
                <a:cs typeface="Georgia" pitchFamily="34" charset="-120"/>
              </a:rPr>
              <a:t>Managing Your Servers</a:t>
            </a:r>
            <a:endParaRPr lang="en-US" sz="1600" dirty="0"/>
          </a:p>
        </p:txBody>
      </p:sp>
      <p:sp>
        <p:nvSpPr>
          <p:cNvPr id="16" name="Shape 14"/>
          <p:cNvSpPr/>
          <p:nvPr/>
        </p:nvSpPr>
        <p:spPr>
          <a:xfrm>
            <a:off x="548640" y="4023360"/>
            <a:ext cx="8046720" cy="640080"/>
          </a:xfrm>
          <a:prstGeom prst="rect">
            <a:avLst/>
          </a:prstGeom>
          <a:solidFill>
            <a:srgbClr val="0D1117"/>
          </a:solidFill>
          <a:ln/>
        </p:spPr>
        <p:txBody>
          <a:bodyPr/>
          <a:lstStyle/>
          <a:p>
            <a:endParaRPr lang="en-US"/>
          </a:p>
        </p:txBody>
      </p:sp>
      <p:sp>
        <p:nvSpPr>
          <p:cNvPr id="17" name="Text 15"/>
          <p:cNvSpPr/>
          <p:nvPr/>
        </p:nvSpPr>
        <p:spPr>
          <a:xfrm>
            <a:off x="822960" y="4023360"/>
            <a:ext cx="4572000" cy="640080"/>
          </a:xfrm>
          <a:prstGeom prst="rect">
            <a:avLst/>
          </a:prstGeom>
          <a:noFill/>
          <a:ln/>
        </p:spPr>
        <p:txBody>
          <a:bodyPr wrap="square" rtlCol="0" anchor="ctr"/>
          <a:lstStyle/>
          <a:p>
            <a:pPr marL="0" indent="0">
              <a:spcAft>
                <a:spcPts val="100"/>
              </a:spcAft>
              <a:buNone/>
            </a:pPr>
            <a:r>
              <a:rPr lang="en-US" sz="1100" dirty="0">
                <a:solidFill>
                  <a:srgbClr val="00B4D8"/>
                </a:solidFill>
                <a:latin typeface="Consolas" pitchFamily="34" charset="0"/>
                <a:ea typeface="Consolas" pitchFamily="34" charset="-122"/>
                <a:cs typeface="Consolas" pitchFamily="34" charset="-120"/>
              </a:rPr>
              <a:t>claude mcp list</a:t>
            </a:r>
            <a:endParaRPr lang="en-US" sz="1100" dirty="0"/>
          </a:p>
          <a:p>
            <a:pPr marL="0" indent="0">
              <a:spcAft>
                <a:spcPts val="100"/>
              </a:spcAft>
              <a:buNone/>
            </a:pPr>
            <a:r>
              <a:rPr lang="en-US" sz="1100" dirty="0">
                <a:solidFill>
                  <a:srgbClr val="CBD5E1"/>
                </a:solidFill>
                <a:latin typeface="Consolas" pitchFamily="34" charset="0"/>
                <a:ea typeface="Consolas" pitchFamily="34" charset="-122"/>
                <a:cs typeface="Consolas" pitchFamily="34" charset="-120"/>
              </a:rPr>
              <a:t>claude mcp get github          </a:t>
            </a:r>
            <a:endParaRPr lang="en-US" sz="1100" dirty="0"/>
          </a:p>
          <a:p>
            <a:pPr marL="0" indent="0">
              <a:spcAft>
                <a:spcPts val="100"/>
              </a:spcAft>
              <a:buNone/>
            </a:pPr>
            <a:r>
              <a:rPr lang="en-US" sz="1100" dirty="0">
                <a:solidFill>
                  <a:srgbClr val="FF6B6B"/>
                </a:solidFill>
                <a:latin typeface="Consolas" pitchFamily="34" charset="0"/>
                <a:ea typeface="Consolas" pitchFamily="34" charset="-122"/>
                <a:cs typeface="Consolas" pitchFamily="34" charset="-120"/>
              </a:rPr>
              <a:t>claude mcp remove github       </a:t>
            </a:r>
            <a:endParaRPr lang="en-US" sz="1100" dirty="0"/>
          </a:p>
        </p:txBody>
      </p:sp>
      <p:sp>
        <p:nvSpPr>
          <p:cNvPr id="18" name="Text 16"/>
          <p:cNvSpPr/>
          <p:nvPr/>
        </p:nvSpPr>
        <p:spPr>
          <a:xfrm>
            <a:off x="5029200" y="4023360"/>
            <a:ext cx="3200400" cy="640080"/>
          </a:xfrm>
          <a:prstGeom prst="rect">
            <a:avLst/>
          </a:prstGeom>
          <a:noFill/>
          <a:ln/>
        </p:spPr>
        <p:txBody>
          <a:bodyPr wrap="square" rtlCol="0" anchor="ctr"/>
          <a:lstStyle/>
          <a:p>
            <a:pPr marL="0" indent="0">
              <a:spcAft>
                <a:spcPts val="100"/>
              </a:spcAft>
              <a:buNone/>
            </a:pPr>
            <a:r>
              <a:rPr lang="en-US" sz="1100" dirty="0">
                <a:solidFill>
                  <a:srgbClr val="8892B0"/>
                </a:solidFill>
                <a:latin typeface="Consolas" pitchFamily="34" charset="0"/>
                <a:ea typeface="Consolas" pitchFamily="34" charset="-122"/>
                <a:cs typeface="Consolas" pitchFamily="34" charset="-120"/>
              </a:rPr>
              <a:t># List all servers</a:t>
            </a:r>
            <a:endParaRPr lang="en-US" sz="1100" dirty="0"/>
          </a:p>
          <a:p>
            <a:pPr marL="0" indent="0">
              <a:spcAft>
                <a:spcPts val="100"/>
              </a:spcAft>
              <a:buNone/>
            </a:pPr>
            <a:r>
              <a:rPr lang="en-US" sz="1100" dirty="0">
                <a:solidFill>
                  <a:srgbClr val="8892B0"/>
                </a:solidFill>
                <a:latin typeface="Consolas" pitchFamily="34" charset="0"/>
                <a:ea typeface="Consolas" pitchFamily="34" charset="-122"/>
                <a:cs typeface="Consolas" pitchFamily="34" charset="-120"/>
              </a:rPr>
              <a:t># Get server details</a:t>
            </a:r>
            <a:endParaRPr lang="en-US" sz="1100" dirty="0"/>
          </a:p>
          <a:p>
            <a:pPr marL="0" indent="0">
              <a:spcAft>
                <a:spcPts val="100"/>
              </a:spcAft>
              <a:buNone/>
            </a:pPr>
            <a:r>
              <a:rPr lang="en-US" sz="1100" dirty="0">
                <a:solidFill>
                  <a:srgbClr val="8892B0"/>
                </a:solidFill>
                <a:latin typeface="Consolas" pitchFamily="34" charset="0"/>
                <a:ea typeface="Consolas" pitchFamily="34" charset="-122"/>
                <a:cs typeface="Consolas" pitchFamily="34" charset="-120"/>
              </a:rPr>
              <a:t># Remove a server</a:t>
            </a:r>
            <a:endParaRPr lang="en-US" sz="1100" dirty="0"/>
          </a:p>
        </p:txBody>
      </p:sp>
      <p:sp>
        <p:nvSpPr>
          <p:cNvPr id="19" name="Text 17"/>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0" name="Text 18"/>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MCP Server Scopes</a:t>
            </a:r>
            <a:endParaRPr lang="en-US" sz="3000" dirty="0"/>
          </a:p>
        </p:txBody>
      </p:sp>
      <p:sp>
        <p:nvSpPr>
          <p:cNvPr id="4" name="Shape 2"/>
          <p:cNvSpPr/>
          <p:nvPr/>
        </p:nvSpPr>
        <p:spPr>
          <a:xfrm>
            <a:off x="548640" y="1097280"/>
            <a:ext cx="8046720" cy="96012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548640" y="1097280"/>
            <a:ext cx="64008" cy="960120"/>
          </a:xfrm>
          <a:prstGeom prst="rect">
            <a:avLst/>
          </a:prstGeom>
          <a:solidFill>
            <a:srgbClr val="00B4D8"/>
          </a:solidFill>
          <a:ln/>
        </p:spPr>
        <p:txBody>
          <a:bodyPr/>
          <a:lstStyle/>
          <a:p>
            <a:endParaRPr lang="en-US"/>
          </a:p>
        </p:txBody>
      </p:sp>
      <p:sp>
        <p:nvSpPr>
          <p:cNvPr id="6" name="Text 4"/>
          <p:cNvSpPr/>
          <p:nvPr/>
        </p:nvSpPr>
        <p:spPr>
          <a:xfrm>
            <a:off x="822960" y="1143000"/>
            <a:ext cx="1371600" cy="320040"/>
          </a:xfrm>
          <a:prstGeom prst="rect">
            <a:avLst/>
          </a:prstGeom>
          <a:noFill/>
          <a:ln/>
        </p:spPr>
        <p:txBody>
          <a:bodyPr wrap="square" rtlCol="0" anchor="ctr"/>
          <a:lstStyle/>
          <a:p>
            <a:pPr marL="0" indent="0">
              <a:buNone/>
            </a:pPr>
            <a:r>
              <a:rPr lang="en-US" sz="1600" b="1" dirty="0">
                <a:solidFill>
                  <a:srgbClr val="00B4D8"/>
                </a:solidFill>
                <a:latin typeface="Georgia" pitchFamily="34" charset="0"/>
                <a:ea typeface="Georgia" pitchFamily="34" charset="-122"/>
                <a:cs typeface="Georgia" pitchFamily="34" charset="-120"/>
              </a:rPr>
              <a:t>Local</a:t>
            </a:r>
            <a:endParaRPr lang="en-US" sz="1600" dirty="0"/>
          </a:p>
        </p:txBody>
      </p:sp>
      <p:sp>
        <p:nvSpPr>
          <p:cNvPr id="7" name="Text 5"/>
          <p:cNvSpPr/>
          <p:nvPr/>
        </p:nvSpPr>
        <p:spPr>
          <a:xfrm>
            <a:off x="2286000" y="1143000"/>
            <a:ext cx="2286000" cy="320040"/>
          </a:xfrm>
          <a:prstGeom prst="rect">
            <a:avLst/>
          </a:prstGeom>
          <a:noFill/>
          <a:ln/>
        </p:spPr>
        <p:txBody>
          <a:bodyPr wrap="square" rtlCol="0" anchor="ctr"/>
          <a:lstStyle/>
          <a:p>
            <a:pPr marL="0" indent="0">
              <a:buNone/>
            </a:pPr>
            <a:r>
              <a:rPr lang="en-US" sz="1100" dirty="0">
                <a:solidFill>
                  <a:srgbClr val="CBD5E1"/>
                </a:solidFill>
                <a:latin typeface="Consolas" pitchFamily="34" charset="0"/>
                <a:ea typeface="Consolas" pitchFamily="34" charset="-122"/>
                <a:cs typeface="Consolas" pitchFamily="34" charset="-120"/>
              </a:rPr>
              <a:t>--scope local</a:t>
            </a:r>
            <a:endParaRPr lang="en-US" sz="1100" dirty="0"/>
          </a:p>
        </p:txBody>
      </p:sp>
      <p:sp>
        <p:nvSpPr>
          <p:cNvPr id="8" name="Text 6"/>
          <p:cNvSpPr/>
          <p:nvPr/>
        </p:nvSpPr>
        <p:spPr>
          <a:xfrm>
            <a:off x="822960" y="1508760"/>
            <a:ext cx="4572000" cy="32004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Private to you, current project only. Default scope. Great for personal dev servers.</a:t>
            </a:r>
            <a:endParaRPr lang="en-US" sz="1100" dirty="0"/>
          </a:p>
        </p:txBody>
      </p:sp>
      <p:sp>
        <p:nvSpPr>
          <p:cNvPr id="9" name="Text 7"/>
          <p:cNvSpPr/>
          <p:nvPr/>
        </p:nvSpPr>
        <p:spPr>
          <a:xfrm>
            <a:off x="5303520" y="1508760"/>
            <a:ext cx="3200400" cy="320040"/>
          </a:xfrm>
          <a:prstGeom prst="rect">
            <a:avLst/>
          </a:prstGeom>
          <a:noFill/>
          <a:ln/>
        </p:spPr>
        <p:txBody>
          <a:bodyPr wrap="square" rtlCol="0" anchor="ctr"/>
          <a:lstStyle/>
          <a:p>
            <a:pPr marL="0" indent="0" algn="r">
              <a:buNone/>
            </a:pPr>
            <a:r>
              <a:rPr lang="en-US" sz="1000" dirty="0">
                <a:solidFill>
                  <a:srgbClr val="8892B0"/>
                </a:solidFill>
                <a:latin typeface="Consolas" pitchFamily="34" charset="0"/>
                <a:ea typeface="Consolas" pitchFamily="34" charset="-122"/>
                <a:cs typeface="Consolas" pitchFamily="34" charset="-120"/>
              </a:rPr>
              <a:t>Stored: ~/.claude.json (under project path)</a:t>
            </a:r>
            <a:endParaRPr lang="en-US" sz="1000" dirty="0"/>
          </a:p>
        </p:txBody>
      </p:sp>
      <p:sp>
        <p:nvSpPr>
          <p:cNvPr id="10" name="Shape 8"/>
          <p:cNvSpPr/>
          <p:nvPr/>
        </p:nvSpPr>
        <p:spPr>
          <a:xfrm>
            <a:off x="548640" y="2240280"/>
            <a:ext cx="8046720" cy="96012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1" name="Shape 9"/>
          <p:cNvSpPr/>
          <p:nvPr/>
        </p:nvSpPr>
        <p:spPr>
          <a:xfrm>
            <a:off x="548640" y="2240280"/>
            <a:ext cx="64008" cy="960120"/>
          </a:xfrm>
          <a:prstGeom prst="rect">
            <a:avLst/>
          </a:prstGeom>
          <a:solidFill>
            <a:srgbClr val="10B981"/>
          </a:solidFill>
          <a:ln/>
        </p:spPr>
        <p:txBody>
          <a:bodyPr/>
          <a:lstStyle/>
          <a:p>
            <a:endParaRPr lang="en-US"/>
          </a:p>
        </p:txBody>
      </p:sp>
      <p:sp>
        <p:nvSpPr>
          <p:cNvPr id="12" name="Text 10"/>
          <p:cNvSpPr/>
          <p:nvPr/>
        </p:nvSpPr>
        <p:spPr>
          <a:xfrm>
            <a:off x="822960" y="2286000"/>
            <a:ext cx="1371600" cy="320040"/>
          </a:xfrm>
          <a:prstGeom prst="rect">
            <a:avLst/>
          </a:prstGeom>
          <a:noFill/>
          <a:ln/>
        </p:spPr>
        <p:txBody>
          <a:bodyPr wrap="square" rtlCol="0" anchor="ctr"/>
          <a:lstStyle/>
          <a:p>
            <a:pPr marL="0" indent="0">
              <a:buNone/>
            </a:pPr>
            <a:r>
              <a:rPr lang="en-US" sz="1600" b="1" dirty="0">
                <a:solidFill>
                  <a:srgbClr val="10B981"/>
                </a:solidFill>
                <a:latin typeface="Georgia" pitchFamily="34" charset="0"/>
                <a:ea typeface="Georgia" pitchFamily="34" charset="-122"/>
                <a:cs typeface="Georgia" pitchFamily="34" charset="-120"/>
              </a:rPr>
              <a:t>Project</a:t>
            </a:r>
            <a:endParaRPr lang="en-US" sz="1600" dirty="0"/>
          </a:p>
        </p:txBody>
      </p:sp>
      <p:sp>
        <p:nvSpPr>
          <p:cNvPr id="13" name="Text 11"/>
          <p:cNvSpPr/>
          <p:nvPr/>
        </p:nvSpPr>
        <p:spPr>
          <a:xfrm>
            <a:off x="2286000" y="2286000"/>
            <a:ext cx="2286000" cy="320040"/>
          </a:xfrm>
          <a:prstGeom prst="rect">
            <a:avLst/>
          </a:prstGeom>
          <a:noFill/>
          <a:ln/>
        </p:spPr>
        <p:txBody>
          <a:bodyPr wrap="square" rtlCol="0" anchor="ctr"/>
          <a:lstStyle/>
          <a:p>
            <a:pPr marL="0" indent="0">
              <a:buNone/>
            </a:pPr>
            <a:r>
              <a:rPr lang="en-US" sz="1100" dirty="0">
                <a:solidFill>
                  <a:srgbClr val="CBD5E1"/>
                </a:solidFill>
                <a:latin typeface="Consolas" pitchFamily="34" charset="0"/>
                <a:ea typeface="Consolas" pitchFamily="34" charset="-122"/>
                <a:cs typeface="Consolas" pitchFamily="34" charset="-120"/>
              </a:rPr>
              <a:t>--scope project</a:t>
            </a:r>
            <a:endParaRPr lang="en-US" sz="1100" dirty="0"/>
          </a:p>
        </p:txBody>
      </p:sp>
      <p:sp>
        <p:nvSpPr>
          <p:cNvPr id="14" name="Text 12"/>
          <p:cNvSpPr/>
          <p:nvPr/>
        </p:nvSpPr>
        <p:spPr>
          <a:xfrm>
            <a:off x="822960" y="2651760"/>
            <a:ext cx="4572000" cy="32004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Shared with your team via .mcp.json in the project root. Commit to version control.</a:t>
            </a:r>
            <a:endParaRPr lang="en-US" sz="1100" dirty="0"/>
          </a:p>
        </p:txBody>
      </p:sp>
      <p:sp>
        <p:nvSpPr>
          <p:cNvPr id="15" name="Text 13"/>
          <p:cNvSpPr/>
          <p:nvPr/>
        </p:nvSpPr>
        <p:spPr>
          <a:xfrm>
            <a:off x="5303520" y="2651760"/>
            <a:ext cx="3200400" cy="320040"/>
          </a:xfrm>
          <a:prstGeom prst="rect">
            <a:avLst/>
          </a:prstGeom>
          <a:noFill/>
          <a:ln/>
        </p:spPr>
        <p:txBody>
          <a:bodyPr wrap="square" rtlCol="0" anchor="ctr"/>
          <a:lstStyle/>
          <a:p>
            <a:pPr marL="0" indent="0" algn="r">
              <a:buNone/>
            </a:pPr>
            <a:r>
              <a:rPr lang="en-US" sz="1000" dirty="0">
                <a:solidFill>
                  <a:srgbClr val="8892B0"/>
                </a:solidFill>
                <a:latin typeface="Consolas" pitchFamily="34" charset="0"/>
                <a:ea typeface="Consolas" pitchFamily="34" charset="-122"/>
                <a:cs typeface="Consolas" pitchFamily="34" charset="-120"/>
              </a:rPr>
              <a:t>Stored: .mcp.json (project root)</a:t>
            </a:r>
            <a:endParaRPr lang="en-US" sz="1000" dirty="0"/>
          </a:p>
        </p:txBody>
      </p:sp>
      <p:sp>
        <p:nvSpPr>
          <p:cNvPr id="16" name="Shape 14"/>
          <p:cNvSpPr/>
          <p:nvPr/>
        </p:nvSpPr>
        <p:spPr>
          <a:xfrm>
            <a:off x="548640" y="3383280"/>
            <a:ext cx="8046720" cy="96012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7" name="Shape 15"/>
          <p:cNvSpPr/>
          <p:nvPr/>
        </p:nvSpPr>
        <p:spPr>
          <a:xfrm>
            <a:off x="548640" y="3383280"/>
            <a:ext cx="64008" cy="960120"/>
          </a:xfrm>
          <a:prstGeom prst="rect">
            <a:avLst/>
          </a:prstGeom>
          <a:solidFill>
            <a:srgbClr val="A78BFA"/>
          </a:solidFill>
          <a:ln/>
        </p:spPr>
        <p:txBody>
          <a:bodyPr/>
          <a:lstStyle/>
          <a:p>
            <a:endParaRPr lang="en-US"/>
          </a:p>
        </p:txBody>
      </p:sp>
      <p:sp>
        <p:nvSpPr>
          <p:cNvPr id="18" name="Text 16"/>
          <p:cNvSpPr/>
          <p:nvPr/>
        </p:nvSpPr>
        <p:spPr>
          <a:xfrm>
            <a:off x="822960" y="3429000"/>
            <a:ext cx="1371600" cy="320040"/>
          </a:xfrm>
          <a:prstGeom prst="rect">
            <a:avLst/>
          </a:prstGeom>
          <a:noFill/>
          <a:ln/>
        </p:spPr>
        <p:txBody>
          <a:bodyPr wrap="square" rtlCol="0" anchor="ctr"/>
          <a:lstStyle/>
          <a:p>
            <a:pPr marL="0" indent="0">
              <a:buNone/>
            </a:pPr>
            <a:r>
              <a:rPr lang="en-US" sz="1600" b="1" dirty="0">
                <a:solidFill>
                  <a:srgbClr val="A78BFA"/>
                </a:solidFill>
                <a:latin typeface="Georgia" pitchFamily="34" charset="0"/>
                <a:ea typeface="Georgia" pitchFamily="34" charset="-122"/>
                <a:cs typeface="Georgia" pitchFamily="34" charset="-120"/>
              </a:rPr>
              <a:t>User</a:t>
            </a:r>
            <a:endParaRPr lang="en-US" sz="1600" dirty="0"/>
          </a:p>
        </p:txBody>
      </p:sp>
      <p:sp>
        <p:nvSpPr>
          <p:cNvPr id="19" name="Text 17"/>
          <p:cNvSpPr/>
          <p:nvPr/>
        </p:nvSpPr>
        <p:spPr>
          <a:xfrm>
            <a:off x="2286000" y="3429000"/>
            <a:ext cx="2286000" cy="320040"/>
          </a:xfrm>
          <a:prstGeom prst="rect">
            <a:avLst/>
          </a:prstGeom>
          <a:noFill/>
          <a:ln/>
        </p:spPr>
        <p:txBody>
          <a:bodyPr wrap="square" rtlCol="0" anchor="ctr"/>
          <a:lstStyle/>
          <a:p>
            <a:pPr marL="0" indent="0">
              <a:buNone/>
            </a:pPr>
            <a:r>
              <a:rPr lang="en-US" sz="1100" dirty="0">
                <a:solidFill>
                  <a:srgbClr val="CBD5E1"/>
                </a:solidFill>
                <a:latin typeface="Consolas" pitchFamily="34" charset="0"/>
                <a:ea typeface="Consolas" pitchFamily="34" charset="-122"/>
                <a:cs typeface="Consolas" pitchFamily="34" charset="-120"/>
              </a:rPr>
              <a:t>--scope user</a:t>
            </a:r>
            <a:endParaRPr lang="en-US" sz="1100" dirty="0"/>
          </a:p>
        </p:txBody>
      </p:sp>
      <p:sp>
        <p:nvSpPr>
          <p:cNvPr id="20" name="Text 18"/>
          <p:cNvSpPr/>
          <p:nvPr/>
        </p:nvSpPr>
        <p:spPr>
          <a:xfrm>
            <a:off x="822960" y="3794760"/>
            <a:ext cx="4572000" cy="32004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Available to you across all projects. For personal utilities you use everywhere.</a:t>
            </a:r>
            <a:endParaRPr lang="en-US" sz="1100" dirty="0"/>
          </a:p>
        </p:txBody>
      </p:sp>
      <p:sp>
        <p:nvSpPr>
          <p:cNvPr id="21" name="Text 19"/>
          <p:cNvSpPr/>
          <p:nvPr/>
        </p:nvSpPr>
        <p:spPr>
          <a:xfrm>
            <a:off x="5303520" y="3794760"/>
            <a:ext cx="3200400" cy="320040"/>
          </a:xfrm>
          <a:prstGeom prst="rect">
            <a:avLst/>
          </a:prstGeom>
          <a:noFill/>
          <a:ln/>
        </p:spPr>
        <p:txBody>
          <a:bodyPr wrap="square" rtlCol="0" anchor="ctr"/>
          <a:lstStyle/>
          <a:p>
            <a:pPr marL="0" indent="0" algn="r">
              <a:buNone/>
            </a:pPr>
            <a:r>
              <a:rPr lang="en-US" sz="1000" dirty="0">
                <a:solidFill>
                  <a:srgbClr val="8892B0"/>
                </a:solidFill>
                <a:latin typeface="Consolas" pitchFamily="34" charset="0"/>
                <a:ea typeface="Consolas" pitchFamily="34" charset="-122"/>
                <a:cs typeface="Consolas" pitchFamily="34" charset="-120"/>
              </a:rPr>
              <a:t>Stored: ~/.claude.json</a:t>
            </a:r>
            <a:endParaRPr lang="en-US" sz="1000" dirty="0"/>
          </a:p>
        </p:txBody>
      </p:sp>
      <p:sp>
        <p:nvSpPr>
          <p:cNvPr id="22" name="Text 20"/>
          <p:cNvSpPr/>
          <p:nvPr/>
        </p:nvSpPr>
        <p:spPr>
          <a:xfrm>
            <a:off x="731520" y="4526280"/>
            <a:ext cx="7680960" cy="320040"/>
          </a:xfrm>
          <a:prstGeom prst="rect">
            <a:avLst/>
          </a:prstGeom>
          <a:noFill/>
          <a:ln/>
        </p:spPr>
        <p:txBody>
          <a:bodyPr wrap="square" rtlCol="0" anchor="ctr"/>
          <a:lstStyle/>
          <a:p>
            <a:pPr marL="0" indent="0">
              <a:buNone/>
            </a:pPr>
            <a:r>
              <a:rPr lang="en-US" sz="1200" i="1" dirty="0">
                <a:solidFill>
                  <a:srgbClr val="8892B0"/>
                </a:solidFill>
                <a:latin typeface="Calibri" pitchFamily="34" charset="0"/>
                <a:ea typeface="Calibri" pitchFamily="34" charset="-122"/>
                <a:cs typeface="Calibri" pitchFamily="34" charset="-120"/>
              </a:rPr>
              <a:t>Precedence: Local &gt; Project &gt; User</a:t>
            </a:r>
            <a:endParaRPr lang="en-US" sz="1200" dirty="0"/>
          </a:p>
        </p:txBody>
      </p:sp>
      <p:sp>
        <p:nvSpPr>
          <p:cNvPr id="23" name="Text 21"/>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4" name="Text 22"/>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1A1F3D"/>
                </a:solidFill>
                <a:latin typeface="Georgia" pitchFamily="34" charset="0"/>
                <a:ea typeface="Georgia" pitchFamily="34" charset="-122"/>
                <a:cs typeface="Georgia" pitchFamily="34" charset="-120"/>
              </a:rPr>
              <a:t>MCP Example: GitHub + Sentry Setup</a:t>
            </a:r>
            <a:endParaRPr lang="en-US" sz="2800" dirty="0"/>
          </a:p>
        </p:txBody>
      </p:sp>
      <p:sp>
        <p:nvSpPr>
          <p:cNvPr id="4" name="Shape 2"/>
          <p:cNvSpPr/>
          <p:nvPr/>
        </p:nvSpPr>
        <p:spPr>
          <a:xfrm>
            <a:off x="548640" y="1005840"/>
            <a:ext cx="8046720" cy="16459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548640" y="1005840"/>
            <a:ext cx="64008" cy="1645920"/>
          </a:xfrm>
          <a:prstGeom prst="rect">
            <a:avLst/>
          </a:prstGeom>
          <a:solidFill>
            <a:srgbClr val="00B4D8"/>
          </a:solidFill>
          <a:ln/>
        </p:spPr>
        <p:txBody>
          <a:bodyPr/>
          <a:lstStyle/>
          <a:p>
            <a:endParaRPr lang="en-US"/>
          </a:p>
        </p:txBody>
      </p:sp>
      <p:sp>
        <p:nvSpPr>
          <p:cNvPr id="6" name="Text 4"/>
          <p:cNvSpPr/>
          <p:nvPr/>
        </p:nvSpPr>
        <p:spPr>
          <a:xfrm>
            <a:off x="822960" y="1051560"/>
            <a:ext cx="7315200" cy="320040"/>
          </a:xfrm>
          <a:prstGeom prst="rect">
            <a:avLst/>
          </a:prstGeom>
          <a:noFill/>
          <a:ln/>
        </p:spPr>
        <p:txBody>
          <a:bodyPr wrap="square" rtlCol="0" anchor="ctr"/>
          <a:lstStyle/>
          <a:p>
            <a:pPr marL="0" indent="0">
              <a:buNone/>
            </a:pPr>
            <a:r>
              <a:rPr lang="en-US" sz="1500" b="1" dirty="0">
                <a:solidFill>
                  <a:srgbClr val="00B4D8"/>
                </a:solidFill>
                <a:latin typeface="Georgia" pitchFamily="34" charset="0"/>
                <a:ea typeface="Georgia" pitchFamily="34" charset="-122"/>
                <a:cs typeface="Georgia" pitchFamily="34" charset="-120"/>
              </a:rPr>
              <a:t>Connect to GitHub</a:t>
            </a:r>
            <a:endParaRPr lang="en-US" sz="1500" dirty="0"/>
          </a:p>
        </p:txBody>
      </p:sp>
      <p:sp>
        <p:nvSpPr>
          <p:cNvPr id="7" name="Shape 5"/>
          <p:cNvSpPr/>
          <p:nvPr/>
        </p:nvSpPr>
        <p:spPr>
          <a:xfrm>
            <a:off x="822960" y="1417320"/>
            <a:ext cx="7589520" cy="320040"/>
          </a:xfrm>
          <a:prstGeom prst="rect">
            <a:avLst/>
          </a:prstGeom>
          <a:solidFill>
            <a:srgbClr val="0D1117"/>
          </a:solidFill>
          <a:ln/>
        </p:spPr>
        <p:txBody>
          <a:bodyPr/>
          <a:lstStyle/>
          <a:p>
            <a:endParaRPr lang="en-US"/>
          </a:p>
        </p:txBody>
      </p:sp>
      <p:sp>
        <p:nvSpPr>
          <p:cNvPr id="8" name="Text 6"/>
          <p:cNvSpPr/>
          <p:nvPr/>
        </p:nvSpPr>
        <p:spPr>
          <a:xfrm>
            <a:off x="1005840" y="1417320"/>
            <a:ext cx="7315200" cy="320040"/>
          </a:xfrm>
          <a:prstGeom prst="rect">
            <a:avLst/>
          </a:prstGeom>
          <a:noFill/>
          <a:ln/>
        </p:spPr>
        <p:txBody>
          <a:bodyPr wrap="square" rtlCol="0" anchor="ctr"/>
          <a:lstStyle/>
          <a:p>
            <a:r>
              <a:rPr lang="en-US" sz="1100" dirty="0" err="1">
                <a:solidFill>
                  <a:srgbClr val="00B4D8"/>
                </a:solidFill>
                <a:latin typeface="Consolas" pitchFamily="34" charset="0"/>
                <a:ea typeface="Consolas" pitchFamily="34" charset="-122"/>
                <a:cs typeface="Consolas" pitchFamily="34" charset="-120"/>
              </a:rPr>
              <a:t>claude</a:t>
            </a:r>
            <a:r>
              <a:rPr lang="en-US" sz="1100" dirty="0">
                <a:solidFill>
                  <a:srgbClr val="00B4D8"/>
                </a:solidFill>
                <a:latin typeface="Consolas" pitchFamily="34" charset="0"/>
                <a:ea typeface="Consolas" pitchFamily="34" charset="-122"/>
                <a:cs typeface="Consolas" pitchFamily="34" charset="-120"/>
              </a:rPr>
              <a:t> </a:t>
            </a:r>
            <a:r>
              <a:rPr lang="en-US" sz="1100" dirty="0" err="1">
                <a:solidFill>
                  <a:srgbClr val="00B4D8"/>
                </a:solidFill>
                <a:latin typeface="Consolas" pitchFamily="34" charset="0"/>
                <a:ea typeface="Consolas" pitchFamily="34" charset="-122"/>
                <a:cs typeface="Consolas" pitchFamily="34" charset="-120"/>
              </a:rPr>
              <a:t>mcp</a:t>
            </a:r>
            <a:r>
              <a:rPr lang="en-US" sz="1100" dirty="0">
                <a:solidFill>
                  <a:srgbClr val="00B4D8"/>
                </a:solidFill>
                <a:latin typeface="Consolas" pitchFamily="34" charset="0"/>
                <a:ea typeface="Consolas" pitchFamily="34" charset="-122"/>
                <a:cs typeface="Consolas" pitchFamily="34" charset="-120"/>
              </a:rPr>
              <a:t> add --transport http </a:t>
            </a:r>
            <a:r>
              <a:rPr lang="en-US" sz="1100" dirty="0" err="1">
                <a:solidFill>
                  <a:srgbClr val="00B4D8"/>
                </a:solidFill>
                <a:latin typeface="Consolas" pitchFamily="34" charset="0"/>
                <a:ea typeface="Consolas" pitchFamily="34" charset="-122"/>
                <a:cs typeface="Consolas" pitchFamily="34" charset="-120"/>
              </a:rPr>
              <a:t>github</a:t>
            </a:r>
            <a:r>
              <a:rPr lang="en-US" sz="1100" dirty="0">
                <a:solidFill>
                  <a:srgbClr val="00B4D8"/>
                </a:solidFill>
                <a:latin typeface="Consolas" pitchFamily="34" charset="0"/>
                <a:ea typeface="Consolas" pitchFamily="34" charset="-122"/>
                <a:cs typeface="Consolas" pitchFamily="34" charset="-120"/>
              </a:rPr>
              <a:t> https://</a:t>
            </a:r>
            <a:r>
              <a:rPr lang="en-US" sz="1100" dirty="0" err="1">
                <a:solidFill>
                  <a:srgbClr val="00B4D8"/>
                </a:solidFill>
                <a:latin typeface="Consolas" pitchFamily="34" charset="0"/>
                <a:ea typeface="Consolas" pitchFamily="34" charset="-122"/>
                <a:cs typeface="Consolas" pitchFamily="34" charset="-120"/>
              </a:rPr>
              <a:t>api.githubcopilot.com</a:t>
            </a:r>
            <a:r>
              <a:rPr lang="en-US" sz="1100" dirty="0">
                <a:solidFill>
                  <a:srgbClr val="00B4D8"/>
                </a:solidFill>
                <a:latin typeface="Consolas" pitchFamily="34" charset="0"/>
                <a:ea typeface="Consolas" pitchFamily="34" charset="-122"/>
                <a:cs typeface="Consolas" pitchFamily="34" charset="-120"/>
              </a:rPr>
              <a:t>/</a:t>
            </a:r>
            <a:r>
              <a:rPr lang="en-US" sz="1100" dirty="0" err="1">
                <a:solidFill>
                  <a:srgbClr val="00B4D8"/>
                </a:solidFill>
                <a:latin typeface="Consolas" pitchFamily="34" charset="0"/>
                <a:ea typeface="Consolas" pitchFamily="34" charset="-122"/>
                <a:cs typeface="Consolas" pitchFamily="34" charset="-120"/>
              </a:rPr>
              <a:t>mcp</a:t>
            </a:r>
            <a:r>
              <a:rPr lang="en-US" sz="1100" dirty="0">
                <a:solidFill>
                  <a:srgbClr val="00B4D8"/>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822960" y="1828800"/>
            <a:ext cx="7589520" cy="320040"/>
          </a:xfrm>
          <a:prstGeom prst="rect">
            <a:avLst/>
          </a:prstGeom>
          <a:noFill/>
          <a:ln/>
        </p:spPr>
        <p:txBody>
          <a:bodyPr wrap="square"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Then ask Claude: "Review PR #456 and suggest improvements" or "Create a new issue for this bug"</a:t>
            </a:r>
            <a:endParaRPr lang="en-US" sz="1100" dirty="0"/>
          </a:p>
        </p:txBody>
      </p:sp>
      <p:sp>
        <p:nvSpPr>
          <p:cNvPr id="10" name="Text 8"/>
          <p:cNvSpPr/>
          <p:nvPr/>
        </p:nvSpPr>
        <p:spPr>
          <a:xfrm>
            <a:off x="822960" y="2194560"/>
            <a:ext cx="7589520" cy="320040"/>
          </a:xfrm>
          <a:prstGeom prst="rect">
            <a:avLst/>
          </a:prstGeom>
          <a:noFill/>
          <a:ln/>
        </p:spPr>
        <p:txBody>
          <a:bodyPr wrap="square" rtlCol="0" anchor="ctr"/>
          <a:lstStyle/>
          <a:p>
            <a:pPr marL="0" indent="0">
              <a:buNone/>
            </a:pPr>
            <a:r>
              <a:rPr lang="en-US" sz="1100" dirty="0">
                <a:solidFill>
                  <a:srgbClr val="1A1F3D"/>
                </a:solidFill>
                <a:latin typeface="Calibri" pitchFamily="34" charset="0"/>
                <a:ea typeface="Calibri" pitchFamily="34" charset="-122"/>
                <a:cs typeface="Calibri" pitchFamily="34" charset="-120"/>
              </a:rPr>
              <a:t>Authenticate with:  /mcp  (inside Claude Code, then follow the browser login flow)</a:t>
            </a:r>
            <a:endParaRPr lang="en-US" sz="1100" dirty="0"/>
          </a:p>
        </p:txBody>
      </p:sp>
      <p:sp>
        <p:nvSpPr>
          <p:cNvPr id="11" name="Shape 9"/>
          <p:cNvSpPr/>
          <p:nvPr/>
        </p:nvSpPr>
        <p:spPr>
          <a:xfrm>
            <a:off x="548640" y="2880360"/>
            <a:ext cx="8046720" cy="164592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en-US"/>
          </a:p>
        </p:txBody>
      </p:sp>
      <p:sp>
        <p:nvSpPr>
          <p:cNvPr id="12" name="Shape 10"/>
          <p:cNvSpPr/>
          <p:nvPr/>
        </p:nvSpPr>
        <p:spPr>
          <a:xfrm>
            <a:off x="548640" y="2880360"/>
            <a:ext cx="64008" cy="1645920"/>
          </a:xfrm>
          <a:prstGeom prst="rect">
            <a:avLst/>
          </a:prstGeom>
          <a:solidFill>
            <a:srgbClr val="10B981"/>
          </a:solidFill>
          <a:ln/>
        </p:spPr>
        <p:txBody>
          <a:bodyPr/>
          <a:lstStyle/>
          <a:p>
            <a:endParaRPr lang="en-US"/>
          </a:p>
        </p:txBody>
      </p:sp>
      <p:sp>
        <p:nvSpPr>
          <p:cNvPr id="13" name="Text 11"/>
          <p:cNvSpPr/>
          <p:nvPr/>
        </p:nvSpPr>
        <p:spPr>
          <a:xfrm>
            <a:off x="822960" y="2926080"/>
            <a:ext cx="7315200" cy="320040"/>
          </a:xfrm>
          <a:prstGeom prst="rect">
            <a:avLst/>
          </a:prstGeom>
          <a:noFill/>
          <a:ln/>
        </p:spPr>
        <p:txBody>
          <a:bodyPr wrap="square" rtlCol="0" anchor="ctr"/>
          <a:lstStyle/>
          <a:p>
            <a:pPr marL="0" indent="0">
              <a:buNone/>
            </a:pPr>
            <a:r>
              <a:rPr lang="en-US" sz="1500" b="1" dirty="0">
                <a:solidFill>
                  <a:srgbClr val="10B981"/>
                </a:solidFill>
                <a:latin typeface="Georgia" pitchFamily="34" charset="0"/>
                <a:ea typeface="Georgia" pitchFamily="34" charset="-122"/>
                <a:cs typeface="Georgia" pitchFamily="34" charset="-120"/>
              </a:rPr>
              <a:t>Connect to Sentry (Error Monitoring)</a:t>
            </a:r>
            <a:endParaRPr lang="en-US" sz="1500" dirty="0"/>
          </a:p>
        </p:txBody>
      </p:sp>
      <p:sp>
        <p:nvSpPr>
          <p:cNvPr id="14" name="Shape 12"/>
          <p:cNvSpPr/>
          <p:nvPr/>
        </p:nvSpPr>
        <p:spPr>
          <a:xfrm>
            <a:off x="822960" y="3291840"/>
            <a:ext cx="7589520" cy="320040"/>
          </a:xfrm>
          <a:prstGeom prst="rect">
            <a:avLst/>
          </a:prstGeom>
          <a:solidFill>
            <a:srgbClr val="0D1117"/>
          </a:solidFill>
          <a:ln/>
        </p:spPr>
        <p:txBody>
          <a:bodyPr/>
          <a:lstStyle/>
          <a:p>
            <a:endParaRPr lang="en-US"/>
          </a:p>
        </p:txBody>
      </p:sp>
      <p:sp>
        <p:nvSpPr>
          <p:cNvPr id="15" name="Text 13"/>
          <p:cNvSpPr/>
          <p:nvPr/>
        </p:nvSpPr>
        <p:spPr>
          <a:xfrm>
            <a:off x="1005840" y="3291840"/>
            <a:ext cx="7315200" cy="320040"/>
          </a:xfrm>
          <a:prstGeom prst="rect">
            <a:avLst/>
          </a:prstGeom>
          <a:noFill/>
          <a:ln/>
        </p:spPr>
        <p:txBody>
          <a:bodyPr wrap="square" rtlCol="0" anchor="ctr"/>
          <a:lstStyle/>
          <a:p>
            <a:pPr marL="0" indent="0">
              <a:buNone/>
            </a:pPr>
            <a:r>
              <a:rPr lang="en-US" sz="1100" dirty="0">
                <a:solidFill>
                  <a:srgbClr val="10B981"/>
                </a:solidFill>
                <a:latin typeface="Consolas" pitchFamily="34" charset="0"/>
                <a:ea typeface="Consolas" pitchFamily="34" charset="-122"/>
                <a:cs typeface="Consolas" pitchFamily="34" charset="-120"/>
              </a:rPr>
              <a:t>claude mcp add --transport http sentry https://mcp.sentry.dev/mcp</a:t>
            </a:r>
            <a:endParaRPr lang="en-US" sz="1100" dirty="0"/>
          </a:p>
        </p:txBody>
      </p:sp>
      <p:sp>
        <p:nvSpPr>
          <p:cNvPr id="16" name="Text 14"/>
          <p:cNvSpPr/>
          <p:nvPr/>
        </p:nvSpPr>
        <p:spPr>
          <a:xfrm>
            <a:off x="822960" y="3703320"/>
            <a:ext cx="7589520" cy="320040"/>
          </a:xfrm>
          <a:prstGeom prst="rect">
            <a:avLst/>
          </a:prstGeom>
          <a:noFill/>
          <a:ln/>
        </p:spPr>
        <p:txBody>
          <a:bodyPr wrap="square"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Then ask: "What are the most common errors in the last 24 hours?" or "Show me the stack trace for error abc123"</a:t>
            </a:r>
            <a:endParaRPr lang="en-US" sz="1100" dirty="0"/>
          </a:p>
        </p:txBody>
      </p:sp>
      <p:sp>
        <p:nvSpPr>
          <p:cNvPr id="17" name="Text 15"/>
          <p:cNvSpPr/>
          <p:nvPr/>
        </p:nvSpPr>
        <p:spPr>
          <a:xfrm>
            <a:off x="822960" y="4069080"/>
            <a:ext cx="7589520" cy="320040"/>
          </a:xfrm>
          <a:prstGeom prst="rect">
            <a:avLst/>
          </a:prstGeom>
          <a:noFill/>
          <a:ln/>
        </p:spPr>
        <p:txBody>
          <a:bodyPr wrap="square" rtlCol="0" anchor="ctr"/>
          <a:lstStyle/>
          <a:p>
            <a:pPr marL="0" indent="0">
              <a:buNone/>
            </a:pPr>
            <a:r>
              <a:rPr lang="en-US" sz="1100" dirty="0">
                <a:solidFill>
                  <a:srgbClr val="1A1F3D"/>
                </a:solidFill>
                <a:latin typeface="Calibri" pitchFamily="34" charset="0"/>
                <a:ea typeface="Calibri" pitchFamily="34" charset="-122"/>
                <a:cs typeface="Calibri" pitchFamily="34" charset="-120"/>
              </a:rPr>
              <a:t>Authenticate with:  /mcp  (inside Claude Code, then follow the browser login flow)</a:t>
            </a:r>
            <a:endParaRPr lang="en-US" sz="1100" dirty="0"/>
          </a:p>
        </p:txBody>
      </p:sp>
      <p:sp>
        <p:nvSpPr>
          <p:cNvPr id="18" name="Text 16"/>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19" name="Text 17"/>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Sharing MCP Config with Your Team</a:t>
            </a:r>
            <a:endParaRPr lang="en-US" sz="2800" dirty="0"/>
          </a:p>
        </p:txBody>
      </p:sp>
      <p:sp>
        <p:nvSpPr>
          <p:cNvPr id="4" name="Text 2"/>
          <p:cNvSpPr/>
          <p:nvPr/>
        </p:nvSpPr>
        <p:spPr>
          <a:xfrm>
            <a:off x="731520" y="822960"/>
            <a:ext cx="7680960" cy="320040"/>
          </a:xfrm>
          <a:prstGeom prst="rect">
            <a:avLst/>
          </a:prstGeom>
          <a:noFill/>
          <a:ln/>
        </p:spPr>
        <p:txBody>
          <a:bodyPr wrap="square" rtlCol="0" anchor="ctr"/>
          <a:lstStyle/>
          <a:p>
            <a:pPr marL="0" indent="0">
              <a:buNone/>
            </a:pPr>
            <a:r>
              <a:rPr lang="en-US" sz="1300" i="1" dirty="0">
                <a:solidFill>
                  <a:srgbClr val="8892B0"/>
                </a:solidFill>
                <a:latin typeface="Calibri" pitchFamily="34" charset="0"/>
                <a:ea typeface="Calibri" pitchFamily="34" charset="-122"/>
                <a:cs typeface="Calibri" pitchFamily="34" charset="-120"/>
              </a:rPr>
              <a:t>The .mcp.json file — commit to version control for team-wide access</a:t>
            </a:r>
            <a:endParaRPr lang="en-US" sz="1300" dirty="0"/>
          </a:p>
        </p:txBody>
      </p:sp>
      <p:sp>
        <p:nvSpPr>
          <p:cNvPr id="5" name="Shape 3"/>
          <p:cNvSpPr/>
          <p:nvPr/>
        </p:nvSpPr>
        <p:spPr>
          <a:xfrm>
            <a:off x="548640" y="1280160"/>
            <a:ext cx="8046720" cy="2926080"/>
          </a:xfrm>
          <a:prstGeom prst="rect">
            <a:avLst/>
          </a:prstGeom>
          <a:solidFill>
            <a:srgbClr val="0D1117"/>
          </a:solidFill>
          <a:ln/>
          <a:effectLst>
            <a:outerShdw blurRad="101600" dist="38100" dir="8100000" algn="bl" rotWithShape="0">
              <a:srgbClr val="000000">
                <a:alpha val="18000"/>
              </a:srgbClr>
            </a:outerShdw>
          </a:effectLst>
        </p:spPr>
        <p:txBody>
          <a:bodyPr/>
          <a:lstStyle/>
          <a:p>
            <a:endParaRPr lang="en-US"/>
          </a:p>
        </p:txBody>
      </p:sp>
      <p:sp>
        <p:nvSpPr>
          <p:cNvPr id="6" name="Text 4"/>
          <p:cNvSpPr/>
          <p:nvPr/>
        </p:nvSpPr>
        <p:spPr>
          <a:xfrm>
            <a:off x="822960" y="1371600"/>
            <a:ext cx="7680960" cy="2743200"/>
          </a:xfrm>
          <a:prstGeom prst="rect">
            <a:avLst/>
          </a:prstGeom>
          <a:noFill/>
          <a:ln/>
        </p:spPr>
        <p:txBody>
          <a:bodyPr wrap="square" rtlCol="0" anchor="ctr"/>
          <a:lstStyle/>
          <a:p>
            <a:pPr marL="0" indent="0">
              <a:buNone/>
            </a:pPr>
            <a:r>
              <a:rPr lang="en-US" sz="1050" dirty="0">
                <a:solidFill>
                  <a:srgbClr val="FFFFFF"/>
                </a:solidFill>
                <a:latin typeface="Consolas" pitchFamily="34" charset="0"/>
                <a:ea typeface="Consolas" pitchFamily="34" charset="-122"/>
                <a:cs typeface="Consolas" pitchFamily="34" charset="-120"/>
              </a:rPr>
              <a:t>{</a:t>
            </a:r>
            <a:endParaRPr lang="en-US" sz="1050" dirty="0"/>
          </a:p>
          <a:p>
            <a:pPr marL="0" indent="0">
              <a:buNone/>
            </a:pPr>
            <a:r>
              <a:rPr lang="en-US" sz="1050" dirty="0">
                <a:solidFill>
                  <a:srgbClr val="FFFFFF"/>
                </a:solidFill>
                <a:latin typeface="Consolas" pitchFamily="34" charset="0"/>
                <a:ea typeface="Consolas" pitchFamily="34" charset="-122"/>
                <a:cs typeface="Consolas" pitchFamily="34" charset="-120"/>
              </a:rPr>
              <a:t>  "mcpServers": {</a:t>
            </a:r>
            <a:endParaRPr lang="en-US" sz="1050" dirty="0"/>
          </a:p>
          <a:p>
            <a:pPr marL="0" indent="0">
              <a:buNone/>
            </a:pPr>
            <a:r>
              <a:rPr lang="en-US" sz="1050" dirty="0">
                <a:solidFill>
                  <a:srgbClr val="FBBF24"/>
                </a:solidFill>
                <a:latin typeface="Consolas" pitchFamily="34" charset="0"/>
                <a:ea typeface="Consolas" pitchFamily="34" charset="-122"/>
                <a:cs typeface="Consolas" pitchFamily="34" charset="-120"/>
              </a:rPr>
              <a:t>    "github": {</a:t>
            </a:r>
            <a:endParaRPr lang="en-US" sz="1050" dirty="0"/>
          </a:p>
          <a:p>
            <a:pPr marL="0" indent="0">
              <a:buNone/>
            </a:pPr>
            <a:r>
              <a:rPr lang="en-US" sz="1050" dirty="0">
                <a:solidFill>
                  <a:srgbClr val="CBD5E1"/>
                </a:solidFill>
                <a:latin typeface="Consolas" pitchFamily="34" charset="0"/>
                <a:ea typeface="Consolas" pitchFamily="34" charset="-122"/>
                <a:cs typeface="Consolas" pitchFamily="34" charset="-120"/>
              </a:rPr>
              <a:t>      "type": "http",</a:t>
            </a:r>
            <a:endParaRPr lang="en-US" sz="1050" dirty="0"/>
          </a:p>
          <a:p>
            <a:pPr marL="0" indent="0">
              <a:buNone/>
            </a:pPr>
            <a:r>
              <a:rPr lang="en-US" sz="1050" dirty="0">
                <a:solidFill>
                  <a:srgbClr val="10B981"/>
                </a:solidFill>
                <a:latin typeface="Consolas" pitchFamily="34" charset="0"/>
                <a:ea typeface="Consolas" pitchFamily="34" charset="-122"/>
                <a:cs typeface="Consolas" pitchFamily="34" charset="-120"/>
              </a:rPr>
              <a:t>      "url": "https://api.githubcopilot.com/mcp/"</a:t>
            </a:r>
            <a:endParaRPr lang="en-US" sz="1050" dirty="0"/>
          </a:p>
          <a:p>
            <a:pPr marL="0" indent="0">
              <a:buNone/>
            </a:pPr>
            <a:r>
              <a:rPr lang="en-US" sz="1050" dirty="0">
                <a:solidFill>
                  <a:srgbClr val="FFFFFF"/>
                </a:solidFill>
                <a:latin typeface="Consolas" pitchFamily="34" charset="0"/>
                <a:ea typeface="Consolas" pitchFamily="34" charset="-122"/>
                <a:cs typeface="Consolas" pitchFamily="34" charset="-120"/>
              </a:rPr>
              <a:t>    },</a:t>
            </a:r>
            <a:endParaRPr lang="en-US" sz="1050" dirty="0"/>
          </a:p>
          <a:p>
            <a:pPr marL="0" indent="0">
              <a:buNone/>
            </a:pPr>
            <a:r>
              <a:rPr lang="en-US" sz="1050" dirty="0">
                <a:solidFill>
                  <a:srgbClr val="FBBF24"/>
                </a:solidFill>
                <a:latin typeface="Consolas" pitchFamily="34" charset="0"/>
                <a:ea typeface="Consolas" pitchFamily="34" charset="-122"/>
                <a:cs typeface="Consolas" pitchFamily="34" charset="-120"/>
              </a:rPr>
              <a:t>    "sentry": {</a:t>
            </a:r>
            <a:endParaRPr lang="en-US" sz="1050" dirty="0"/>
          </a:p>
          <a:p>
            <a:pPr marL="0" indent="0">
              <a:buNone/>
            </a:pPr>
            <a:r>
              <a:rPr lang="en-US" sz="1050" dirty="0">
                <a:solidFill>
                  <a:srgbClr val="CBD5E1"/>
                </a:solidFill>
                <a:latin typeface="Consolas" pitchFamily="34" charset="0"/>
                <a:ea typeface="Consolas" pitchFamily="34" charset="-122"/>
                <a:cs typeface="Consolas" pitchFamily="34" charset="-120"/>
              </a:rPr>
              <a:t>      "type": "http",</a:t>
            </a:r>
            <a:endParaRPr lang="en-US" sz="1050" dirty="0"/>
          </a:p>
          <a:p>
            <a:pPr marL="0" indent="0">
              <a:buNone/>
            </a:pPr>
            <a:r>
              <a:rPr lang="en-US" sz="1050" dirty="0">
                <a:solidFill>
                  <a:srgbClr val="10B981"/>
                </a:solidFill>
                <a:latin typeface="Consolas" pitchFamily="34" charset="0"/>
                <a:ea typeface="Consolas" pitchFamily="34" charset="-122"/>
                <a:cs typeface="Consolas" pitchFamily="34" charset="-120"/>
              </a:rPr>
              <a:t>      "url": "https://mcp.sentry.dev/mcp"</a:t>
            </a:r>
            <a:endParaRPr lang="en-US" sz="1050" dirty="0"/>
          </a:p>
          <a:p>
            <a:pPr marL="0" indent="0">
              <a:buNone/>
            </a:pPr>
            <a:r>
              <a:rPr lang="en-US" sz="1050" dirty="0">
                <a:solidFill>
                  <a:srgbClr val="FFFFFF"/>
                </a:solidFill>
                <a:latin typeface="Consolas" pitchFamily="34" charset="0"/>
                <a:ea typeface="Consolas" pitchFamily="34" charset="-122"/>
                <a:cs typeface="Consolas" pitchFamily="34" charset="-120"/>
              </a:rPr>
              <a:t>    },</a:t>
            </a:r>
            <a:endParaRPr lang="en-US" sz="1050" dirty="0"/>
          </a:p>
          <a:p>
            <a:pPr marL="0" indent="0">
              <a:buNone/>
            </a:pPr>
            <a:r>
              <a:rPr lang="en-US" sz="1050" dirty="0">
                <a:solidFill>
                  <a:srgbClr val="FBBF24"/>
                </a:solidFill>
                <a:latin typeface="Consolas" pitchFamily="34" charset="0"/>
                <a:ea typeface="Consolas" pitchFamily="34" charset="-122"/>
                <a:cs typeface="Consolas" pitchFamily="34" charset="-120"/>
              </a:rPr>
              <a:t>    "db": {</a:t>
            </a:r>
            <a:endParaRPr lang="en-US" sz="1050" dirty="0"/>
          </a:p>
          <a:p>
            <a:pPr marL="0" indent="0">
              <a:buNone/>
            </a:pPr>
            <a:r>
              <a:rPr lang="en-US" sz="1050" dirty="0">
                <a:solidFill>
                  <a:srgbClr val="CBD5E1"/>
                </a:solidFill>
                <a:latin typeface="Consolas" pitchFamily="34" charset="0"/>
                <a:ea typeface="Consolas" pitchFamily="34" charset="-122"/>
                <a:cs typeface="Consolas" pitchFamily="34" charset="-120"/>
              </a:rPr>
              <a:t>      "command": "npx",</a:t>
            </a:r>
            <a:endParaRPr lang="en-US" sz="1050" dirty="0"/>
          </a:p>
          <a:p>
            <a:pPr marL="0" indent="0">
              <a:buNone/>
            </a:pPr>
            <a:r>
              <a:rPr lang="en-US" sz="1050" dirty="0">
                <a:solidFill>
                  <a:srgbClr val="CBD5E1"/>
                </a:solidFill>
                <a:latin typeface="Consolas" pitchFamily="34" charset="0"/>
                <a:ea typeface="Consolas" pitchFamily="34" charset="-122"/>
                <a:cs typeface="Consolas" pitchFamily="34" charset="-120"/>
              </a:rPr>
              <a:t>      "args": ["-y", "@bytebase/dbhub",</a:t>
            </a:r>
            <a:endParaRPr lang="en-US" sz="1050" dirty="0"/>
          </a:p>
          <a:p>
            <a:pPr marL="0" indent="0">
              <a:buNone/>
            </a:pPr>
            <a:r>
              <a:rPr lang="en-US" sz="1050" dirty="0">
                <a:solidFill>
                  <a:srgbClr val="10B981"/>
                </a:solidFill>
                <a:latin typeface="Consolas" pitchFamily="34" charset="0"/>
                <a:ea typeface="Consolas" pitchFamily="34" charset="-122"/>
                <a:cs typeface="Consolas" pitchFamily="34" charset="-120"/>
              </a:rPr>
              <a:t>        "--dsn", "${DB_CONNECTION_STRING}"],</a:t>
            </a:r>
            <a:endParaRPr lang="en-US" sz="1050" dirty="0"/>
          </a:p>
          <a:p>
            <a:pPr marL="0" indent="0">
              <a:buNone/>
            </a:pPr>
            <a:r>
              <a:rPr lang="en-US" sz="1050" dirty="0">
                <a:solidFill>
                  <a:srgbClr val="CBD5E1"/>
                </a:solidFill>
                <a:latin typeface="Consolas" pitchFamily="34" charset="0"/>
                <a:ea typeface="Consolas" pitchFamily="34" charset="-122"/>
                <a:cs typeface="Consolas" pitchFamily="34" charset="-120"/>
              </a:rPr>
              <a:t>      "env": {}</a:t>
            </a:r>
            <a:endParaRPr lang="en-US" sz="1050" dirty="0"/>
          </a:p>
          <a:p>
            <a:pPr marL="0" indent="0">
              <a:buNone/>
            </a:pPr>
            <a:r>
              <a:rPr lang="en-US" sz="1050" dirty="0">
                <a:solidFill>
                  <a:srgbClr val="FFFFFF"/>
                </a:solidFill>
                <a:latin typeface="Consolas" pitchFamily="34" charset="0"/>
                <a:ea typeface="Consolas" pitchFamily="34" charset="-122"/>
                <a:cs typeface="Consolas" pitchFamily="34" charset="-120"/>
              </a:rPr>
              <a:t>    }</a:t>
            </a:r>
            <a:endParaRPr lang="en-US" sz="1050" dirty="0"/>
          </a:p>
          <a:p>
            <a:pPr marL="0" indent="0">
              <a:buNone/>
            </a:pPr>
            <a:r>
              <a:rPr lang="en-US" sz="1050" dirty="0">
                <a:solidFill>
                  <a:srgbClr val="FFFFFF"/>
                </a:solidFill>
                <a:latin typeface="Consolas" pitchFamily="34" charset="0"/>
                <a:ea typeface="Consolas" pitchFamily="34" charset="-122"/>
                <a:cs typeface="Consolas" pitchFamily="34" charset="-120"/>
              </a:rPr>
              <a:t>  }</a:t>
            </a:r>
            <a:endParaRPr lang="en-US" sz="1050" dirty="0"/>
          </a:p>
          <a:p>
            <a:pPr marL="0" indent="0">
              <a:buNone/>
            </a:pPr>
            <a:r>
              <a:rPr lang="en-US" sz="1050" dirty="0">
                <a:solidFill>
                  <a:srgbClr val="FFFFFF"/>
                </a:solidFill>
                <a:latin typeface="Consolas" pitchFamily="34" charset="0"/>
                <a:ea typeface="Consolas" pitchFamily="34" charset="-122"/>
                <a:cs typeface="Consolas" pitchFamily="34" charset="-120"/>
              </a:rPr>
              <a:t>}</a:t>
            </a:r>
            <a:endParaRPr lang="en-US" sz="1050" dirty="0"/>
          </a:p>
        </p:txBody>
      </p:sp>
      <p:sp>
        <p:nvSpPr>
          <p:cNvPr id="7" name="Text 5"/>
          <p:cNvSpPr/>
          <p:nvPr/>
        </p:nvSpPr>
        <p:spPr>
          <a:xfrm>
            <a:off x="731520" y="4389120"/>
            <a:ext cx="7680960" cy="320040"/>
          </a:xfrm>
          <a:prstGeom prst="rect">
            <a:avLst/>
          </a:prstGeom>
          <a:noFill/>
          <a:ln/>
        </p:spPr>
        <p:txBody>
          <a:bodyPr wrap="square" rtlCol="0" anchor="ctr"/>
          <a:lstStyle/>
          <a:p>
            <a:pPr marL="0" indent="0">
              <a:buNone/>
            </a:pPr>
            <a:r>
              <a:rPr lang="en-US" sz="1200" i="1" dirty="0">
                <a:solidFill>
                  <a:srgbClr val="8892B0"/>
                </a:solidFill>
                <a:latin typeface="Calibri" pitchFamily="34" charset="0"/>
                <a:ea typeface="Calibri" pitchFamily="34" charset="-122"/>
                <a:cs typeface="Calibri" pitchFamily="34" charset="-120"/>
              </a:rPr>
              <a:t>Supports ${VAR} expansion for env vars — keep secrets out of version control!</a:t>
            </a:r>
            <a:endParaRPr lang="en-US" sz="1200" dirty="0"/>
          </a:p>
        </p:txBody>
      </p:sp>
      <p:sp>
        <p:nvSpPr>
          <p:cNvPr id="8" name="Text 6"/>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9" name="Text 7"/>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6B"/>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Skill Ideas by Research Domain</a:t>
            </a:r>
            <a:endParaRPr lang="en-US" sz="2800" dirty="0"/>
          </a:p>
        </p:txBody>
      </p:sp>
      <p:sp>
        <p:nvSpPr>
          <p:cNvPr id="4" name="Shape 2"/>
          <p:cNvSpPr/>
          <p:nvPr/>
        </p:nvSpPr>
        <p:spPr>
          <a:xfrm>
            <a:off x="548640" y="1051560"/>
            <a:ext cx="3931920" cy="96012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5" name="Shape 3"/>
          <p:cNvSpPr/>
          <p:nvPr/>
        </p:nvSpPr>
        <p:spPr>
          <a:xfrm>
            <a:off x="548640" y="1051560"/>
            <a:ext cx="64008" cy="960120"/>
          </a:xfrm>
          <a:prstGeom prst="rect">
            <a:avLst/>
          </a:prstGeom>
          <a:solidFill>
            <a:srgbClr val="00B4D8"/>
          </a:solidFill>
          <a:ln/>
        </p:spPr>
        <p:txBody>
          <a:bodyPr/>
          <a:lstStyle/>
          <a:p>
            <a:endParaRPr lang="en-US"/>
          </a:p>
        </p:txBody>
      </p:sp>
      <p:sp>
        <p:nvSpPr>
          <p:cNvPr id="6" name="Text 4"/>
          <p:cNvSpPr/>
          <p:nvPr/>
        </p:nvSpPr>
        <p:spPr>
          <a:xfrm>
            <a:off x="731520" y="1097280"/>
            <a:ext cx="3566160" cy="274320"/>
          </a:xfrm>
          <a:prstGeom prst="rect">
            <a:avLst/>
          </a:prstGeom>
          <a:noFill/>
          <a:ln/>
        </p:spPr>
        <p:txBody>
          <a:bodyPr wrap="square" rtlCol="0" anchor="ctr"/>
          <a:lstStyle/>
          <a:p>
            <a:pPr marL="0" indent="0">
              <a:buNone/>
            </a:pPr>
            <a:r>
              <a:rPr lang="en-US" sz="1400" b="1" dirty="0">
                <a:solidFill>
                  <a:srgbClr val="00B4D8"/>
                </a:solidFill>
                <a:latin typeface="Georgia" pitchFamily="34" charset="0"/>
                <a:ea typeface="Georgia" pitchFamily="34" charset="-122"/>
                <a:cs typeface="Georgia" pitchFamily="34" charset="-120"/>
              </a:rPr>
              <a:t>Sciences</a:t>
            </a:r>
            <a:endParaRPr lang="en-US" sz="1400" dirty="0"/>
          </a:p>
        </p:txBody>
      </p:sp>
      <p:sp>
        <p:nvSpPr>
          <p:cNvPr id="7" name="Text 5"/>
          <p:cNvSpPr/>
          <p:nvPr/>
        </p:nvSpPr>
        <p:spPr>
          <a:xfrm>
            <a:off x="731520" y="1417320"/>
            <a:ext cx="356616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Literature review (PRISMA), lab protocol writer, data analysis pipeline, grant section drafter</a:t>
            </a:r>
            <a:endParaRPr lang="en-US" sz="1100" dirty="0"/>
          </a:p>
        </p:txBody>
      </p:sp>
      <p:sp>
        <p:nvSpPr>
          <p:cNvPr id="8" name="Shape 6"/>
          <p:cNvSpPr/>
          <p:nvPr/>
        </p:nvSpPr>
        <p:spPr>
          <a:xfrm>
            <a:off x="4846320" y="1051560"/>
            <a:ext cx="3931920" cy="96012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9" name="Shape 7"/>
          <p:cNvSpPr/>
          <p:nvPr/>
        </p:nvSpPr>
        <p:spPr>
          <a:xfrm>
            <a:off x="4846320" y="1051560"/>
            <a:ext cx="64008" cy="960120"/>
          </a:xfrm>
          <a:prstGeom prst="rect">
            <a:avLst/>
          </a:prstGeom>
          <a:solidFill>
            <a:srgbClr val="10B981"/>
          </a:solidFill>
          <a:ln/>
        </p:spPr>
        <p:txBody>
          <a:bodyPr/>
          <a:lstStyle/>
          <a:p>
            <a:endParaRPr lang="en-US"/>
          </a:p>
        </p:txBody>
      </p:sp>
      <p:sp>
        <p:nvSpPr>
          <p:cNvPr id="10" name="Text 8"/>
          <p:cNvSpPr/>
          <p:nvPr/>
        </p:nvSpPr>
        <p:spPr>
          <a:xfrm>
            <a:off x="5029200" y="1097280"/>
            <a:ext cx="3566160" cy="274320"/>
          </a:xfrm>
          <a:prstGeom prst="rect">
            <a:avLst/>
          </a:prstGeom>
          <a:noFill/>
          <a:ln/>
        </p:spPr>
        <p:txBody>
          <a:bodyPr wrap="square" rtlCol="0" anchor="ctr"/>
          <a:lstStyle/>
          <a:p>
            <a:pPr marL="0" indent="0">
              <a:buNone/>
            </a:pPr>
            <a:r>
              <a:rPr lang="en-US" sz="1400" b="1" dirty="0">
                <a:solidFill>
                  <a:srgbClr val="10B981"/>
                </a:solidFill>
                <a:latin typeface="Georgia" pitchFamily="34" charset="0"/>
                <a:ea typeface="Georgia" pitchFamily="34" charset="-122"/>
                <a:cs typeface="Georgia" pitchFamily="34" charset="-120"/>
              </a:rPr>
              <a:t>Humanities</a:t>
            </a:r>
            <a:endParaRPr lang="en-US" sz="1400" dirty="0"/>
          </a:p>
        </p:txBody>
      </p:sp>
      <p:sp>
        <p:nvSpPr>
          <p:cNvPr id="11" name="Text 9"/>
          <p:cNvSpPr/>
          <p:nvPr/>
        </p:nvSpPr>
        <p:spPr>
          <a:xfrm>
            <a:off x="5029200" y="1417320"/>
            <a:ext cx="356616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Archival research helper, citation formatter, primary source analyzer, annotated bibliography builder</a:t>
            </a:r>
            <a:endParaRPr lang="en-US" sz="1100" dirty="0"/>
          </a:p>
        </p:txBody>
      </p:sp>
      <p:sp>
        <p:nvSpPr>
          <p:cNvPr id="12" name="Shape 10"/>
          <p:cNvSpPr/>
          <p:nvPr/>
        </p:nvSpPr>
        <p:spPr>
          <a:xfrm>
            <a:off x="548640" y="2194560"/>
            <a:ext cx="3931920" cy="96012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3" name="Shape 11"/>
          <p:cNvSpPr/>
          <p:nvPr/>
        </p:nvSpPr>
        <p:spPr>
          <a:xfrm>
            <a:off x="548640" y="2194560"/>
            <a:ext cx="64008" cy="960120"/>
          </a:xfrm>
          <a:prstGeom prst="rect">
            <a:avLst/>
          </a:prstGeom>
          <a:solidFill>
            <a:srgbClr val="A78BFA"/>
          </a:solidFill>
          <a:ln/>
        </p:spPr>
        <p:txBody>
          <a:bodyPr/>
          <a:lstStyle/>
          <a:p>
            <a:endParaRPr lang="en-US"/>
          </a:p>
        </p:txBody>
      </p:sp>
      <p:sp>
        <p:nvSpPr>
          <p:cNvPr id="14" name="Text 12"/>
          <p:cNvSpPr/>
          <p:nvPr/>
        </p:nvSpPr>
        <p:spPr>
          <a:xfrm>
            <a:off x="731520" y="2240280"/>
            <a:ext cx="3566160" cy="274320"/>
          </a:xfrm>
          <a:prstGeom prst="rect">
            <a:avLst/>
          </a:prstGeom>
          <a:noFill/>
          <a:ln/>
        </p:spPr>
        <p:txBody>
          <a:bodyPr wrap="square" rtlCol="0" anchor="ctr"/>
          <a:lstStyle/>
          <a:p>
            <a:pPr marL="0" indent="0">
              <a:buNone/>
            </a:pPr>
            <a:r>
              <a:rPr lang="en-US" sz="1400" b="1" dirty="0">
                <a:solidFill>
                  <a:srgbClr val="A78BFA"/>
                </a:solidFill>
                <a:latin typeface="Georgia" pitchFamily="34" charset="0"/>
                <a:ea typeface="Georgia" pitchFamily="34" charset="-122"/>
                <a:cs typeface="Georgia" pitchFamily="34" charset="-120"/>
              </a:rPr>
              <a:t>Social Sciences</a:t>
            </a:r>
            <a:endParaRPr lang="en-US" sz="1400" dirty="0"/>
          </a:p>
        </p:txBody>
      </p:sp>
      <p:sp>
        <p:nvSpPr>
          <p:cNvPr id="15" name="Text 13"/>
          <p:cNvSpPr/>
          <p:nvPr/>
        </p:nvSpPr>
        <p:spPr>
          <a:xfrm>
            <a:off x="731520" y="2560320"/>
            <a:ext cx="356616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Survey design reviewer, IRB application drafter, statistical methods advisor, interview coding guide</a:t>
            </a:r>
            <a:endParaRPr lang="en-US" sz="1100" dirty="0"/>
          </a:p>
        </p:txBody>
      </p:sp>
      <p:sp>
        <p:nvSpPr>
          <p:cNvPr id="16" name="Shape 14"/>
          <p:cNvSpPr/>
          <p:nvPr/>
        </p:nvSpPr>
        <p:spPr>
          <a:xfrm>
            <a:off x="4846320" y="2194560"/>
            <a:ext cx="3931920" cy="96012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17" name="Shape 15"/>
          <p:cNvSpPr/>
          <p:nvPr/>
        </p:nvSpPr>
        <p:spPr>
          <a:xfrm>
            <a:off x="4846320" y="2194560"/>
            <a:ext cx="64008" cy="960120"/>
          </a:xfrm>
          <a:prstGeom prst="rect">
            <a:avLst/>
          </a:prstGeom>
          <a:solidFill>
            <a:srgbClr val="FBBF24"/>
          </a:solidFill>
          <a:ln/>
        </p:spPr>
        <p:txBody>
          <a:bodyPr/>
          <a:lstStyle/>
          <a:p>
            <a:endParaRPr lang="en-US"/>
          </a:p>
        </p:txBody>
      </p:sp>
      <p:sp>
        <p:nvSpPr>
          <p:cNvPr id="18" name="Text 16"/>
          <p:cNvSpPr/>
          <p:nvPr/>
        </p:nvSpPr>
        <p:spPr>
          <a:xfrm>
            <a:off x="5029200" y="2240280"/>
            <a:ext cx="3566160" cy="274320"/>
          </a:xfrm>
          <a:prstGeom prst="rect">
            <a:avLst/>
          </a:prstGeom>
          <a:noFill/>
          <a:ln/>
        </p:spPr>
        <p:txBody>
          <a:bodyPr wrap="square" rtlCol="0" anchor="ctr"/>
          <a:lstStyle/>
          <a:p>
            <a:pPr marL="0" indent="0">
              <a:buNone/>
            </a:pPr>
            <a:r>
              <a:rPr lang="en-US" sz="1400" b="1" dirty="0">
                <a:solidFill>
                  <a:srgbClr val="FBBF24"/>
                </a:solidFill>
                <a:latin typeface="Georgia" pitchFamily="34" charset="0"/>
                <a:ea typeface="Georgia" pitchFamily="34" charset="-122"/>
                <a:cs typeface="Georgia" pitchFamily="34" charset="-120"/>
              </a:rPr>
              <a:t>Engineering</a:t>
            </a:r>
            <a:endParaRPr lang="en-US" sz="1400" dirty="0"/>
          </a:p>
        </p:txBody>
      </p:sp>
      <p:sp>
        <p:nvSpPr>
          <p:cNvPr id="19" name="Text 17"/>
          <p:cNvSpPr/>
          <p:nvPr/>
        </p:nvSpPr>
        <p:spPr>
          <a:xfrm>
            <a:off x="5029200" y="2560320"/>
            <a:ext cx="356616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Code review standards, technical spec writer, testing framework, documentation generator</a:t>
            </a:r>
            <a:endParaRPr lang="en-US" sz="1100" dirty="0"/>
          </a:p>
        </p:txBody>
      </p:sp>
      <p:sp>
        <p:nvSpPr>
          <p:cNvPr id="20" name="Shape 18"/>
          <p:cNvSpPr/>
          <p:nvPr/>
        </p:nvSpPr>
        <p:spPr>
          <a:xfrm>
            <a:off x="548640" y="3337560"/>
            <a:ext cx="3931920" cy="96012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21" name="Shape 19"/>
          <p:cNvSpPr/>
          <p:nvPr/>
        </p:nvSpPr>
        <p:spPr>
          <a:xfrm>
            <a:off x="548640" y="3337560"/>
            <a:ext cx="64008" cy="960120"/>
          </a:xfrm>
          <a:prstGeom prst="rect">
            <a:avLst/>
          </a:prstGeom>
          <a:solidFill>
            <a:srgbClr val="FF6B6B"/>
          </a:solidFill>
          <a:ln/>
        </p:spPr>
        <p:txBody>
          <a:bodyPr/>
          <a:lstStyle/>
          <a:p>
            <a:endParaRPr lang="en-US"/>
          </a:p>
        </p:txBody>
      </p:sp>
      <p:sp>
        <p:nvSpPr>
          <p:cNvPr id="22" name="Text 20"/>
          <p:cNvSpPr/>
          <p:nvPr/>
        </p:nvSpPr>
        <p:spPr>
          <a:xfrm>
            <a:off x="731520" y="3383280"/>
            <a:ext cx="3566160" cy="274320"/>
          </a:xfrm>
          <a:prstGeom prst="rect">
            <a:avLst/>
          </a:prstGeom>
          <a:noFill/>
          <a:ln/>
        </p:spPr>
        <p:txBody>
          <a:bodyPr wrap="square" rtlCol="0" anchor="ctr"/>
          <a:lstStyle/>
          <a:p>
            <a:pPr marL="0" indent="0">
              <a:buNone/>
            </a:pPr>
            <a:r>
              <a:rPr lang="en-US" sz="1400" b="1" dirty="0">
                <a:solidFill>
                  <a:srgbClr val="FF6B6B"/>
                </a:solidFill>
                <a:latin typeface="Georgia" pitchFamily="34" charset="0"/>
                <a:ea typeface="Georgia" pitchFamily="34" charset="-122"/>
                <a:cs typeface="Georgia" pitchFamily="34" charset="-120"/>
              </a:rPr>
              <a:t>Education</a:t>
            </a:r>
            <a:endParaRPr lang="en-US" sz="1400" dirty="0"/>
          </a:p>
        </p:txBody>
      </p:sp>
      <p:sp>
        <p:nvSpPr>
          <p:cNvPr id="23" name="Text 21"/>
          <p:cNvSpPr/>
          <p:nvPr/>
        </p:nvSpPr>
        <p:spPr>
          <a:xfrm>
            <a:off x="731520" y="3703320"/>
            <a:ext cx="356616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Syllabus builder, rubric creator, learning objectives aligner, assessment item writer</a:t>
            </a:r>
            <a:endParaRPr lang="en-US" sz="1100" dirty="0"/>
          </a:p>
        </p:txBody>
      </p:sp>
      <p:sp>
        <p:nvSpPr>
          <p:cNvPr id="24" name="Shape 22"/>
          <p:cNvSpPr/>
          <p:nvPr/>
        </p:nvSpPr>
        <p:spPr>
          <a:xfrm>
            <a:off x="4846320" y="3337560"/>
            <a:ext cx="3931920" cy="960120"/>
          </a:xfrm>
          <a:prstGeom prst="rect">
            <a:avLst/>
          </a:prstGeom>
          <a:solidFill>
            <a:srgbClr val="252A4A"/>
          </a:solidFill>
          <a:ln/>
          <a:effectLst>
            <a:outerShdw blurRad="101600" dist="38100" dir="8100000" algn="bl" rotWithShape="0">
              <a:srgbClr val="000000">
                <a:alpha val="18000"/>
              </a:srgbClr>
            </a:outerShdw>
          </a:effectLst>
        </p:spPr>
        <p:txBody>
          <a:bodyPr/>
          <a:lstStyle/>
          <a:p>
            <a:endParaRPr lang="en-US"/>
          </a:p>
        </p:txBody>
      </p:sp>
      <p:sp>
        <p:nvSpPr>
          <p:cNvPr id="25" name="Shape 23"/>
          <p:cNvSpPr/>
          <p:nvPr/>
        </p:nvSpPr>
        <p:spPr>
          <a:xfrm>
            <a:off x="4846320" y="3337560"/>
            <a:ext cx="64008" cy="960120"/>
          </a:xfrm>
          <a:prstGeom prst="rect">
            <a:avLst/>
          </a:prstGeom>
          <a:solidFill>
            <a:srgbClr val="CADCFC"/>
          </a:solidFill>
          <a:ln/>
        </p:spPr>
        <p:txBody>
          <a:bodyPr/>
          <a:lstStyle/>
          <a:p>
            <a:endParaRPr lang="en-US"/>
          </a:p>
        </p:txBody>
      </p:sp>
      <p:sp>
        <p:nvSpPr>
          <p:cNvPr id="26" name="Text 24"/>
          <p:cNvSpPr/>
          <p:nvPr/>
        </p:nvSpPr>
        <p:spPr>
          <a:xfrm>
            <a:off x="5029200" y="3383280"/>
            <a:ext cx="3566160" cy="274320"/>
          </a:xfrm>
          <a:prstGeom prst="rect">
            <a:avLst/>
          </a:prstGeom>
          <a:noFill/>
          <a:ln/>
        </p:spPr>
        <p:txBody>
          <a:bodyPr wrap="square" rtlCol="0" anchor="ctr"/>
          <a:lstStyle/>
          <a:p>
            <a:pPr marL="0" indent="0">
              <a:buNone/>
            </a:pPr>
            <a:r>
              <a:rPr lang="en-US" sz="1400" b="1" dirty="0">
                <a:solidFill>
                  <a:srgbClr val="CADCFC"/>
                </a:solidFill>
                <a:latin typeface="Georgia" pitchFamily="34" charset="0"/>
                <a:ea typeface="Georgia" pitchFamily="34" charset="-122"/>
                <a:cs typeface="Georgia" pitchFamily="34" charset="-120"/>
              </a:rPr>
              <a:t>Admin/Staff</a:t>
            </a:r>
            <a:endParaRPr lang="en-US" sz="1400" dirty="0"/>
          </a:p>
        </p:txBody>
      </p:sp>
      <p:sp>
        <p:nvSpPr>
          <p:cNvPr id="27" name="Text 25"/>
          <p:cNvSpPr/>
          <p:nvPr/>
        </p:nvSpPr>
        <p:spPr>
          <a:xfrm>
            <a:off x="5029200" y="3703320"/>
            <a:ext cx="3566160" cy="502920"/>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Report formatter, meeting notes standardizer, policy document reviewer, email template creator</a:t>
            </a:r>
            <a:endParaRPr lang="en-US" sz="1100" dirty="0"/>
          </a:p>
        </p:txBody>
      </p:sp>
      <p:sp>
        <p:nvSpPr>
          <p:cNvPr id="28" name="Text 26"/>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9" name="Text 27"/>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6B"/>
          </a:solidFill>
          <a:ln/>
        </p:spPr>
        <p:txBody>
          <a:bodyPr/>
          <a:lstStyle/>
          <a:p>
            <a:endParaRPr lang="en-US"/>
          </a:p>
        </p:txBody>
      </p:sp>
      <p:sp>
        <p:nvSpPr>
          <p:cNvPr id="3" name="Text 1"/>
          <p:cNvSpPr/>
          <p:nvPr/>
        </p:nvSpPr>
        <p:spPr>
          <a:xfrm>
            <a:off x="731520" y="320040"/>
            <a:ext cx="7680960" cy="6400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Hands-On Session</a:t>
            </a:r>
            <a:endParaRPr lang="en-US" sz="3600" dirty="0"/>
          </a:p>
        </p:txBody>
      </p:sp>
      <p:sp>
        <p:nvSpPr>
          <p:cNvPr id="4" name="Text 2"/>
          <p:cNvSpPr/>
          <p:nvPr/>
        </p:nvSpPr>
        <p:spPr>
          <a:xfrm>
            <a:off x="731520" y="914400"/>
            <a:ext cx="7680960" cy="457200"/>
          </a:xfrm>
          <a:prstGeom prst="rect">
            <a:avLst/>
          </a:prstGeom>
          <a:noFill/>
          <a:ln/>
        </p:spPr>
        <p:txBody>
          <a:bodyPr wrap="square" rtlCol="0" anchor="ctr"/>
          <a:lstStyle/>
          <a:p>
            <a:pPr marL="0" indent="0">
              <a:buNone/>
            </a:pPr>
            <a:r>
              <a:rPr lang="en-US" sz="1800" dirty="0">
                <a:solidFill>
                  <a:srgbClr val="FF6B6B"/>
                </a:solidFill>
                <a:latin typeface="Calibri" pitchFamily="34" charset="0"/>
                <a:ea typeface="Calibri" pitchFamily="34" charset="-122"/>
                <a:cs typeface="Calibri" pitchFamily="34" charset="-120"/>
              </a:rPr>
              <a:t>Build Your First Agent Skill</a:t>
            </a:r>
            <a:endParaRPr lang="en-US" sz="1800" dirty="0"/>
          </a:p>
        </p:txBody>
      </p:sp>
      <p:sp>
        <p:nvSpPr>
          <p:cNvPr id="5" name="Shape 3"/>
          <p:cNvSpPr/>
          <p:nvPr/>
        </p:nvSpPr>
        <p:spPr>
          <a:xfrm>
            <a:off x="640080" y="1600200"/>
            <a:ext cx="457200" cy="457200"/>
          </a:xfrm>
          <a:prstGeom prst="ellipse">
            <a:avLst/>
          </a:prstGeom>
          <a:solidFill>
            <a:srgbClr val="FF6B6B"/>
          </a:solidFill>
          <a:ln/>
        </p:spPr>
        <p:txBody>
          <a:bodyPr/>
          <a:lstStyle/>
          <a:p>
            <a:endParaRPr lang="en-US"/>
          </a:p>
        </p:txBody>
      </p:sp>
      <p:sp>
        <p:nvSpPr>
          <p:cNvPr id="6" name="Text 4"/>
          <p:cNvSpPr/>
          <p:nvPr/>
        </p:nvSpPr>
        <p:spPr>
          <a:xfrm>
            <a:off x="640080" y="1600200"/>
            <a:ext cx="45720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325880" y="1572768"/>
            <a:ext cx="2743200" cy="27432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Pick Your Domain</a:t>
            </a:r>
            <a:endParaRPr lang="en-US" sz="1500" dirty="0"/>
          </a:p>
        </p:txBody>
      </p:sp>
      <p:sp>
        <p:nvSpPr>
          <p:cNvPr id="8" name="Text 6"/>
          <p:cNvSpPr/>
          <p:nvPr/>
        </p:nvSpPr>
        <p:spPr>
          <a:xfrm>
            <a:off x="1325880" y="1856232"/>
            <a:ext cx="6400800" cy="27432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Choose a research area or workflow you want to automate</a:t>
            </a:r>
            <a:endParaRPr lang="en-US" sz="1100" dirty="0"/>
          </a:p>
        </p:txBody>
      </p:sp>
      <p:sp>
        <p:nvSpPr>
          <p:cNvPr id="9" name="Shape 7"/>
          <p:cNvSpPr/>
          <p:nvPr/>
        </p:nvSpPr>
        <p:spPr>
          <a:xfrm>
            <a:off x="640080" y="2258568"/>
            <a:ext cx="457200" cy="457200"/>
          </a:xfrm>
          <a:prstGeom prst="ellipse">
            <a:avLst/>
          </a:prstGeom>
          <a:solidFill>
            <a:srgbClr val="FF6B6B"/>
          </a:solidFill>
          <a:ln/>
        </p:spPr>
        <p:txBody>
          <a:bodyPr/>
          <a:lstStyle/>
          <a:p>
            <a:endParaRPr lang="en-US"/>
          </a:p>
        </p:txBody>
      </p:sp>
      <p:sp>
        <p:nvSpPr>
          <p:cNvPr id="10" name="Text 8"/>
          <p:cNvSpPr/>
          <p:nvPr/>
        </p:nvSpPr>
        <p:spPr>
          <a:xfrm>
            <a:off x="640080" y="2258568"/>
            <a:ext cx="45720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1" name="Text 9"/>
          <p:cNvSpPr/>
          <p:nvPr/>
        </p:nvSpPr>
        <p:spPr>
          <a:xfrm>
            <a:off x="1325880" y="2231136"/>
            <a:ext cx="2743200" cy="27432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Draft Your SKILL.md</a:t>
            </a:r>
            <a:endParaRPr lang="en-US" sz="1500" dirty="0"/>
          </a:p>
        </p:txBody>
      </p:sp>
      <p:sp>
        <p:nvSpPr>
          <p:cNvPr id="12" name="Text 10"/>
          <p:cNvSpPr/>
          <p:nvPr/>
        </p:nvSpPr>
        <p:spPr>
          <a:xfrm>
            <a:off x="1325880" y="2514600"/>
            <a:ext cx="6400800" cy="27432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Write frontmatter + instructions, or use the Skill Creator to generate a draft</a:t>
            </a:r>
            <a:endParaRPr lang="en-US" sz="1100" dirty="0"/>
          </a:p>
        </p:txBody>
      </p:sp>
      <p:sp>
        <p:nvSpPr>
          <p:cNvPr id="13" name="Shape 11"/>
          <p:cNvSpPr/>
          <p:nvPr/>
        </p:nvSpPr>
        <p:spPr>
          <a:xfrm>
            <a:off x="640080" y="2916936"/>
            <a:ext cx="457200" cy="457200"/>
          </a:xfrm>
          <a:prstGeom prst="ellipse">
            <a:avLst/>
          </a:prstGeom>
          <a:solidFill>
            <a:srgbClr val="FF6B6B"/>
          </a:solidFill>
          <a:ln/>
        </p:spPr>
        <p:txBody>
          <a:bodyPr/>
          <a:lstStyle/>
          <a:p>
            <a:endParaRPr lang="en-US"/>
          </a:p>
        </p:txBody>
      </p:sp>
      <p:sp>
        <p:nvSpPr>
          <p:cNvPr id="14" name="Text 12"/>
          <p:cNvSpPr/>
          <p:nvPr/>
        </p:nvSpPr>
        <p:spPr>
          <a:xfrm>
            <a:off x="640080" y="2916936"/>
            <a:ext cx="45720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5" name="Text 13"/>
          <p:cNvSpPr/>
          <p:nvPr/>
        </p:nvSpPr>
        <p:spPr>
          <a:xfrm>
            <a:off x="1325880" y="2889504"/>
            <a:ext cx="2743200" cy="27432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Test with Real Prompts</a:t>
            </a:r>
            <a:endParaRPr lang="en-US" sz="1500" dirty="0"/>
          </a:p>
        </p:txBody>
      </p:sp>
      <p:sp>
        <p:nvSpPr>
          <p:cNvPr id="16" name="Text 14"/>
          <p:cNvSpPr/>
          <p:nvPr/>
        </p:nvSpPr>
        <p:spPr>
          <a:xfrm>
            <a:off x="1325880" y="3172968"/>
            <a:ext cx="6400800" cy="27432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Try 2-3 realistic prompts a user would actually say — does it trigger and produce good output?</a:t>
            </a:r>
            <a:endParaRPr lang="en-US" sz="1100" dirty="0"/>
          </a:p>
        </p:txBody>
      </p:sp>
      <p:sp>
        <p:nvSpPr>
          <p:cNvPr id="17" name="Shape 15"/>
          <p:cNvSpPr/>
          <p:nvPr/>
        </p:nvSpPr>
        <p:spPr>
          <a:xfrm>
            <a:off x="640080" y="3575304"/>
            <a:ext cx="457200" cy="457200"/>
          </a:xfrm>
          <a:prstGeom prst="ellipse">
            <a:avLst/>
          </a:prstGeom>
          <a:solidFill>
            <a:srgbClr val="FF6B6B"/>
          </a:solidFill>
          <a:ln/>
        </p:spPr>
        <p:txBody>
          <a:bodyPr/>
          <a:lstStyle/>
          <a:p>
            <a:endParaRPr lang="en-US"/>
          </a:p>
        </p:txBody>
      </p:sp>
      <p:sp>
        <p:nvSpPr>
          <p:cNvPr id="18" name="Text 16"/>
          <p:cNvSpPr/>
          <p:nvPr/>
        </p:nvSpPr>
        <p:spPr>
          <a:xfrm>
            <a:off x="640080" y="3575304"/>
            <a:ext cx="45720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325880" y="3547872"/>
            <a:ext cx="2743200" cy="27432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Iterate &amp; Refine</a:t>
            </a:r>
            <a:endParaRPr lang="en-US" sz="1500" dirty="0"/>
          </a:p>
        </p:txBody>
      </p:sp>
      <p:sp>
        <p:nvSpPr>
          <p:cNvPr id="20" name="Text 18"/>
          <p:cNvSpPr/>
          <p:nvPr/>
        </p:nvSpPr>
        <p:spPr>
          <a:xfrm>
            <a:off x="1325880" y="3831336"/>
            <a:ext cx="6400800" cy="27432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Fix gaps, add taxonomies, sharpen instructions based on what you saw</a:t>
            </a:r>
            <a:endParaRPr lang="en-US" sz="1100" dirty="0"/>
          </a:p>
        </p:txBody>
      </p:sp>
      <p:sp>
        <p:nvSpPr>
          <p:cNvPr id="21" name="Shape 19"/>
          <p:cNvSpPr/>
          <p:nvPr/>
        </p:nvSpPr>
        <p:spPr>
          <a:xfrm>
            <a:off x="640080" y="4233672"/>
            <a:ext cx="457200" cy="457200"/>
          </a:xfrm>
          <a:prstGeom prst="ellipse">
            <a:avLst/>
          </a:prstGeom>
          <a:solidFill>
            <a:srgbClr val="FF6B6B"/>
          </a:solidFill>
          <a:ln/>
        </p:spPr>
        <p:txBody>
          <a:bodyPr/>
          <a:lstStyle/>
          <a:p>
            <a:endParaRPr lang="en-US"/>
          </a:p>
        </p:txBody>
      </p:sp>
      <p:sp>
        <p:nvSpPr>
          <p:cNvPr id="22" name="Text 20"/>
          <p:cNvSpPr/>
          <p:nvPr/>
        </p:nvSpPr>
        <p:spPr>
          <a:xfrm>
            <a:off x="640080" y="4233672"/>
            <a:ext cx="457200" cy="4572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3" name="Text 21"/>
          <p:cNvSpPr/>
          <p:nvPr/>
        </p:nvSpPr>
        <p:spPr>
          <a:xfrm>
            <a:off x="1325880" y="4206240"/>
            <a:ext cx="2743200" cy="27432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Optimize Triggers</a:t>
            </a:r>
            <a:endParaRPr lang="en-US" sz="1500" dirty="0"/>
          </a:p>
        </p:txBody>
      </p:sp>
      <p:sp>
        <p:nvSpPr>
          <p:cNvPr id="24" name="Text 22"/>
          <p:cNvSpPr/>
          <p:nvPr/>
        </p:nvSpPr>
        <p:spPr>
          <a:xfrm>
            <a:off x="1325880" y="4489704"/>
            <a:ext cx="6400800" cy="27432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Fine-tune your description so Claude loads the skill at the right time</a:t>
            </a:r>
            <a:endParaRPr lang="en-US" sz="1100" dirty="0"/>
          </a:p>
        </p:txBody>
      </p:sp>
      <p:sp>
        <p:nvSpPr>
          <p:cNvPr id="25" name="Text 23"/>
          <p:cNvSpPr/>
          <p:nvPr/>
        </p:nvSpPr>
        <p:spPr>
          <a:xfrm>
            <a:off x="457200" y="4773168"/>
            <a:ext cx="4572000" cy="320040"/>
          </a:xfrm>
          <a:prstGeom prst="rect">
            <a:avLst/>
          </a:prstGeom>
          <a:noFill/>
          <a:ln/>
        </p:spPr>
        <p:txBody>
          <a:bodyPr wrap="square" rtlCol="0" anchor="ctr"/>
          <a:lstStyle/>
          <a:p>
            <a:pPr marL="0" indent="0">
              <a:buNone/>
            </a:pPr>
            <a:r>
              <a:rPr lang="en-US" sz="900" i="1" dirty="0">
                <a:solidFill>
                  <a:srgbClr val="8892B0"/>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6" name="Text 24"/>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6">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1A1F3D"/>
                </a:solidFill>
                <a:latin typeface="Georgia" pitchFamily="34" charset="0"/>
                <a:ea typeface="Georgia" pitchFamily="34" charset="-122"/>
                <a:cs typeface="Georgia" pitchFamily="34" charset="-120"/>
              </a:rPr>
              <a:t>Key Takeaways</a:t>
            </a:r>
            <a:endParaRPr lang="en-US" sz="3000" dirty="0"/>
          </a:p>
        </p:txBody>
      </p:sp>
      <p:sp>
        <p:nvSpPr>
          <p:cNvPr id="4" name="Shape 2"/>
          <p:cNvSpPr/>
          <p:nvPr/>
        </p:nvSpPr>
        <p:spPr>
          <a:xfrm>
            <a:off x="640080" y="1170432"/>
            <a:ext cx="457200" cy="457200"/>
          </a:xfrm>
          <a:prstGeom prst="ellipse">
            <a:avLst/>
          </a:prstGeom>
          <a:solidFill>
            <a:srgbClr val="00B4D8"/>
          </a:solidFill>
          <a:ln/>
        </p:spPr>
        <p:txBody>
          <a:bodyPr/>
          <a:lstStyle/>
          <a:p>
            <a:endParaRPr lang="en-US"/>
          </a:p>
        </p:txBody>
      </p:sp>
      <p:sp>
        <p:nvSpPr>
          <p:cNvPr id="5" name="Text 3"/>
          <p:cNvSpPr/>
          <p:nvPr/>
        </p:nvSpPr>
        <p:spPr>
          <a:xfrm>
            <a:off x="640080" y="1170432"/>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1371600" y="1170432"/>
            <a:ext cx="7132320" cy="457200"/>
          </a:xfrm>
          <a:prstGeom prst="rect">
            <a:avLst/>
          </a:prstGeom>
          <a:noFill/>
          <a:ln/>
        </p:spPr>
        <p:txBody>
          <a:bodyPr wrap="square" rtlCol="0" anchor="ctr"/>
          <a:lstStyle/>
          <a:p>
            <a:pPr marL="0" indent="0">
              <a:buNone/>
            </a:pPr>
            <a:r>
              <a:rPr lang="en-US" sz="1500" dirty="0">
                <a:solidFill>
                  <a:srgbClr val="4A5568"/>
                </a:solidFill>
                <a:latin typeface="Calibri" pitchFamily="34" charset="0"/>
                <a:ea typeface="Calibri" pitchFamily="34" charset="-122"/>
                <a:cs typeface="Calibri" pitchFamily="34" charset="-120"/>
              </a:rPr>
              <a:t>Skills are Markdown folders — no coding required. The Skill Creator makes it even easier to get started.</a:t>
            </a:r>
            <a:endParaRPr lang="en-US" sz="1500" dirty="0"/>
          </a:p>
        </p:txBody>
      </p:sp>
      <p:sp>
        <p:nvSpPr>
          <p:cNvPr id="7" name="Shape 5"/>
          <p:cNvSpPr/>
          <p:nvPr/>
        </p:nvSpPr>
        <p:spPr>
          <a:xfrm>
            <a:off x="640080" y="1920240"/>
            <a:ext cx="457200" cy="457200"/>
          </a:xfrm>
          <a:prstGeom prst="ellipse">
            <a:avLst/>
          </a:prstGeom>
          <a:solidFill>
            <a:srgbClr val="10B981"/>
          </a:solidFill>
          <a:ln/>
        </p:spPr>
        <p:txBody>
          <a:bodyPr/>
          <a:lstStyle/>
          <a:p>
            <a:endParaRPr lang="en-US"/>
          </a:p>
        </p:txBody>
      </p:sp>
      <p:sp>
        <p:nvSpPr>
          <p:cNvPr id="8" name="Text 6"/>
          <p:cNvSpPr/>
          <p:nvPr/>
        </p:nvSpPr>
        <p:spPr>
          <a:xfrm>
            <a:off x="640080" y="1920240"/>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9" name="Text 7"/>
          <p:cNvSpPr/>
          <p:nvPr/>
        </p:nvSpPr>
        <p:spPr>
          <a:xfrm>
            <a:off x="1371600" y="1920240"/>
            <a:ext cx="7132320" cy="457200"/>
          </a:xfrm>
          <a:prstGeom prst="rect">
            <a:avLst/>
          </a:prstGeom>
          <a:noFill/>
          <a:ln/>
        </p:spPr>
        <p:txBody>
          <a:bodyPr wrap="square" rtlCol="0" anchor="ctr"/>
          <a:lstStyle/>
          <a:p>
            <a:pPr marL="0" indent="0">
              <a:buNone/>
            </a:pPr>
            <a:r>
              <a:rPr lang="en-US" sz="1500" dirty="0">
                <a:solidFill>
                  <a:srgbClr val="4A5568"/>
                </a:solidFill>
                <a:latin typeface="Calibri" pitchFamily="34" charset="0"/>
                <a:ea typeface="Calibri" pitchFamily="34" charset="-122"/>
                <a:cs typeface="Calibri" pitchFamily="34" charset="-120"/>
              </a:rPr>
              <a:t>Domain-specific skills vastly outperform general AI prompting for research</a:t>
            </a:r>
            <a:endParaRPr lang="en-US" sz="1500" dirty="0"/>
          </a:p>
        </p:txBody>
      </p:sp>
      <p:sp>
        <p:nvSpPr>
          <p:cNvPr id="10" name="Shape 8"/>
          <p:cNvSpPr/>
          <p:nvPr/>
        </p:nvSpPr>
        <p:spPr>
          <a:xfrm>
            <a:off x="640080" y="2670048"/>
            <a:ext cx="457200" cy="457200"/>
          </a:xfrm>
          <a:prstGeom prst="ellipse">
            <a:avLst/>
          </a:prstGeom>
          <a:solidFill>
            <a:srgbClr val="A78BFA"/>
          </a:solidFill>
          <a:ln/>
        </p:spPr>
        <p:txBody>
          <a:bodyPr/>
          <a:lstStyle/>
          <a:p>
            <a:endParaRPr lang="en-US"/>
          </a:p>
        </p:txBody>
      </p:sp>
      <p:sp>
        <p:nvSpPr>
          <p:cNvPr id="11" name="Text 9"/>
          <p:cNvSpPr/>
          <p:nvPr/>
        </p:nvSpPr>
        <p:spPr>
          <a:xfrm>
            <a:off x="640080" y="2670048"/>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2" name="Text 10"/>
          <p:cNvSpPr/>
          <p:nvPr/>
        </p:nvSpPr>
        <p:spPr>
          <a:xfrm>
            <a:off x="1371600" y="2670048"/>
            <a:ext cx="7132320" cy="457200"/>
          </a:xfrm>
          <a:prstGeom prst="rect">
            <a:avLst/>
          </a:prstGeom>
          <a:noFill/>
          <a:ln/>
        </p:spPr>
        <p:txBody>
          <a:bodyPr wrap="square" rtlCol="0" anchor="ctr"/>
          <a:lstStyle/>
          <a:p>
            <a:pPr marL="0" indent="0">
              <a:buNone/>
            </a:pPr>
            <a:r>
              <a:rPr lang="en-US" sz="1500" dirty="0">
                <a:solidFill>
                  <a:srgbClr val="4A5568"/>
                </a:solidFill>
                <a:latin typeface="Calibri" pitchFamily="34" charset="0"/>
                <a:ea typeface="Calibri" pitchFamily="34" charset="-122"/>
                <a:cs typeface="Calibri" pitchFamily="34" charset="-120"/>
              </a:rPr>
              <a:t>Effective descriptions + taxonomies + progressive disclosure = reliable, consistent skills</a:t>
            </a:r>
            <a:endParaRPr lang="en-US" sz="1500" dirty="0"/>
          </a:p>
        </p:txBody>
      </p:sp>
      <p:sp>
        <p:nvSpPr>
          <p:cNvPr id="13" name="Shape 11"/>
          <p:cNvSpPr/>
          <p:nvPr/>
        </p:nvSpPr>
        <p:spPr>
          <a:xfrm>
            <a:off x="640080" y="3419856"/>
            <a:ext cx="457200" cy="457200"/>
          </a:xfrm>
          <a:prstGeom prst="ellipse">
            <a:avLst/>
          </a:prstGeom>
          <a:solidFill>
            <a:srgbClr val="FBBF24"/>
          </a:solidFill>
          <a:ln/>
        </p:spPr>
        <p:txBody>
          <a:bodyPr/>
          <a:lstStyle/>
          <a:p>
            <a:endParaRPr lang="en-US"/>
          </a:p>
        </p:txBody>
      </p:sp>
      <p:sp>
        <p:nvSpPr>
          <p:cNvPr id="14" name="Text 12"/>
          <p:cNvSpPr/>
          <p:nvPr/>
        </p:nvSpPr>
        <p:spPr>
          <a:xfrm>
            <a:off x="640080" y="3419856"/>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15" name="Text 13"/>
          <p:cNvSpPr/>
          <p:nvPr/>
        </p:nvSpPr>
        <p:spPr>
          <a:xfrm>
            <a:off x="1371600" y="3419856"/>
            <a:ext cx="7132320" cy="457200"/>
          </a:xfrm>
          <a:prstGeom prst="rect">
            <a:avLst/>
          </a:prstGeom>
          <a:noFill/>
          <a:ln/>
        </p:spPr>
        <p:txBody>
          <a:bodyPr wrap="square" rtlCol="0" anchor="ctr"/>
          <a:lstStyle/>
          <a:p>
            <a:pPr marL="0" indent="0">
              <a:buNone/>
            </a:pPr>
            <a:r>
              <a:rPr lang="en-US" sz="1500" dirty="0">
                <a:solidFill>
                  <a:srgbClr val="4A5568"/>
                </a:solidFill>
                <a:latin typeface="Calibri" pitchFamily="34" charset="0"/>
                <a:ea typeface="Calibri" pitchFamily="34" charset="-122"/>
                <a:cs typeface="Calibri" pitchFamily="34" charset="-120"/>
              </a:rPr>
              <a:t>MCP connects Claude to your tools — databases, repos, issue trackers</a:t>
            </a:r>
            <a:endParaRPr lang="en-US" sz="1500" dirty="0"/>
          </a:p>
        </p:txBody>
      </p:sp>
      <p:sp>
        <p:nvSpPr>
          <p:cNvPr id="16" name="Shape 14"/>
          <p:cNvSpPr/>
          <p:nvPr/>
        </p:nvSpPr>
        <p:spPr>
          <a:xfrm>
            <a:off x="640080" y="4169664"/>
            <a:ext cx="457200" cy="457200"/>
          </a:xfrm>
          <a:prstGeom prst="ellipse">
            <a:avLst/>
          </a:prstGeom>
          <a:solidFill>
            <a:srgbClr val="FF6B6B"/>
          </a:solidFill>
          <a:ln/>
        </p:spPr>
        <p:txBody>
          <a:bodyPr/>
          <a:lstStyle/>
          <a:p>
            <a:endParaRPr lang="en-US"/>
          </a:p>
        </p:txBody>
      </p:sp>
      <p:sp>
        <p:nvSpPr>
          <p:cNvPr id="17" name="Text 15"/>
          <p:cNvSpPr/>
          <p:nvPr/>
        </p:nvSpPr>
        <p:spPr>
          <a:xfrm>
            <a:off x="640080" y="4169664"/>
            <a:ext cx="457200" cy="457200"/>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18" name="Text 16"/>
          <p:cNvSpPr/>
          <p:nvPr/>
        </p:nvSpPr>
        <p:spPr>
          <a:xfrm>
            <a:off x="1371600" y="4169664"/>
            <a:ext cx="7132320" cy="457200"/>
          </a:xfrm>
          <a:prstGeom prst="rect">
            <a:avLst/>
          </a:prstGeom>
          <a:noFill/>
          <a:ln/>
        </p:spPr>
        <p:txBody>
          <a:bodyPr wrap="square" rtlCol="0" anchor="ctr"/>
          <a:lstStyle/>
          <a:p>
            <a:pPr marL="0" indent="0">
              <a:buNone/>
            </a:pPr>
            <a:r>
              <a:rPr lang="en-US" sz="1500" dirty="0">
                <a:solidFill>
                  <a:srgbClr val="4A5568"/>
                </a:solidFill>
                <a:latin typeface="Calibri" pitchFamily="34" charset="0"/>
                <a:ea typeface="Calibri" pitchFamily="34" charset="-122"/>
                <a:cs typeface="Calibri" pitchFamily="34" charset="-120"/>
              </a:rPr>
              <a:t>Skills are an open standard — shareable via git, plugins, or the API. Build once, benefit everyone.</a:t>
            </a:r>
            <a:endParaRPr lang="en-US" sz="1500" dirty="0"/>
          </a:p>
        </p:txBody>
      </p:sp>
      <p:sp>
        <p:nvSpPr>
          <p:cNvPr id="19" name="Text 17"/>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20" name="Text 18"/>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4">
    <p:bg>
      <p:bgPr>
        <a:solidFill>
          <a:srgbClr val="F0F2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F6B6B"/>
          </a:solidFill>
          <a:ln/>
        </p:spPr>
        <p:txBody>
          <a:bodyPr/>
          <a:lstStyle/>
          <a:p>
            <a:endParaRPr lang="en-US"/>
          </a:p>
        </p:txBody>
      </p:sp>
      <p:sp>
        <p:nvSpPr>
          <p:cNvPr id="3" name="Text 1"/>
          <p:cNvSpPr/>
          <p:nvPr/>
        </p:nvSpPr>
        <p:spPr>
          <a:xfrm>
            <a:off x="731520" y="274320"/>
            <a:ext cx="7680960" cy="548640"/>
          </a:xfrm>
          <a:prstGeom prst="rect">
            <a:avLst/>
          </a:prstGeom>
          <a:noFill/>
          <a:ln/>
        </p:spPr>
        <p:txBody>
          <a:bodyPr wrap="square" rtlCol="0" anchor="ctr"/>
          <a:lstStyle/>
          <a:p>
            <a:pPr marL="0" indent="0">
              <a:buNone/>
            </a:pPr>
            <a:r>
              <a:rPr lang="en-US" sz="2800" b="1" dirty="0">
                <a:solidFill>
                  <a:srgbClr val="1A1F3D"/>
                </a:solidFill>
                <a:latin typeface="Georgia" pitchFamily="34" charset="0"/>
                <a:ea typeface="Georgia" pitchFamily="34" charset="-122"/>
                <a:cs typeface="Georgia" pitchFamily="34" charset="-120"/>
              </a:rPr>
              <a:t>Workshop Starter Template</a:t>
            </a:r>
            <a:endParaRPr lang="en-US" sz="2800" dirty="0"/>
          </a:p>
        </p:txBody>
      </p:sp>
      <p:sp>
        <p:nvSpPr>
          <p:cNvPr id="4" name="Shape 2"/>
          <p:cNvSpPr/>
          <p:nvPr/>
        </p:nvSpPr>
        <p:spPr>
          <a:xfrm>
            <a:off x="548640" y="914400"/>
            <a:ext cx="8046720" cy="3657600"/>
          </a:xfrm>
          <a:prstGeom prst="rect">
            <a:avLst/>
          </a:prstGeom>
          <a:solidFill>
            <a:srgbClr val="0D1117"/>
          </a:solidFill>
          <a:ln/>
          <a:effectLst>
            <a:outerShdw blurRad="101600" dist="38100" dir="8100000" algn="bl" rotWithShape="0">
              <a:srgbClr val="000000">
                <a:alpha val="18000"/>
              </a:srgbClr>
            </a:outerShdw>
          </a:effectLst>
        </p:spPr>
        <p:txBody>
          <a:bodyPr/>
          <a:lstStyle/>
          <a:p>
            <a:endParaRPr lang="en-US"/>
          </a:p>
        </p:txBody>
      </p:sp>
      <p:sp>
        <p:nvSpPr>
          <p:cNvPr id="5" name="Text 3"/>
          <p:cNvSpPr/>
          <p:nvPr/>
        </p:nvSpPr>
        <p:spPr>
          <a:xfrm>
            <a:off x="822960" y="1005840"/>
            <a:ext cx="3749040" cy="3474720"/>
          </a:xfrm>
          <a:prstGeom prst="rect">
            <a:avLst/>
          </a:prstGeom>
          <a:noFill/>
          <a:ln/>
        </p:spPr>
        <p:txBody>
          <a:bodyPr wrap="square" rtlCol="0" anchor="ctr"/>
          <a:lstStyle/>
          <a:p>
            <a:pPr marL="0" indent="0">
              <a:buNone/>
            </a:pPr>
            <a:r>
              <a:rPr lang="en-US" sz="1000" dirty="0">
                <a:solidFill>
                  <a:srgbClr val="8892B0"/>
                </a:solidFill>
                <a:latin typeface="Consolas" pitchFamily="34" charset="0"/>
                <a:ea typeface="Consolas" pitchFamily="34" charset="-122"/>
                <a:cs typeface="Consolas" pitchFamily="34" charset="-120"/>
              </a:rPr>
              <a:t>---</a:t>
            </a:r>
            <a:endParaRPr lang="en-US" sz="1000" dirty="0"/>
          </a:p>
          <a:p>
            <a:pPr marL="0" indent="0">
              <a:buNone/>
            </a:pPr>
            <a:r>
              <a:rPr lang="en-US" sz="1000" dirty="0">
                <a:solidFill>
                  <a:srgbClr val="FBBF24"/>
                </a:solidFill>
                <a:latin typeface="Consolas" pitchFamily="34" charset="0"/>
                <a:ea typeface="Consolas" pitchFamily="34" charset="-122"/>
                <a:cs typeface="Consolas" pitchFamily="34" charset="-120"/>
              </a:rPr>
              <a:t>name: my-research-skill</a:t>
            </a:r>
            <a:endParaRPr lang="en-US" sz="1000" dirty="0"/>
          </a:p>
          <a:p>
            <a:pPr marL="0" indent="0">
              <a:buNone/>
            </a:pPr>
            <a:r>
              <a:rPr lang="en-US" sz="1000" dirty="0">
                <a:solidFill>
                  <a:srgbClr val="FBBF24"/>
                </a:solidFill>
                <a:latin typeface="Consolas" pitchFamily="34" charset="0"/>
                <a:ea typeface="Consolas" pitchFamily="34" charset="-122"/>
                <a:cs typeface="Consolas" pitchFamily="34" charset="-120"/>
              </a:rPr>
              <a:t>description: [What it does] + [When to use it]</a:t>
            </a:r>
            <a:endParaRPr lang="en-US" sz="1000" dirty="0"/>
          </a:p>
          <a:p>
            <a:pPr marL="0" indent="0">
              <a:buNone/>
            </a:pPr>
            <a:r>
              <a:rPr lang="en-US" sz="1000" dirty="0">
                <a:solidFill>
                  <a:srgbClr val="FBBF24"/>
                </a:solidFill>
                <a:latin typeface="Consolas" pitchFamily="34" charset="0"/>
                <a:ea typeface="Consolas" pitchFamily="34" charset="-122"/>
                <a:cs typeface="Consolas" pitchFamily="34" charset="-120"/>
              </a:rPr>
              <a:t>argument-hint: [expected-input]</a:t>
            </a:r>
            <a:endParaRPr lang="en-US" sz="1000" dirty="0"/>
          </a:p>
          <a:p>
            <a:pPr marL="0" indent="0">
              <a:buNone/>
            </a:pPr>
            <a:r>
              <a:rPr lang="en-US" sz="1000" dirty="0">
                <a:solidFill>
                  <a:srgbClr val="8892B0"/>
                </a:solidFill>
                <a:latin typeface="Consolas" pitchFamily="34" charset="0"/>
                <a:ea typeface="Consolas" pitchFamily="34" charset="-122"/>
                <a:cs typeface="Consolas" pitchFamily="34" charset="-120"/>
              </a:rPr>
              <a:t>---</a:t>
            </a:r>
            <a:endParaRPr lang="en-US" sz="1000" dirty="0"/>
          </a:p>
          <a:p>
            <a:pPr marL="0" indent="0">
              <a:buNone/>
            </a:pPr>
            <a:endParaRPr lang="en-US" sz="1000" dirty="0"/>
          </a:p>
          <a:p>
            <a:pPr marL="0" indent="0">
              <a:buNone/>
            </a:pPr>
            <a:r>
              <a:rPr lang="en-US" sz="1000" dirty="0">
                <a:solidFill>
                  <a:srgbClr val="00B4D8"/>
                </a:solidFill>
                <a:latin typeface="Consolas" pitchFamily="34" charset="0"/>
                <a:ea typeface="Consolas" pitchFamily="34" charset="-122"/>
                <a:cs typeface="Consolas" pitchFamily="34" charset="-120"/>
              </a:rPr>
              <a:t># [Your Skill Name]</a:t>
            </a:r>
            <a:endParaRPr lang="en-US" sz="1000" dirty="0"/>
          </a:p>
          <a:p>
            <a:pPr marL="0" indent="0">
              <a:buNone/>
            </a:pP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Purpose</a:t>
            </a:r>
            <a:endParaRPr lang="en-US" sz="1000" dirty="0"/>
          </a:p>
          <a:p>
            <a:pPr marL="0" indent="0">
              <a:buNone/>
            </a:pPr>
            <a:r>
              <a:rPr lang="en-US" sz="1000" dirty="0">
                <a:solidFill>
                  <a:srgbClr val="CBD5E1"/>
                </a:solidFill>
                <a:latin typeface="Consolas" pitchFamily="34" charset="0"/>
                <a:ea typeface="Consolas" pitchFamily="34" charset="-122"/>
                <a:cs typeface="Consolas" pitchFamily="34" charset="-120"/>
              </a:rPr>
              <a:t>Use this skill when the user: [triggers]</a:t>
            </a:r>
            <a:endParaRPr lang="en-US" sz="1000" dirty="0"/>
          </a:p>
          <a:p>
            <a:pPr marL="0" indent="0">
              <a:buNone/>
            </a:pP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Instructions</a:t>
            </a:r>
            <a:endParaRPr lang="en-US" sz="1000" dirty="0"/>
          </a:p>
          <a:p>
            <a:pPr marL="0" indent="0">
              <a:buNone/>
            </a:pPr>
            <a:r>
              <a:rPr lang="en-US" sz="1000" dirty="0">
                <a:solidFill>
                  <a:srgbClr val="CBD5E1"/>
                </a:solidFill>
                <a:latin typeface="Consolas" pitchFamily="34" charset="0"/>
                <a:ea typeface="Consolas" pitchFamily="34" charset="-122"/>
                <a:cs typeface="Consolas" pitchFamily="34" charset="-120"/>
              </a:rPr>
              <a:t>1. Parse the input from $ARGUMENTS</a:t>
            </a:r>
            <a:endParaRPr lang="en-US" sz="1000" dirty="0"/>
          </a:p>
          <a:p>
            <a:pPr marL="0" indent="0">
              <a:buNone/>
            </a:pPr>
            <a:r>
              <a:rPr lang="en-US" sz="1000" dirty="0">
                <a:solidFill>
                  <a:srgbClr val="CBD5E1"/>
                </a:solidFill>
                <a:latin typeface="Consolas" pitchFamily="34" charset="0"/>
                <a:ea typeface="Consolas" pitchFamily="34" charset="-122"/>
                <a:cs typeface="Consolas" pitchFamily="34" charset="-120"/>
              </a:rPr>
              <a:t>2. [Your step-by-step workflow]</a:t>
            </a:r>
            <a:endParaRPr lang="en-US" sz="1000" dirty="0"/>
          </a:p>
          <a:p>
            <a:pPr marL="0" indent="0">
              <a:buNone/>
            </a:pPr>
            <a:r>
              <a:rPr lang="en-US" sz="1000" dirty="0">
                <a:solidFill>
                  <a:srgbClr val="CBD5E1"/>
                </a:solidFill>
                <a:latin typeface="Consolas" pitchFamily="34" charset="0"/>
                <a:ea typeface="Consolas" pitchFamily="34" charset="-122"/>
                <a:cs typeface="Consolas" pitchFamily="34" charset="-120"/>
              </a:rPr>
              <a:t>3. [Apply domain-specific criteria]</a:t>
            </a:r>
            <a:endParaRPr lang="en-US" sz="1000" dirty="0"/>
          </a:p>
          <a:p>
            <a:pPr marL="0" indent="0">
              <a:buNone/>
            </a:pPr>
            <a:r>
              <a:rPr lang="en-US" sz="1000" dirty="0">
                <a:solidFill>
                  <a:srgbClr val="CBD5E1"/>
                </a:solidFill>
                <a:latin typeface="Consolas" pitchFamily="34" charset="0"/>
                <a:ea typeface="Consolas" pitchFamily="34" charset="-122"/>
                <a:cs typeface="Consolas" pitchFamily="34" charset="-120"/>
              </a:rPr>
              <a:t>4. [Quality checks]</a:t>
            </a:r>
            <a:endParaRPr lang="en-US" sz="1000" dirty="0"/>
          </a:p>
          <a:p>
            <a:pPr marL="0" indent="0">
              <a:buNone/>
            </a:pPr>
            <a:r>
              <a:rPr lang="en-US" sz="1000" dirty="0">
                <a:solidFill>
                  <a:srgbClr val="CBD5E1"/>
                </a:solidFill>
                <a:latin typeface="Consolas" pitchFamily="34" charset="0"/>
                <a:ea typeface="Consolas" pitchFamily="34" charset="-122"/>
                <a:cs typeface="Consolas" pitchFamily="34" charset="-120"/>
              </a:rPr>
              <a:t>5. [Output in specified format]</a:t>
            </a:r>
            <a:endParaRPr lang="en-US" sz="1000" dirty="0"/>
          </a:p>
          <a:p>
            <a:pPr marL="0" indent="0">
              <a:buNone/>
            </a:pPr>
            <a:endParaRPr lang="en-US" sz="1000" dirty="0"/>
          </a:p>
        </p:txBody>
      </p:sp>
      <p:sp>
        <p:nvSpPr>
          <p:cNvPr id="6" name="Text 4"/>
          <p:cNvSpPr/>
          <p:nvPr/>
        </p:nvSpPr>
        <p:spPr>
          <a:xfrm>
            <a:off x="457200" y="4709160"/>
            <a:ext cx="4572000" cy="320040"/>
          </a:xfrm>
          <a:prstGeom prst="rect">
            <a:avLst/>
          </a:prstGeom>
          <a:noFill/>
          <a:ln/>
        </p:spPr>
        <p:txBody>
          <a:bodyPr wrap="square" rtlCol="0" anchor="ctr"/>
          <a:lstStyle/>
          <a:p>
            <a:pPr marL="0" indent="0">
              <a:buNone/>
            </a:pPr>
            <a:r>
              <a:rPr lang="en-US" sz="900" i="1" dirty="0">
                <a:solidFill>
                  <a:srgbClr val="4A5568"/>
                </a:solidFill>
                <a:latin typeface="Calibri" pitchFamily="34" charset="0"/>
                <a:ea typeface="Calibri" pitchFamily="34" charset="-122"/>
                <a:cs typeface="Calibri" pitchFamily="34" charset="-120"/>
              </a:rPr>
              <a:t>Building AI Research Assistants with Agent Skills</a:t>
            </a:r>
            <a:endParaRPr lang="en-US" sz="900" dirty="0"/>
          </a:p>
        </p:txBody>
      </p:sp>
      <p:sp>
        <p:nvSpPr>
          <p:cNvPr id="7" name="Text 5"/>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
        <p:nvSpPr>
          <p:cNvPr id="9" name="Text 3">
            <a:extLst>
              <a:ext uri="{FF2B5EF4-FFF2-40B4-BE49-F238E27FC236}">
                <a16:creationId xmlns:a16="http://schemas.microsoft.com/office/drawing/2014/main" id="{3B82AD4A-D7F1-CB29-57DD-18A938E57B13}"/>
              </a:ext>
            </a:extLst>
          </p:cNvPr>
          <p:cNvSpPr/>
          <p:nvPr/>
        </p:nvSpPr>
        <p:spPr>
          <a:xfrm>
            <a:off x="4572000" y="1043915"/>
            <a:ext cx="3245370" cy="3474720"/>
          </a:xfrm>
          <a:prstGeom prst="rect">
            <a:avLst/>
          </a:prstGeom>
          <a:noFill/>
          <a:ln/>
        </p:spPr>
        <p:txBody>
          <a:bodyPr wrap="square" rtlCol="0" anchor="ctr"/>
          <a:lstStyle/>
          <a:p>
            <a:pPr marL="0" indent="0">
              <a:buNone/>
            </a:pPr>
            <a:r>
              <a:rPr lang="en-US" sz="1000" dirty="0">
                <a:solidFill>
                  <a:schemeClr val="bg1"/>
                </a:solidFill>
              </a:rPr>
              <a:t>…continued</a:t>
            </a:r>
          </a:p>
          <a:p>
            <a:pPr marL="0" indent="0">
              <a:buNone/>
            </a:pP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Key Taxonomy (if applicable)</a:t>
            </a:r>
            <a:endParaRPr lang="en-US" sz="1000" dirty="0"/>
          </a:p>
          <a:p>
            <a:pPr marL="0" indent="0">
              <a:buNone/>
            </a:pPr>
            <a:r>
              <a:rPr lang="en-US" sz="1000" dirty="0">
                <a:solidFill>
                  <a:srgbClr val="CBD5E1"/>
                </a:solidFill>
                <a:latin typeface="Consolas" pitchFamily="34" charset="0"/>
                <a:ea typeface="Consolas" pitchFamily="34" charset="-122"/>
                <a:cs typeface="Consolas" pitchFamily="34" charset="-120"/>
              </a:rPr>
              <a:t>| Term | Definition |</a:t>
            </a:r>
            <a:endParaRPr lang="en-US" sz="1000" dirty="0"/>
          </a:p>
          <a:p>
            <a:pPr marL="0" indent="0">
              <a:buNone/>
            </a:pP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Do This / Not That</a:t>
            </a:r>
            <a:endParaRPr lang="en-US" sz="1000" dirty="0"/>
          </a:p>
          <a:p>
            <a:pPr marL="0" indent="0">
              <a:buNone/>
            </a:pPr>
            <a:r>
              <a:rPr lang="en-US" sz="1000" dirty="0">
                <a:solidFill>
                  <a:srgbClr val="CBD5E1"/>
                </a:solidFill>
                <a:latin typeface="Consolas" pitchFamily="34" charset="0"/>
                <a:ea typeface="Consolas" pitchFamily="34" charset="-122"/>
                <a:cs typeface="Consolas" pitchFamily="34" charset="-120"/>
              </a:rPr>
              <a:t>| Do This | Not That |</a:t>
            </a:r>
            <a:endParaRPr lang="en-US" sz="1000" dirty="0"/>
          </a:p>
          <a:p>
            <a:pPr marL="0" indent="0">
              <a:buNone/>
            </a:pP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Output Format</a:t>
            </a:r>
            <a:endParaRPr lang="en-US" sz="1000" dirty="0"/>
          </a:p>
          <a:p>
            <a:pPr marL="0" indent="0">
              <a:buNone/>
            </a:pPr>
            <a:r>
              <a:rPr lang="en-US" sz="1000" dirty="0">
                <a:solidFill>
                  <a:srgbClr val="CBD5E1"/>
                </a:solidFill>
                <a:latin typeface="Consolas" pitchFamily="34" charset="0"/>
                <a:ea typeface="Consolas" pitchFamily="34" charset="-122"/>
                <a:cs typeface="Consolas" pitchFamily="34" charset="-120"/>
              </a:rPr>
              <a:t>[Define exactly what the output looks like]</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27432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Resources &amp; Next Steps</a:t>
            </a:r>
            <a:endParaRPr lang="en-US" sz="3000" dirty="0"/>
          </a:p>
        </p:txBody>
      </p:sp>
      <p:sp>
        <p:nvSpPr>
          <p:cNvPr id="4" name="Shape 2"/>
          <p:cNvSpPr/>
          <p:nvPr/>
        </p:nvSpPr>
        <p:spPr>
          <a:xfrm>
            <a:off x="548640" y="1051560"/>
            <a:ext cx="8046720" cy="457200"/>
          </a:xfrm>
          <a:prstGeom prst="rect">
            <a:avLst/>
          </a:prstGeom>
          <a:solidFill>
            <a:srgbClr val="252A4A"/>
          </a:solidFill>
          <a:ln/>
        </p:spPr>
        <p:txBody>
          <a:bodyPr/>
          <a:lstStyle/>
          <a:p>
            <a:endParaRPr lang="en-US"/>
          </a:p>
        </p:txBody>
      </p:sp>
      <p:sp>
        <p:nvSpPr>
          <p:cNvPr id="5" name="Shape 3"/>
          <p:cNvSpPr/>
          <p:nvPr/>
        </p:nvSpPr>
        <p:spPr>
          <a:xfrm>
            <a:off x="548640" y="1051560"/>
            <a:ext cx="54864" cy="457200"/>
          </a:xfrm>
          <a:prstGeom prst="rect">
            <a:avLst/>
          </a:prstGeom>
          <a:solidFill>
            <a:srgbClr val="00B4D8"/>
          </a:solidFill>
          <a:ln/>
        </p:spPr>
        <p:txBody>
          <a:bodyPr/>
          <a:lstStyle/>
          <a:p>
            <a:endParaRPr lang="en-US"/>
          </a:p>
        </p:txBody>
      </p:sp>
      <p:sp>
        <p:nvSpPr>
          <p:cNvPr id="6" name="Text 4"/>
          <p:cNvSpPr/>
          <p:nvPr/>
        </p:nvSpPr>
        <p:spPr>
          <a:xfrm>
            <a:off x="822960" y="1051560"/>
            <a:ext cx="3200400" cy="457200"/>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Claude Code Skills Docs</a:t>
            </a:r>
            <a:endParaRPr lang="en-US" sz="1300" dirty="0"/>
          </a:p>
        </p:txBody>
      </p:sp>
      <p:sp>
        <p:nvSpPr>
          <p:cNvPr id="7" name="Text 5"/>
          <p:cNvSpPr/>
          <p:nvPr/>
        </p:nvSpPr>
        <p:spPr>
          <a:xfrm>
            <a:off x="4114800" y="1051560"/>
            <a:ext cx="4389120" cy="457200"/>
          </a:xfrm>
          <a:prstGeom prst="rect">
            <a:avLst/>
          </a:prstGeom>
          <a:noFill/>
          <a:ln/>
        </p:spPr>
        <p:txBody>
          <a:bodyPr wrap="square" rtlCol="0" anchor="ctr"/>
          <a:lstStyle/>
          <a:p>
            <a:pPr algn="r"/>
            <a:r>
              <a:rPr lang="en-US" sz="1100" dirty="0">
                <a:solidFill>
                  <a:srgbClr val="00B4D8"/>
                </a:solidFill>
                <a:latin typeface="Consolas" pitchFamily="34" charset="0"/>
                <a:ea typeface="Consolas" pitchFamily="34" charset="-122"/>
                <a:cs typeface="Consolas" pitchFamily="34" charset="-120"/>
              </a:rPr>
              <a:t>https://</a:t>
            </a:r>
            <a:r>
              <a:rPr lang="en-US" sz="1100" dirty="0" err="1">
                <a:solidFill>
                  <a:srgbClr val="00B4D8"/>
                </a:solidFill>
                <a:latin typeface="Consolas" pitchFamily="34" charset="0"/>
                <a:ea typeface="Consolas" pitchFamily="34" charset="-122"/>
                <a:cs typeface="Consolas" pitchFamily="34" charset="-120"/>
              </a:rPr>
              <a:t>code.claude.com</a:t>
            </a:r>
            <a:r>
              <a:rPr lang="en-US" sz="1100" dirty="0">
                <a:solidFill>
                  <a:srgbClr val="00B4D8"/>
                </a:solidFill>
                <a:latin typeface="Consolas" pitchFamily="34" charset="0"/>
                <a:ea typeface="Consolas" pitchFamily="34" charset="-122"/>
                <a:cs typeface="Consolas" pitchFamily="34" charset="-120"/>
              </a:rPr>
              <a:t>/docs/</a:t>
            </a:r>
            <a:r>
              <a:rPr lang="en-US" sz="1100" dirty="0" err="1">
                <a:solidFill>
                  <a:srgbClr val="00B4D8"/>
                </a:solidFill>
                <a:latin typeface="Consolas" pitchFamily="34" charset="0"/>
                <a:ea typeface="Consolas" pitchFamily="34" charset="-122"/>
                <a:cs typeface="Consolas" pitchFamily="34" charset="-120"/>
              </a:rPr>
              <a:t>en</a:t>
            </a:r>
            <a:r>
              <a:rPr lang="en-US" sz="1100" dirty="0">
                <a:solidFill>
                  <a:srgbClr val="00B4D8"/>
                </a:solidFill>
                <a:latin typeface="Consolas" pitchFamily="34" charset="0"/>
                <a:ea typeface="Consolas" pitchFamily="34" charset="-122"/>
                <a:cs typeface="Consolas" pitchFamily="34" charset="-120"/>
              </a:rPr>
              <a:t>/skills</a:t>
            </a:r>
            <a:endParaRPr lang="en-US" sz="1100" dirty="0"/>
          </a:p>
        </p:txBody>
      </p:sp>
      <p:sp>
        <p:nvSpPr>
          <p:cNvPr id="8" name="Shape 6"/>
          <p:cNvSpPr/>
          <p:nvPr/>
        </p:nvSpPr>
        <p:spPr>
          <a:xfrm>
            <a:off x="548640" y="1645920"/>
            <a:ext cx="8046720" cy="457200"/>
          </a:xfrm>
          <a:prstGeom prst="rect">
            <a:avLst/>
          </a:prstGeom>
          <a:solidFill>
            <a:srgbClr val="252A4A"/>
          </a:solidFill>
          <a:ln/>
        </p:spPr>
        <p:txBody>
          <a:bodyPr/>
          <a:lstStyle/>
          <a:p>
            <a:endParaRPr lang="en-US"/>
          </a:p>
        </p:txBody>
      </p:sp>
      <p:sp>
        <p:nvSpPr>
          <p:cNvPr id="9" name="Shape 7"/>
          <p:cNvSpPr/>
          <p:nvPr/>
        </p:nvSpPr>
        <p:spPr>
          <a:xfrm>
            <a:off x="548640" y="1645920"/>
            <a:ext cx="54864" cy="457200"/>
          </a:xfrm>
          <a:prstGeom prst="rect">
            <a:avLst/>
          </a:prstGeom>
          <a:solidFill>
            <a:srgbClr val="10B981"/>
          </a:solidFill>
          <a:ln/>
        </p:spPr>
        <p:txBody>
          <a:bodyPr/>
          <a:lstStyle/>
          <a:p>
            <a:endParaRPr lang="en-US"/>
          </a:p>
        </p:txBody>
      </p:sp>
      <p:sp>
        <p:nvSpPr>
          <p:cNvPr id="10" name="Text 8"/>
          <p:cNvSpPr/>
          <p:nvPr/>
        </p:nvSpPr>
        <p:spPr>
          <a:xfrm>
            <a:off x="822960" y="1645920"/>
            <a:ext cx="3200400" cy="457200"/>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MCP Documentation</a:t>
            </a:r>
            <a:endParaRPr lang="en-US" sz="1300" dirty="0"/>
          </a:p>
        </p:txBody>
      </p:sp>
      <p:sp>
        <p:nvSpPr>
          <p:cNvPr id="11" name="Text 9"/>
          <p:cNvSpPr/>
          <p:nvPr/>
        </p:nvSpPr>
        <p:spPr>
          <a:xfrm>
            <a:off x="4114800" y="1645920"/>
            <a:ext cx="4389120" cy="457200"/>
          </a:xfrm>
          <a:prstGeom prst="rect">
            <a:avLst/>
          </a:prstGeom>
          <a:noFill/>
          <a:ln/>
        </p:spPr>
        <p:txBody>
          <a:bodyPr wrap="square" rtlCol="0" anchor="ctr"/>
          <a:lstStyle/>
          <a:p>
            <a:pPr algn="r"/>
            <a:r>
              <a:rPr lang="en-US" sz="1100" dirty="0">
                <a:solidFill>
                  <a:srgbClr val="10B981"/>
                </a:solidFill>
                <a:latin typeface="Consolas" pitchFamily="34" charset="0"/>
                <a:ea typeface="Consolas" pitchFamily="34" charset="-122"/>
                <a:cs typeface="Consolas" pitchFamily="34" charset="-120"/>
              </a:rPr>
              <a:t>https://</a:t>
            </a:r>
            <a:r>
              <a:rPr lang="en-US" sz="1100" dirty="0" err="1">
                <a:solidFill>
                  <a:srgbClr val="10B981"/>
                </a:solidFill>
                <a:latin typeface="Consolas" pitchFamily="34" charset="0"/>
                <a:ea typeface="Consolas" pitchFamily="34" charset="-122"/>
                <a:cs typeface="Consolas" pitchFamily="34" charset="-120"/>
              </a:rPr>
              <a:t>code.claude.com</a:t>
            </a:r>
            <a:r>
              <a:rPr lang="en-US" sz="1100" dirty="0">
                <a:solidFill>
                  <a:srgbClr val="10B981"/>
                </a:solidFill>
                <a:latin typeface="Consolas" pitchFamily="34" charset="0"/>
                <a:ea typeface="Consolas" pitchFamily="34" charset="-122"/>
                <a:cs typeface="Consolas" pitchFamily="34" charset="-120"/>
              </a:rPr>
              <a:t>/docs/</a:t>
            </a:r>
            <a:r>
              <a:rPr lang="en-US" sz="1100" dirty="0" err="1">
                <a:solidFill>
                  <a:srgbClr val="10B981"/>
                </a:solidFill>
                <a:latin typeface="Consolas" pitchFamily="34" charset="0"/>
                <a:ea typeface="Consolas" pitchFamily="34" charset="-122"/>
                <a:cs typeface="Consolas" pitchFamily="34" charset="-120"/>
              </a:rPr>
              <a:t>en</a:t>
            </a:r>
            <a:r>
              <a:rPr lang="en-US" sz="1100" dirty="0">
                <a:solidFill>
                  <a:srgbClr val="10B981"/>
                </a:solidFill>
                <a:latin typeface="Consolas" pitchFamily="34" charset="0"/>
                <a:ea typeface="Consolas" pitchFamily="34" charset="-122"/>
                <a:cs typeface="Consolas" pitchFamily="34" charset="-120"/>
              </a:rPr>
              <a:t>/</a:t>
            </a:r>
            <a:r>
              <a:rPr lang="en-US" sz="1100" dirty="0" err="1">
                <a:solidFill>
                  <a:srgbClr val="10B981"/>
                </a:solidFill>
                <a:latin typeface="Consolas" pitchFamily="34" charset="0"/>
                <a:ea typeface="Consolas" pitchFamily="34" charset="-122"/>
                <a:cs typeface="Consolas" pitchFamily="34" charset="-120"/>
              </a:rPr>
              <a:t>mcp</a:t>
            </a:r>
            <a:endParaRPr lang="en-US" sz="1100" dirty="0"/>
          </a:p>
        </p:txBody>
      </p:sp>
      <p:sp>
        <p:nvSpPr>
          <p:cNvPr id="12" name="Shape 10"/>
          <p:cNvSpPr/>
          <p:nvPr/>
        </p:nvSpPr>
        <p:spPr>
          <a:xfrm>
            <a:off x="548640" y="2240280"/>
            <a:ext cx="8046720" cy="457200"/>
          </a:xfrm>
          <a:prstGeom prst="rect">
            <a:avLst/>
          </a:prstGeom>
          <a:solidFill>
            <a:srgbClr val="252A4A"/>
          </a:solidFill>
          <a:ln/>
        </p:spPr>
        <p:txBody>
          <a:bodyPr/>
          <a:lstStyle/>
          <a:p>
            <a:endParaRPr lang="en-US"/>
          </a:p>
        </p:txBody>
      </p:sp>
      <p:sp>
        <p:nvSpPr>
          <p:cNvPr id="13" name="Shape 11"/>
          <p:cNvSpPr/>
          <p:nvPr/>
        </p:nvSpPr>
        <p:spPr>
          <a:xfrm>
            <a:off x="548640" y="2240280"/>
            <a:ext cx="54864" cy="457200"/>
          </a:xfrm>
          <a:prstGeom prst="rect">
            <a:avLst/>
          </a:prstGeom>
          <a:solidFill>
            <a:srgbClr val="A78BFA"/>
          </a:solidFill>
          <a:ln/>
        </p:spPr>
        <p:txBody>
          <a:bodyPr/>
          <a:lstStyle/>
          <a:p>
            <a:endParaRPr lang="en-US"/>
          </a:p>
        </p:txBody>
      </p:sp>
      <p:sp>
        <p:nvSpPr>
          <p:cNvPr id="14" name="Text 12"/>
          <p:cNvSpPr/>
          <p:nvPr/>
        </p:nvSpPr>
        <p:spPr>
          <a:xfrm>
            <a:off x="822960" y="2240280"/>
            <a:ext cx="3200400" cy="457200"/>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The Complete Guide to Building Skills for Claude</a:t>
            </a:r>
            <a:endParaRPr lang="en-US" sz="1300" dirty="0"/>
          </a:p>
        </p:txBody>
      </p:sp>
      <p:sp>
        <p:nvSpPr>
          <p:cNvPr id="15" name="Text 13"/>
          <p:cNvSpPr/>
          <p:nvPr/>
        </p:nvSpPr>
        <p:spPr>
          <a:xfrm>
            <a:off x="4114800" y="2240280"/>
            <a:ext cx="4389120" cy="457200"/>
          </a:xfrm>
          <a:prstGeom prst="rect">
            <a:avLst/>
          </a:prstGeom>
          <a:noFill/>
          <a:ln/>
        </p:spPr>
        <p:txBody>
          <a:bodyPr wrap="square" rtlCol="0" anchor="ctr"/>
          <a:lstStyle/>
          <a:p>
            <a:pPr algn="r"/>
            <a:r>
              <a:rPr lang="en-US" sz="1100" dirty="0">
                <a:solidFill>
                  <a:srgbClr val="A78BFA"/>
                </a:solidFill>
                <a:latin typeface="Consolas" pitchFamily="34" charset="0"/>
                <a:ea typeface="Consolas" pitchFamily="34" charset="-122"/>
                <a:cs typeface="Consolas" pitchFamily="34" charset="-120"/>
              </a:rPr>
              <a:t>https://</a:t>
            </a:r>
            <a:r>
              <a:rPr lang="en-US" sz="1100" dirty="0" err="1">
                <a:solidFill>
                  <a:srgbClr val="A78BFA"/>
                </a:solidFill>
                <a:latin typeface="Consolas" pitchFamily="34" charset="0"/>
                <a:ea typeface="Consolas" pitchFamily="34" charset="-122"/>
                <a:cs typeface="Consolas" pitchFamily="34" charset="-120"/>
              </a:rPr>
              <a:t>resources.anthropic.com</a:t>
            </a:r>
            <a:r>
              <a:rPr lang="en-US" sz="1100" dirty="0">
                <a:solidFill>
                  <a:srgbClr val="A78BFA"/>
                </a:solidFill>
                <a:latin typeface="Consolas" pitchFamily="34" charset="0"/>
                <a:ea typeface="Consolas" pitchFamily="34" charset="-122"/>
                <a:cs typeface="Consolas" pitchFamily="34" charset="-120"/>
              </a:rPr>
              <a:t>/</a:t>
            </a:r>
            <a:r>
              <a:rPr lang="en-US" sz="1100" dirty="0" err="1">
                <a:solidFill>
                  <a:srgbClr val="A78BFA"/>
                </a:solidFill>
                <a:latin typeface="Consolas" pitchFamily="34" charset="0"/>
                <a:ea typeface="Consolas" pitchFamily="34" charset="-122"/>
                <a:cs typeface="Consolas" pitchFamily="34" charset="-120"/>
              </a:rPr>
              <a:t>hubfs</a:t>
            </a:r>
            <a:r>
              <a:rPr lang="en-US" sz="1100" dirty="0">
                <a:solidFill>
                  <a:srgbClr val="A78BFA"/>
                </a:solidFill>
                <a:latin typeface="Consolas" pitchFamily="34" charset="0"/>
                <a:ea typeface="Consolas" pitchFamily="34" charset="-122"/>
                <a:cs typeface="Consolas" pitchFamily="34" charset="-120"/>
              </a:rPr>
              <a:t>/The-Complete-Guide-to-Building-Skill-for-</a:t>
            </a:r>
            <a:r>
              <a:rPr lang="en-US" sz="1100" dirty="0" err="1">
                <a:solidFill>
                  <a:srgbClr val="A78BFA"/>
                </a:solidFill>
                <a:latin typeface="Consolas" pitchFamily="34" charset="0"/>
                <a:ea typeface="Consolas" pitchFamily="34" charset="-122"/>
                <a:cs typeface="Consolas" pitchFamily="34" charset="-120"/>
              </a:rPr>
              <a:t>Claude.pdf</a:t>
            </a:r>
            <a:endParaRPr lang="en-US" sz="1100" dirty="0"/>
          </a:p>
        </p:txBody>
      </p:sp>
      <p:sp>
        <p:nvSpPr>
          <p:cNvPr id="16" name="Shape 14"/>
          <p:cNvSpPr/>
          <p:nvPr/>
        </p:nvSpPr>
        <p:spPr>
          <a:xfrm>
            <a:off x="548640" y="2834640"/>
            <a:ext cx="8046720" cy="457200"/>
          </a:xfrm>
          <a:prstGeom prst="rect">
            <a:avLst/>
          </a:prstGeom>
          <a:solidFill>
            <a:srgbClr val="252A4A"/>
          </a:solidFill>
          <a:ln/>
        </p:spPr>
        <p:txBody>
          <a:bodyPr/>
          <a:lstStyle/>
          <a:p>
            <a:endParaRPr lang="en-US"/>
          </a:p>
        </p:txBody>
      </p:sp>
      <p:sp>
        <p:nvSpPr>
          <p:cNvPr id="17" name="Shape 15"/>
          <p:cNvSpPr/>
          <p:nvPr/>
        </p:nvSpPr>
        <p:spPr>
          <a:xfrm>
            <a:off x="548640" y="2834640"/>
            <a:ext cx="54864" cy="457200"/>
          </a:xfrm>
          <a:prstGeom prst="rect">
            <a:avLst/>
          </a:prstGeom>
          <a:solidFill>
            <a:srgbClr val="FBBF24"/>
          </a:solidFill>
          <a:ln/>
        </p:spPr>
        <p:txBody>
          <a:bodyPr/>
          <a:lstStyle/>
          <a:p>
            <a:endParaRPr lang="en-US"/>
          </a:p>
        </p:txBody>
      </p:sp>
      <p:sp>
        <p:nvSpPr>
          <p:cNvPr id="18" name="Text 16"/>
          <p:cNvSpPr/>
          <p:nvPr/>
        </p:nvSpPr>
        <p:spPr>
          <a:xfrm>
            <a:off x="822960" y="2834640"/>
            <a:ext cx="3200400" cy="457200"/>
          </a:xfrm>
          <a:prstGeom prst="rect">
            <a:avLst/>
          </a:prstGeom>
          <a:noFill/>
          <a:ln/>
        </p:spPr>
        <p:txBody>
          <a:bodyPr wrap="square"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MCP Server Registry</a:t>
            </a:r>
            <a:endParaRPr lang="en-US" sz="1300" dirty="0"/>
          </a:p>
        </p:txBody>
      </p:sp>
      <p:sp>
        <p:nvSpPr>
          <p:cNvPr id="19" name="Text 17"/>
          <p:cNvSpPr/>
          <p:nvPr/>
        </p:nvSpPr>
        <p:spPr>
          <a:xfrm>
            <a:off x="4114800" y="2834640"/>
            <a:ext cx="4389120" cy="457200"/>
          </a:xfrm>
          <a:prstGeom prst="rect">
            <a:avLst/>
          </a:prstGeom>
          <a:noFill/>
          <a:ln/>
        </p:spPr>
        <p:txBody>
          <a:bodyPr wrap="square" rtlCol="0" anchor="ctr"/>
          <a:lstStyle/>
          <a:p>
            <a:pPr algn="r"/>
            <a:r>
              <a:rPr lang="en-US" sz="1100" dirty="0">
                <a:solidFill>
                  <a:srgbClr val="FBBF24"/>
                </a:solidFill>
                <a:latin typeface="Consolas" pitchFamily="34" charset="0"/>
                <a:ea typeface="Consolas" pitchFamily="34" charset="-122"/>
                <a:cs typeface="Consolas" pitchFamily="34" charset="-120"/>
              </a:rPr>
              <a:t>https://</a:t>
            </a:r>
            <a:r>
              <a:rPr lang="en-US" sz="1100" dirty="0" err="1">
                <a:solidFill>
                  <a:srgbClr val="FBBF24"/>
                </a:solidFill>
                <a:latin typeface="Consolas" pitchFamily="34" charset="0"/>
                <a:ea typeface="Consolas" pitchFamily="34" charset="-122"/>
                <a:cs typeface="Consolas" pitchFamily="34" charset="-120"/>
              </a:rPr>
              <a:t>github.com</a:t>
            </a:r>
            <a:r>
              <a:rPr lang="en-US" sz="1100" dirty="0">
                <a:solidFill>
                  <a:srgbClr val="FBBF24"/>
                </a:solidFill>
                <a:latin typeface="Consolas" pitchFamily="34" charset="0"/>
                <a:ea typeface="Consolas" pitchFamily="34" charset="-122"/>
                <a:cs typeface="Consolas" pitchFamily="34" charset="-120"/>
              </a:rPr>
              <a:t>/</a:t>
            </a:r>
            <a:r>
              <a:rPr lang="en-US" sz="1100" dirty="0" err="1">
                <a:solidFill>
                  <a:srgbClr val="FBBF24"/>
                </a:solidFill>
                <a:latin typeface="Consolas" pitchFamily="34" charset="0"/>
                <a:ea typeface="Consolas" pitchFamily="34" charset="-122"/>
                <a:cs typeface="Consolas" pitchFamily="34" charset="-120"/>
              </a:rPr>
              <a:t>mcp</a:t>
            </a:r>
            <a:endParaRPr lang="en-US" sz="1100" dirty="0"/>
          </a:p>
        </p:txBody>
      </p:sp>
      <p:sp>
        <p:nvSpPr>
          <p:cNvPr id="20" name="Text 18"/>
          <p:cNvSpPr/>
          <p:nvPr/>
        </p:nvSpPr>
        <p:spPr>
          <a:xfrm>
            <a:off x="731520" y="3520440"/>
            <a:ext cx="7680960" cy="365760"/>
          </a:xfrm>
          <a:prstGeom prst="rect">
            <a:avLst/>
          </a:prstGeom>
          <a:noFill/>
          <a:ln/>
        </p:spPr>
        <p:txBody>
          <a:bodyPr wrap="square" rtlCol="0" anchor="ctr"/>
          <a:lstStyle/>
          <a:p>
            <a:pPr marL="0" indent="0">
              <a:buNone/>
            </a:pPr>
            <a:r>
              <a:rPr lang="en-US" sz="1800" b="1" dirty="0">
                <a:solidFill>
                  <a:srgbClr val="00B4D8"/>
                </a:solidFill>
                <a:latin typeface="Georgia" pitchFamily="34" charset="0"/>
                <a:ea typeface="Georgia" pitchFamily="34" charset="-122"/>
                <a:cs typeface="Georgia" pitchFamily="34" charset="-120"/>
              </a:rPr>
              <a:t>Your Next Steps</a:t>
            </a:r>
            <a:endParaRPr lang="en-US" sz="1800" dirty="0"/>
          </a:p>
        </p:txBody>
      </p:sp>
      <p:sp>
        <p:nvSpPr>
          <p:cNvPr id="21" name="Text 19"/>
          <p:cNvSpPr/>
          <p:nvPr/>
        </p:nvSpPr>
        <p:spPr>
          <a:xfrm>
            <a:off x="731520" y="3840480"/>
            <a:ext cx="7680960" cy="914400"/>
          </a:xfrm>
          <a:prstGeom prst="rect">
            <a:avLst/>
          </a:prstGeom>
          <a:noFill/>
          <a:ln/>
        </p:spPr>
        <p:txBody>
          <a:bodyPr wrap="square" rtlCol="0" anchor="ctr"/>
          <a:lstStyle/>
          <a:p>
            <a:pPr marL="342900" indent="-342900">
              <a:spcAft>
                <a:spcPts val="400"/>
              </a:spcAft>
              <a:buSzPct val="100000"/>
              <a:buChar char="•"/>
            </a:pPr>
            <a:r>
              <a:rPr lang="en-US" sz="1300" dirty="0">
                <a:solidFill>
                  <a:srgbClr val="CBD5E1"/>
                </a:solidFill>
                <a:latin typeface="Calibri" pitchFamily="34" charset="0"/>
                <a:ea typeface="Calibri" pitchFamily="34" charset="-122"/>
                <a:cs typeface="Calibri" pitchFamily="34" charset="-120"/>
              </a:rPr>
              <a:t>Refine the skill you started today — add taxonomies, examples, quality checks</a:t>
            </a:r>
            <a:endParaRPr lang="en-US" sz="1300" dirty="0"/>
          </a:p>
          <a:p>
            <a:pPr marL="342900" indent="-342900">
              <a:spcAft>
                <a:spcPts val="400"/>
              </a:spcAft>
              <a:buSzPct val="100000"/>
              <a:buChar char="•"/>
            </a:pPr>
            <a:r>
              <a:rPr lang="en-US" sz="1300" dirty="0">
                <a:solidFill>
                  <a:srgbClr val="CBD5E1"/>
                </a:solidFill>
                <a:latin typeface="Calibri" pitchFamily="34" charset="0"/>
                <a:ea typeface="Calibri" pitchFamily="34" charset="-122"/>
                <a:cs typeface="Calibri" pitchFamily="34" charset="-120"/>
              </a:rPr>
              <a:t>Share it with your lab by putting it in .claude/skills/ and committing to git</a:t>
            </a:r>
            <a:endParaRPr lang="en-US" sz="1300" dirty="0"/>
          </a:p>
          <a:p>
            <a:pPr marL="342900" indent="-342900">
              <a:spcAft>
                <a:spcPts val="400"/>
              </a:spcAft>
              <a:buSzPct val="100000"/>
              <a:buChar char="•"/>
            </a:pPr>
            <a:r>
              <a:rPr lang="en-US" sz="1300" dirty="0">
                <a:solidFill>
                  <a:srgbClr val="CBD5E1"/>
                </a:solidFill>
                <a:latin typeface="Calibri" pitchFamily="34" charset="0"/>
                <a:ea typeface="Calibri" pitchFamily="34" charset="-122"/>
                <a:cs typeface="Calibri" pitchFamily="34" charset="-120"/>
              </a:rPr>
              <a:t>Connect an MCP server relevant to your workflow (GitHub, databases, etc.)</a:t>
            </a:r>
            <a:endParaRPr lang="en-US" sz="1300" dirty="0"/>
          </a:p>
          <a:p>
            <a:pPr marL="342900" indent="-342900">
              <a:spcAft>
                <a:spcPts val="400"/>
              </a:spcAft>
              <a:buSzPct val="100000"/>
              <a:buChar char="•"/>
            </a:pPr>
            <a:r>
              <a:rPr lang="en-US" sz="1300" dirty="0">
                <a:solidFill>
                  <a:srgbClr val="CBD5E1"/>
                </a:solidFill>
                <a:latin typeface="Calibri" pitchFamily="34" charset="0"/>
                <a:ea typeface="Calibri" pitchFamily="34" charset="-122"/>
                <a:cs typeface="Calibri" pitchFamily="34" charset="-120"/>
              </a:rPr>
              <a:t>Try the Skill Creator — use it to draft, test, and optimize your next skill</a:t>
            </a:r>
            <a:endParaRPr lang="en-US" sz="1300" dirty="0"/>
          </a:p>
        </p:txBody>
      </p:sp>
      <p:sp>
        <p:nvSpPr>
          <p:cNvPr id="22" name="Text 20"/>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bg>
      <p:bgPr>
        <a:solidFill>
          <a:srgbClr val="1A1F3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txBody>
          <a:bodyPr/>
          <a:lstStyle/>
          <a:p>
            <a:endParaRPr lang="en-US"/>
          </a:p>
        </p:txBody>
      </p:sp>
      <p:sp>
        <p:nvSpPr>
          <p:cNvPr id="3" name="Text 1"/>
          <p:cNvSpPr/>
          <p:nvPr/>
        </p:nvSpPr>
        <p:spPr>
          <a:xfrm>
            <a:off x="731520" y="1097280"/>
            <a:ext cx="7680960" cy="9144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Thank You!</a:t>
            </a:r>
            <a:endParaRPr lang="en-US" sz="4200" dirty="0"/>
          </a:p>
        </p:txBody>
      </p:sp>
      <p:sp>
        <p:nvSpPr>
          <p:cNvPr id="4" name="Text 2"/>
          <p:cNvSpPr/>
          <p:nvPr/>
        </p:nvSpPr>
        <p:spPr>
          <a:xfrm>
            <a:off x="731520" y="2103120"/>
            <a:ext cx="7680960" cy="548640"/>
          </a:xfrm>
          <a:prstGeom prst="rect">
            <a:avLst/>
          </a:prstGeom>
          <a:noFill/>
          <a:ln/>
        </p:spPr>
        <p:txBody>
          <a:bodyPr wrap="square" rtlCol="0" anchor="ctr"/>
          <a:lstStyle/>
          <a:p>
            <a:pPr marL="0" indent="0" algn="ctr">
              <a:buNone/>
            </a:pPr>
            <a:r>
              <a:rPr lang="en-US" sz="2000" dirty="0">
                <a:solidFill>
                  <a:srgbClr val="00B4D8"/>
                </a:solidFill>
                <a:latin typeface="Calibri" pitchFamily="34" charset="0"/>
                <a:ea typeface="Calibri" pitchFamily="34" charset="-122"/>
                <a:cs typeface="Calibri" pitchFamily="34" charset="-120"/>
              </a:rPr>
              <a:t>From using AI  →  to building with AI</a:t>
            </a:r>
            <a:endParaRPr lang="en-US" sz="2000" dirty="0"/>
          </a:p>
        </p:txBody>
      </p:sp>
      <p:sp>
        <p:nvSpPr>
          <p:cNvPr id="5" name="Text 3"/>
          <p:cNvSpPr/>
          <p:nvPr/>
        </p:nvSpPr>
        <p:spPr>
          <a:xfrm>
            <a:off x="731520" y="2926080"/>
            <a:ext cx="7680960" cy="457200"/>
          </a:xfrm>
          <a:prstGeom prst="rect">
            <a:avLst/>
          </a:prstGeom>
          <a:noFill/>
          <a:ln/>
        </p:spPr>
        <p:txBody>
          <a:bodyPr wrap="square"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Questions, ideas, or skills to share?</a:t>
            </a:r>
            <a:endParaRPr lang="en-US" sz="1600" dirty="0"/>
          </a:p>
        </p:txBody>
      </p:sp>
      <p:sp>
        <p:nvSpPr>
          <p:cNvPr id="6" name="Shape 4"/>
          <p:cNvSpPr/>
          <p:nvPr/>
        </p:nvSpPr>
        <p:spPr>
          <a:xfrm>
            <a:off x="0" y="4206240"/>
            <a:ext cx="9144000" cy="937260"/>
          </a:xfrm>
          <a:prstGeom prst="rect">
            <a:avLst/>
          </a:prstGeom>
          <a:solidFill>
            <a:srgbClr val="252A4A"/>
          </a:solidFill>
          <a:ln/>
        </p:spPr>
        <p:txBody>
          <a:bodyPr/>
          <a:lstStyle/>
          <a:p>
            <a:endParaRPr lang="en-US"/>
          </a:p>
        </p:txBody>
      </p:sp>
      <p:sp>
        <p:nvSpPr>
          <p:cNvPr id="7" name="Text 5"/>
          <p:cNvSpPr/>
          <p:nvPr/>
        </p:nvSpPr>
        <p:spPr>
          <a:xfrm>
            <a:off x="731520" y="4297680"/>
            <a:ext cx="7680960" cy="365760"/>
          </a:xfrm>
          <a:prstGeom prst="rect">
            <a:avLst/>
          </a:prstGeom>
          <a:noFill/>
          <a:ln/>
        </p:spPr>
        <p:txBody>
          <a:bodyPr wrap="square" rtlCol="0" anchor="ctr"/>
          <a:lstStyle/>
          <a:p>
            <a:pPr marL="0" indent="0" algn="ctr">
              <a:buNone/>
            </a:pPr>
            <a:r>
              <a:rPr lang="en-US" sz="1200" dirty="0">
                <a:solidFill>
                  <a:srgbClr val="8892B0"/>
                </a:solidFill>
                <a:latin typeface="Calibri" pitchFamily="34" charset="0"/>
                <a:ea typeface="Calibri" pitchFamily="34" charset="-122"/>
                <a:cs typeface="Calibri" pitchFamily="34" charset="-120"/>
              </a:rPr>
              <a:t>Vanderbilt University  |  Faculty AI Workshop Series</a:t>
            </a:r>
            <a:endParaRPr lang="en-US" sz="1200" dirty="0"/>
          </a:p>
        </p:txBody>
      </p:sp>
      <p:sp>
        <p:nvSpPr>
          <p:cNvPr id="8" name="Text 6"/>
          <p:cNvSpPr/>
          <p:nvPr/>
        </p:nvSpPr>
        <p:spPr>
          <a:xfrm>
            <a:off x="731520" y="4663440"/>
            <a:ext cx="7680960" cy="320040"/>
          </a:xfrm>
          <a:prstGeom prst="rect">
            <a:avLst/>
          </a:prstGeom>
          <a:noFill/>
          <a:ln/>
        </p:spPr>
        <p:txBody>
          <a:bodyPr wrap="square" rtlCol="0" anchor="ctr"/>
          <a:lstStyle/>
          <a:p>
            <a:pPr marL="0" indent="0" algn="ctr">
              <a:buNone/>
            </a:pPr>
            <a:r>
              <a:rPr lang="en-US" sz="1100" dirty="0">
                <a:solidFill>
                  <a:srgbClr val="00B4D8"/>
                </a:solidFill>
                <a:latin typeface="Calibri" pitchFamily="34" charset="0"/>
                <a:ea typeface="Calibri" pitchFamily="34" charset="-122"/>
                <a:cs typeface="Calibri" pitchFamily="34" charset="-120"/>
              </a:rPr>
              <a:t>umang.chaudhry@vanderbilt.edu</a:t>
            </a:r>
            <a:endParaRPr lang="en-US" sz="1100" dirty="0"/>
          </a:p>
        </p:txBody>
      </p:sp>
      <p:sp>
        <p:nvSpPr>
          <p:cNvPr id="9" name="Text 7"/>
          <p:cNvSpPr/>
          <p:nvPr/>
        </p:nvSpPr>
        <p:spPr>
          <a:xfrm>
            <a:off x="8046720" y="4709160"/>
            <a:ext cx="914400" cy="320040"/>
          </a:xfrm>
          <a:prstGeom prst="rect">
            <a:avLst/>
          </a:prstGeom>
          <a:noFill/>
          <a:ln/>
        </p:spPr>
        <p:txBody>
          <a:bodyPr wrap="square" rtlCol="0" anchor="ctr"/>
          <a:lstStyle/>
          <a:p>
            <a:pPr marL="0" indent="0" algn="r">
              <a:buNone/>
            </a:pP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864</TotalTime>
  <Words>8362</Words>
  <Application>Microsoft Macintosh PowerPoint</Application>
  <PresentationFormat>On-screen Show (16:9)</PresentationFormat>
  <Paragraphs>683</Paragraphs>
  <Slides>33</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AI Research Assistants with Agent Skills</dc:title>
  <dc:subject>PptxGenJS Presentation</dc:subject>
  <dc:creator>Umang Chaudhry</dc:creator>
  <cp:lastModifiedBy>Umang Chaudhry</cp:lastModifiedBy>
  <cp:revision>32</cp:revision>
  <dcterms:created xsi:type="dcterms:W3CDTF">2026-03-01T04:49:14Z</dcterms:created>
  <dcterms:modified xsi:type="dcterms:W3CDTF">2026-03-05T15:53:47Z</dcterms:modified>
</cp:coreProperties>
</file>