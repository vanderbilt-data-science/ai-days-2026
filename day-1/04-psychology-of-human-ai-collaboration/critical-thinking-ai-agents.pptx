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Thinking with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in Academia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371600" y="3063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Traces, Verification, and Stop Rules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749040"/>
            <a:ext cx="2743200" cy="0"/>
          </a:xfrm>
          <a:prstGeom prst="line">
            <a:avLst/>
          </a:prstGeom>
          <a:noFill/>
          <a:ln w="25400">
            <a:solidFill>
              <a:srgbClr val="E891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3931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Jesse Spencer-Smith, Ph.D.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 Data Science Institute  |  AI Days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 Since December 2025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trike="sngStrike" dirty="0">
                <a:solidFill>
                  <a:srgbClr val="8B9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Assistants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0" y="1188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913A"/>
                </a:solidFill>
              </a:rPr>
              <a:t>   →   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389120" y="1188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That Plan + Execute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64008" cy="1234440"/>
          </a:xfrm>
          <a:prstGeom prst="rect">
            <a:avLst/>
          </a:prstGeom>
          <a:solidFill>
            <a:srgbClr val="2B579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Synthesis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read &amp; synthesize across PDFs with audit trails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201168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2011680"/>
            <a:ext cx="64008" cy="1234440"/>
          </a:xfrm>
          <a:prstGeom prst="rect">
            <a:avLst/>
          </a:prstGeom>
          <a:solidFill>
            <a:srgbClr val="2B579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860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Coding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9496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Tagging, extracting themes with provenance tracking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4747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474720"/>
            <a:ext cx="64008" cy="1234440"/>
          </a:xfrm>
          <a:prstGeom prst="rect">
            <a:avLst/>
          </a:prstGeom>
          <a:solidFill>
            <a:srgbClr val="2B579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490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/ IRB Assembly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2588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document construction from structured inputs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17720" y="34747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17720" y="3474720"/>
            <a:ext cx="64008" cy="1234440"/>
          </a:xfrm>
          <a:prstGeom prst="rect">
            <a:avLst/>
          </a:prstGeom>
          <a:solidFill>
            <a:srgbClr val="2B579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4904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496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Operations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39496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reproducibility checklists, methods drafts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44531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agents now operate inside bounded workspaces with logs, traces, and permissioned actions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Failure Pattern: Same Bias, Bigger Object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3840480" cy="320040"/>
          </a:xfrm>
          <a:prstGeom prst="rect">
            <a:avLst/>
          </a:prstGeom>
          <a:solidFill>
            <a:srgbClr val="8B95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believed a plausible paragraph."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accepted a plausible workflow outcome."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Cognitive Mechanisms That Still Dominate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29184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Bias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7240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what the agent produced because it looks finished and professional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31546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2918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7784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Limits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983480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increase throughput → humans skim review, sampling only a few artifacts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Cowork: The "Academic Agent"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07592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2344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Folder-Scoped Access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1600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authorize a specific folder; the agent works only inside it, creating and editing artifacts within that boundary.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542032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51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4688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Execution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45920" y="2834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queued, sequential work — not single Q&amp;A. Plans, executes, and produces artifacts across steps.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776472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862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703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Not Responses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069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unit of oversight is a run with outputs, logs, and permission prompts — not a single chat response.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44074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Faculty must shift from reviewing answers to reviewing runs.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Skills: Reusable Packaged Expertise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= reusable packaged procedures (instructions, scripts, resources)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an agent can discover and use to perform tasks repeatably.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Skill Examples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786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Map Builder (claim → source mapping)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900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&amp; Quote Checker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0156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Checklist Generator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1304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Feedback with Quote Anchors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4632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Skills Like Software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578608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4924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+ change logs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990088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4924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before adoption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401568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492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approved skills for contexts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813048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flawed skill = scalable failure mode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 Gates + Traces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trust any agent-produced artifact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645920"/>
            <a:ext cx="731520" cy="731520"/>
          </a:xfrm>
          <a:prstGeom prst="ellipse">
            <a:avLst/>
          </a:prstGeom>
          <a:solidFill>
            <a:srgbClr val="1B7A5A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&amp; Trace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files were read/written? What steps were taken? What tools/connectors were used?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5176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645920"/>
            <a:ext cx="731520" cy="731520"/>
          </a:xfrm>
          <a:prstGeom prst="ellipse">
            <a:avLst/>
          </a:prstGeom>
          <a:solidFill>
            <a:srgbClr val="2B5797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Domain-appropriate 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246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Rerunnable analysis, invariants (all claims have sources), schema/consistency checks.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65176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1645920"/>
            <a:ext cx="731520" cy="73152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5508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Validity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justified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246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claims are supported? What is inferred vs. quoted vs. speculated? Assumptions &amp; uncertainty.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2 in Practice: Domain-Specific Verification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61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1612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Check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Synthesis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→ linked source excerpt &amp; page number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8046720" cy="502920"/>
          </a:xfrm>
          <a:prstGeom prst="rect">
            <a:avLst/>
          </a:prstGeom>
          <a:solidFill>
            <a:srgbClr val="E0E4E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 sampled items; totals match; schema/invariant checks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Feedback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critique anchored to a direct quotation from student 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02920"/>
          </a:xfrm>
          <a:prstGeom prst="rect">
            <a:avLst/>
          </a:prstGeom>
          <a:solidFill>
            <a:srgbClr val="E0E4E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Assembly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sections present; cross-references consistent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Draft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steps reproducible; parameter values match source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45312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Verification must be proportional to the stakes of the output.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Rules: When to Abandon the Agent Path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64008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 / no provenance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417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audit what happened — output is unreviewable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828800"/>
            <a:ext cx="64008" cy="64008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mapping fails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80160" y="2148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can't be tied to sources — unverifiable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560320"/>
            <a:ext cx="64008" cy="64008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974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across reruns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change materially — output is unstable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291840"/>
            <a:ext cx="64008" cy="64008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290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escalation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80160" y="3611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requests broader access than the task justifies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4023360"/>
            <a:ext cx="64008" cy="64008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605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drift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280160" y="4343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optimizes for a different goal than your goal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Faculty Workflow Pattern That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8620" y="1280160"/>
            <a:ext cx="1417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862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0060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scope,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tools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4228" y="2057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25980" y="1280160"/>
            <a:ext cx="1417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417320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2598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17420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produces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+ log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1588" y="2057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863340" y="1280160"/>
            <a:ext cx="1417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6334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Gate-Check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54780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98948" y="2057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600700" y="1280160"/>
            <a:ext cx="1417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417320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0070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92140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revise,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stop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36308" y="2057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338060" y="1280160"/>
            <a:ext cx="1417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26680" y="1417320"/>
            <a:ext cx="640080" cy="640080"/>
          </a:xfrm>
          <a:prstGeom prst="ellipse">
            <a:avLst/>
          </a:prstGeom>
          <a:solidFill>
            <a:srgbClr val="1B7A5A"/>
          </a:solidFill>
          <a:ln/>
        </p:spPr>
      </p:sp>
      <p:sp>
        <p:nvSpPr>
          <p:cNvPr id="30" name="Text 28"/>
          <p:cNvSpPr/>
          <p:nvPr/>
        </p:nvSpPr>
        <p:spPr>
          <a:xfrm>
            <a:off x="77266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3806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29500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submit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+ maps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9319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3931920"/>
            <a:ext cx="64008" cy="8686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 work: require submission of agent traces + evidence maps alongside deliverables.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builds critical evaluation habits and makes AI-assisted work auditable.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Now: Research &amp; Practice Themes Since Dec 2025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2B579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2618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Agents for Non-Coders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Folder-scoped execution, multi-step completion, permission prompts (e.g., Cowork)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rgbClr val="2B579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1305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Standardization (MCP)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2331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exposure/invocation visible to humans; deny capability built in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2B579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99923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880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 &amp; Interoperability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Foundation: cross-platform agent ecosystems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rgbClr val="2B579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8679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Evaluation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63040" y="4069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safety, robustness, traceability — not just accuracy (e.g., Princeton HAL)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amplify both your capability and your blind spots.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Gates are your defense.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 →  Run  →  Gate-Check  →  Decide  →  Teach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4023360"/>
            <a:ext cx="2743200" cy="0"/>
          </a:xfrm>
          <a:prstGeom prst="line">
            <a:avLst/>
          </a:prstGeom>
          <a:noFill/>
          <a:ln w="25400">
            <a:solidFill>
              <a:srgbClr val="E891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Jesse Spencer-Smith, Ph.D.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jesse.spencer-smith@vanderbilt.edu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Thinking with AI Agents in Academia</dc:title>
  <dc:subject>PptxGenJS Presentation</dc:subject>
  <dc:creator>Jesse Spencer-Smith, Ph.D.</dc:creator>
  <cp:lastModifiedBy>Jesse Spencer-Smith, Ph.D.</cp:lastModifiedBy>
  <cp:revision>1</cp:revision>
  <dcterms:created xsi:type="dcterms:W3CDTF">2026-03-04T01:50:23Z</dcterms:created>
  <dcterms:modified xsi:type="dcterms:W3CDTF">2026-03-04T01:50:23Z</dcterms:modified>
</cp:coreProperties>
</file>